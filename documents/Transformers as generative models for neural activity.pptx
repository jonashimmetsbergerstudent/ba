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charts/chart1.xml" ContentType="application/vnd.openxmlformats-officedocument.drawingml.chart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charts/chart2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71" r:id="rId4"/>
  </p:sldMasterIdLst>
  <p:notesMasterIdLst>
    <p:notesMasterId r:id="rId27"/>
  </p:notesMasterIdLst>
  <p:handoutMasterIdLst>
    <p:handoutMasterId r:id="rId28"/>
  </p:handoutMasterIdLst>
  <p:sldIdLst>
    <p:sldId id="539" r:id="rId5"/>
    <p:sldId id="257" r:id="rId6"/>
    <p:sldId id="566" r:id="rId7"/>
    <p:sldId id="567" r:id="rId8"/>
    <p:sldId id="568" r:id="rId9"/>
    <p:sldId id="569" r:id="rId10"/>
    <p:sldId id="570" r:id="rId11"/>
    <p:sldId id="571" r:id="rId12"/>
    <p:sldId id="573" r:id="rId13"/>
    <p:sldId id="572" r:id="rId14"/>
    <p:sldId id="574" r:id="rId15"/>
    <p:sldId id="575" r:id="rId16"/>
    <p:sldId id="576" r:id="rId17"/>
    <p:sldId id="577" r:id="rId18"/>
    <p:sldId id="578" r:id="rId19"/>
    <p:sldId id="579" r:id="rId20"/>
    <p:sldId id="580" r:id="rId21"/>
    <p:sldId id="581" r:id="rId22"/>
    <p:sldId id="582" r:id="rId23"/>
    <p:sldId id="583" r:id="rId24"/>
    <p:sldId id="584" r:id="rId25"/>
    <p:sldId id="585" r:id="rId26"/>
  </p:sldIdLst>
  <p:sldSz cx="12192000" cy="6858000"/>
  <p:notesSz cx="6858000" cy="9144000"/>
  <p:defaultTextStyle>
    <a:defPPr rtl="0"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15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BDBED569-4797-4DF1-A0F4-6AAB3CD982D8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5A111915-BE36-4E01-A7E5-04B1672EAD32}" styleName="Light Style 2 - Accent 5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</a:tcBdr>
      </a:tcStyle>
    </a:band1H>
    <a:band1V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</a:tcBdr>
      </a:tcStyle>
    </a:band1V>
    <a:band2V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5"/>
        </a:fillRef>
      </a:tcStyle>
    </a:firstRow>
  </a:tblStyle>
  <a:tblStyle styleId="{72833802-FEF1-4C79-8D5D-14CF1EAF98D9}" styleName="Light Style 2 - Accent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</a:tcStyle>
    </a:band1H>
    <a:band1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1V>
    <a:band2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2"/>
        </a:fillRef>
      </a:tcStyle>
    </a:firstRow>
  </a:tblStyle>
  <a:tblStyle styleId="{F2DE63D5-997A-4646-A377-4702673A728D}" styleName="Light Style 2 - Accent 3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</a:tcStyle>
    </a:band1H>
    <a:band1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1V>
    <a:band2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3"/>
        </a:fillRef>
      </a:tcStyle>
    </a:firstRow>
  </a:tblStyle>
  <a:tblStyle styleId="{912C8C85-51F0-491E-9774-3900AFEF0FD7}" styleName="Light Style 2 - Accent 6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</a:tcStyle>
    </a:band1H>
    <a:band1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1V>
    <a:band2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6"/>
        </a:fillRef>
      </a:tcStyle>
    </a:firstRow>
  </a:tblStyle>
  <a:tblStyle styleId="{7E9639D4-E3E2-4D34-9284-5A2195B3D0D7}" styleName="Light Style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  <a:tblStyle styleId="{5FD0F851-EC5A-4D38-B0AD-8093EC10F338}" styleName="Light Style 1 - Accent 5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5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5"/>
              </a:solidFill>
            </a:ln>
          </a:bottom>
        </a:tcBdr>
        <a:fill>
          <a:noFill/>
        </a:fill>
      </a:tcStyle>
    </a:firstRow>
  </a:tblStyle>
  <a:tblStyle styleId="{BDBED569-4797-4DF1-A0F4-6AAB3CD982D8}" styleName="Light Style 3 - Accent 5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 w="12700" cmpd="sng">
              <a:solidFill>
                <a:schemeClr val="accent5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20000"/>
            </a:schemeClr>
          </a:solidFill>
        </a:fill>
      </a:tcStyle>
    </a:band1H>
    <a:band1V>
      <a:tcStyle>
        <a:tcBdr/>
        <a:fill>
          <a:solidFill>
            <a:schemeClr val="accent5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5"/>
              </a:solidFill>
            </a:ln>
          </a:bottom>
        </a:tcBdr>
        <a:fill>
          <a:noFill/>
        </a:fill>
      </a:tcStyle>
    </a:firstRow>
  </a:tblStyle>
  <a:tblStyle styleId="{93296810-A885-4BE3-A3E7-6D5BEEA58F35}" styleName="Mittlere Formatvorlage 2 - Akzent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76820" autoAdjust="0"/>
  </p:normalViewPr>
  <p:slideViewPr>
    <p:cSldViewPr snapToGrid="0">
      <p:cViewPr varScale="1">
        <p:scale>
          <a:sx n="81" d="100"/>
          <a:sy n="81" d="100"/>
        </p:scale>
        <p:origin x="114" y="168"/>
      </p:cViewPr>
      <p:guideLst/>
    </p:cSldViewPr>
  </p:slideViewPr>
  <p:outlineViewPr>
    <p:cViewPr>
      <p:scale>
        <a:sx n="33" d="100"/>
        <a:sy n="33" d="100"/>
      </p:scale>
      <p:origin x="0" y="-1440"/>
    </p:cViewPr>
  </p:outlineViewPr>
  <p:notesTextViewPr>
    <p:cViewPr>
      <p:scale>
        <a:sx n="1" d="1"/>
        <a:sy n="1" d="1"/>
      </p:scale>
      <p:origin x="0" y="0"/>
    </p:cViewPr>
  </p:notesTextViewPr>
  <p:sorterViewPr>
    <p:cViewPr varScale="1">
      <p:scale>
        <a:sx n="100" d="100"/>
        <a:sy n="100" d="100"/>
      </p:scale>
      <p:origin x="0" y="0"/>
    </p:cViewPr>
  </p:sorterViewPr>
  <p:notesViewPr>
    <p:cSldViewPr snapToGrid="0">
      <p:cViewPr varScale="1">
        <p:scale>
          <a:sx n="58" d="100"/>
          <a:sy n="58" d="100"/>
        </p:scale>
        <p:origin x="3240" y="67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slide" Target="slides/slide22.xml"/><Relationship Id="rId3" Type="http://schemas.openxmlformats.org/officeDocument/2006/relationships/customXml" Target="../customXml/item3.xml"/><Relationship Id="rId21" Type="http://schemas.openxmlformats.org/officeDocument/2006/relationships/slide" Target="slides/slide17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slide" Target="slides/slide16.xml"/><Relationship Id="rId29" Type="http://schemas.openxmlformats.org/officeDocument/2006/relationships/presProps" Target="presProp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32" Type="http://schemas.openxmlformats.org/officeDocument/2006/relationships/tableStyles" Target="tableStyles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handoutMaster" Target="handoutMasters/handoutMaster1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31" Type="http://schemas.openxmlformats.org/officeDocument/2006/relationships/theme" Target="theme/theme1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notesMaster" Target="notesMasters/notesMaster1.xml"/><Relationship Id="rId30" Type="http://schemas.openxmlformats.org/officeDocument/2006/relationships/viewProps" Target="viewProps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_rels/chart2.xml.rels><?xml version="1.0" encoding="UTF-8" standalone="yes"?>
<Relationships xmlns="http://schemas.openxmlformats.org/package/2006/relationships"><Relationship Id="rId3" Type="http://schemas.openxmlformats.org/officeDocument/2006/relationships/oleObject" Target="Mappe1" TargetMode="External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de-DE"/>
  <c:roundedCorners val="1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FID</c:v>
                </c:pt>
              </c:strCache>
            </c:strRef>
          </c:tx>
          <c:spPr>
            <a:solidFill>
              <a:srgbClr val="94A3B8"/>
            </a:solidFill>
            <a:effectLst/>
          </c:spPr>
          <c:invertIfNegative val="0"/>
          <c:dPt>
            <c:idx val="0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0-CF38-40B8-B901-0E5C5399C21C}"/>
              </c:ext>
            </c:extLst>
          </c:dPt>
          <c:dPt>
            <c:idx val="1"/>
            <c:invertIfNegative val="0"/>
            <c:bubble3D val="0"/>
            <c:spPr>
              <a:solidFill>
                <a:srgbClr val="D85A30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2-CF38-40B8-B901-0E5C5399C21C}"/>
              </c:ext>
            </c:extLst>
          </c:dPt>
          <c:dPt>
            <c:idx val="2"/>
            <c:invertIfNegative val="0"/>
            <c:bubble3D val="0"/>
            <c:spPr>
              <a:solidFill>
                <a:srgbClr val="1D9E75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4-CF38-40B8-B901-0E5C5399C21C}"/>
              </c:ext>
            </c:extLst>
          </c:dPt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300" b="1" i="0" u="none" strike="noStrike">
                    <a:solidFill>
                      <a:srgbClr val="1E293B"/>
                    </a:solidFill>
                    <a:latin typeface="Arial"/>
                  </a:defRPr>
                </a:pPr>
                <a:endParaRPr lang="de-DE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Sheet1!$A$2:$A$4</c:f>
              <c:strCache>
                <c:ptCount val="3"/>
                <c:pt idx="0">
                  <c:v>real vs real</c:v>
                </c:pt>
                <c:pt idx="1">
                  <c:v>real vs
time-shuffled</c:v>
                </c:pt>
                <c:pt idx="2">
                  <c:v>real vs
neuron-shuffled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7.15</c:v>
                </c:pt>
                <c:pt idx="1">
                  <c:v>8.42</c:v>
                </c:pt>
                <c:pt idx="2">
                  <c:v>48.81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CF38-40B8-B901-0E5C5399C21C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F6B7E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55"/>
          <c:min val="0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F6B7E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de-DE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400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en-GB" noProof="0" dirty="0"/>
              <a:t>FID(Session)</a:t>
            </a: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400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de-DE"/>
        </a:p>
      </c:tx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Tabelle1!$A$1</c:f>
              <c:strCache>
                <c:ptCount val="1"/>
                <c:pt idx="0">
                  <c:v>SpikeGPT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val>
            <c:numRef>
              <c:f>Tabelle1!$A$2:$A$21</c:f>
              <c:numCache>
                <c:formatCode>0.00</c:formatCode>
                <c:ptCount val="20"/>
                <c:pt idx="0">
                  <c:v>115.80159826173799</c:v>
                </c:pt>
                <c:pt idx="1">
                  <c:v>140.98283096215499</c:v>
                </c:pt>
                <c:pt idx="2">
                  <c:v>163.94749427290699</c:v>
                </c:pt>
                <c:pt idx="3">
                  <c:v>87.395449217404305</c:v>
                </c:pt>
                <c:pt idx="4">
                  <c:v>34.132776978600702</c:v>
                </c:pt>
                <c:pt idx="5">
                  <c:v>134.85841465793999</c:v>
                </c:pt>
                <c:pt idx="6">
                  <c:v>112.458987445649</c:v>
                </c:pt>
                <c:pt idx="7">
                  <c:v>75.776767349337106</c:v>
                </c:pt>
                <c:pt idx="8">
                  <c:v>80.870030453772898</c:v>
                </c:pt>
                <c:pt idx="9">
                  <c:v>74.589120194249901</c:v>
                </c:pt>
                <c:pt idx="10">
                  <c:v>123.905044472329</c:v>
                </c:pt>
                <c:pt idx="11">
                  <c:v>149.433366998666</c:v>
                </c:pt>
                <c:pt idx="12">
                  <c:v>142.800068796197</c:v>
                </c:pt>
                <c:pt idx="13">
                  <c:v>114.886627811881</c:v>
                </c:pt>
                <c:pt idx="14">
                  <c:v>159.03191453720399</c:v>
                </c:pt>
                <c:pt idx="15">
                  <c:v>251.218213516692</c:v>
                </c:pt>
                <c:pt idx="16">
                  <c:v>86.180617943038001</c:v>
                </c:pt>
                <c:pt idx="17">
                  <c:v>125.817996633579</c:v>
                </c:pt>
                <c:pt idx="18">
                  <c:v>117.63688794338699</c:v>
                </c:pt>
                <c:pt idx="19">
                  <c:v>34.947667953377298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B34B-4787-B608-DBA4A8B8E060}"/>
            </c:ext>
          </c:extLst>
        </c:ser>
        <c:ser>
          <c:idx val="1"/>
          <c:order val="1"/>
          <c:tx>
            <c:strRef>
              <c:f>Tabelle1!$B$1</c:f>
              <c:strCache>
                <c:ptCount val="1"/>
                <c:pt idx="0">
                  <c:v>Default GPT</c:v>
                </c:pt>
              </c:strCache>
            </c:strRef>
          </c:tx>
          <c:spPr>
            <a:solidFill>
              <a:schemeClr val="accent2"/>
            </a:solidFill>
            <a:ln>
              <a:noFill/>
            </a:ln>
            <a:effectLst/>
          </c:spPr>
          <c:invertIfNegative val="0"/>
          <c:val>
            <c:numRef>
              <c:f>Tabelle1!$B$2:$B$21</c:f>
              <c:numCache>
                <c:formatCode>General</c:formatCode>
                <c:ptCount val="20"/>
                <c:pt idx="0">
                  <c:v>95.285280726780996</c:v>
                </c:pt>
                <c:pt idx="1">
                  <c:v>79.848675671320095</c:v>
                </c:pt>
                <c:pt idx="2">
                  <c:v>100.799316748107</c:v>
                </c:pt>
                <c:pt idx="3">
                  <c:v>63.239802105157203</c:v>
                </c:pt>
                <c:pt idx="4">
                  <c:v>28.862679730516799</c:v>
                </c:pt>
                <c:pt idx="5">
                  <c:v>83.294896822567694</c:v>
                </c:pt>
                <c:pt idx="6">
                  <c:v>71.5093880551441</c:v>
                </c:pt>
                <c:pt idx="7">
                  <c:v>38.244261472697303</c:v>
                </c:pt>
                <c:pt idx="8">
                  <c:v>53.300204183050603</c:v>
                </c:pt>
                <c:pt idx="9">
                  <c:v>57.960550094334799</c:v>
                </c:pt>
                <c:pt idx="10">
                  <c:v>95.152690785550206</c:v>
                </c:pt>
                <c:pt idx="11">
                  <c:v>92.089500420596096</c:v>
                </c:pt>
                <c:pt idx="12">
                  <c:v>100.48883975078201</c:v>
                </c:pt>
                <c:pt idx="13">
                  <c:v>85.4553343006787</c:v>
                </c:pt>
                <c:pt idx="14">
                  <c:v>123.509516014521</c:v>
                </c:pt>
                <c:pt idx="15">
                  <c:v>137.49507578928899</c:v>
                </c:pt>
                <c:pt idx="16">
                  <c:v>78.829032305566002</c:v>
                </c:pt>
                <c:pt idx="17">
                  <c:v>105.77916990756999</c:v>
                </c:pt>
                <c:pt idx="18">
                  <c:v>80.374756016872993</c:v>
                </c:pt>
                <c:pt idx="19">
                  <c:v>30.999548471296201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B34B-4787-B608-DBA4A8B8E060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19"/>
        <c:overlap val="-27"/>
        <c:axId val="2053047568"/>
        <c:axId val="2053035088"/>
      </c:barChart>
      <c:catAx>
        <c:axId val="2053047568"/>
        <c:scaling>
          <c:orientation val="minMax"/>
        </c:scaling>
        <c:delete val="0"/>
        <c:axPos val="b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de-DE"/>
          </a:p>
        </c:txPr>
        <c:crossAx val="2053035088"/>
        <c:crosses val="autoZero"/>
        <c:auto val="1"/>
        <c:lblAlgn val="ctr"/>
        <c:lblOffset val="100"/>
        <c:noMultiLvlLbl val="0"/>
      </c:catAx>
      <c:valAx>
        <c:axId val="2053035088"/>
        <c:scaling>
          <c:orientation val="minMax"/>
          <c:max val="252"/>
          <c:min val="0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" sourceLinked="0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de-DE"/>
          </a:p>
        </c:txPr>
        <c:crossAx val="2053047568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900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de-DE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de-DE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>
            <a:extLst>
              <a:ext uri="{FF2B5EF4-FFF2-40B4-BE49-F238E27FC236}">
                <a16:creationId xmlns:a16="http://schemas.microsoft.com/office/drawing/2014/main" id="{54D0B883-0A39-E05B-61ED-5FE94E7E6C8B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rtl="0"/>
            <a:endParaRPr lang="en-US"/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E71B2735-0E3E-EB93-68DA-1402951418E6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 rtl="0"/>
            <a:fld id="{A54DA340-CA88-40FE-8D9F-FB95A67E2ACC}" type="datetimeFigureOut">
              <a:rPr lang="en-US" smtClean="0"/>
              <a:t>5/25/2026</a:t>
            </a:fld>
            <a:endParaRPr lang="en-US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001912F7-468D-0E8D-7580-A7ADE9D11BA1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rtl="0"/>
            <a:endParaRPr lang="en-US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945DA9A4-3BA2-3E7F-4048-A9EB25D5A28E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rtl="0"/>
            <a:fld id="{6B4C7120-FABF-42CA-85D1-839480B5B48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49999829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rtl="0"/>
            <a:endParaRPr lang="en-US" dirty="0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 rtl="0"/>
            <a:fld id="{A90BC4F2-6A87-450D-AD53-D2188421BC53}" type="datetimeFigureOut">
              <a:rPr lang="en-US" smtClean="0"/>
              <a:t>5/25/2026</a:t>
            </a:fld>
            <a:endParaRPr lang="en-US" dirty="0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rtl="0"/>
            <a:endParaRPr lang="en-US" dirty="0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 rtl="0"/>
            <a:r>
              <a:rPr lang="de"/>
              <a:t>Textmasterformat durch Klicken bearbeiten</a:t>
            </a:r>
          </a:p>
          <a:p>
            <a:pPr lvl="1" rtl="0"/>
            <a:r>
              <a:rPr lang="de"/>
              <a:t>Zweite Ebene</a:t>
            </a:r>
          </a:p>
          <a:p>
            <a:pPr lvl="2" rtl="0"/>
            <a:r>
              <a:rPr lang="de"/>
              <a:t>Dritte Ebene</a:t>
            </a:r>
          </a:p>
          <a:p>
            <a:pPr lvl="3" rtl="0"/>
            <a:r>
              <a:rPr lang="de"/>
              <a:t>Vierte Ebene</a:t>
            </a:r>
          </a:p>
          <a:p>
            <a:pPr lvl="4" rtl="0"/>
            <a:r>
              <a:rPr lang="de"/>
              <a:t>Fünfte Ebene</a:t>
            </a:r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rtl="0"/>
            <a:endParaRPr lang="en-US" dirty="0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rtl="0"/>
            <a:fld id="{4C3B2649-7BD8-4005-A99E-30D13769A8BD}" type="slidenum">
              <a:rPr lang="en-US" smtClean="0"/>
              <a:t>‹Nr.›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448116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/>
          <a:p>
            <a:pPr rtl="0"/>
            <a:fld id="{303401A8-3220-413E-B964-4A8659985FD3}" type="slidenum">
              <a:rPr lang="en-US" smtClean="0"/>
              <a:t>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241877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="1" dirty="0"/>
              <a:t>Bellec et al. (2021), </a:t>
            </a:r>
            <a:r>
              <a:rPr lang="en-US" b="1" dirty="0" err="1"/>
              <a:t>NeurIPS</a:t>
            </a:r>
            <a:r>
              <a:rPr lang="en-US" dirty="0"/>
              <a:t> - "Showed that spiking nets trained on likelihood alone generate unrealistic activity, and that adding a term matching real activity statistics fixes it.“</a:t>
            </a:r>
          </a:p>
          <a:p>
            <a:r>
              <a:rPr lang="en-US" b="1" dirty="0" err="1"/>
              <a:t>Sourmpis</a:t>
            </a:r>
            <a:r>
              <a:rPr lang="en-US" b="1" dirty="0"/>
              <a:t> et al. (2023), </a:t>
            </a:r>
            <a:r>
              <a:rPr lang="en-US" b="1" dirty="0" err="1"/>
              <a:t>NeurIPS</a:t>
            </a:r>
            <a:r>
              <a:rPr lang="en-US" dirty="0"/>
              <a:t> - "Introduced trial matching: comparing the </a:t>
            </a:r>
            <a:r>
              <a:rPr lang="en-US" i="1" dirty="0"/>
              <a:t>distributions</a:t>
            </a:r>
            <a:r>
              <a:rPr lang="en-US" dirty="0"/>
              <a:t> of generated and real trials to capture trial-to-trial variability."</a:t>
            </a:r>
          </a:p>
          <a:p>
            <a:r>
              <a:rPr lang="en-US" b="1" dirty="0" err="1"/>
              <a:t>Sourmpis</a:t>
            </a:r>
            <a:r>
              <a:rPr lang="en-US" b="1" dirty="0"/>
              <a:t>, Bellec et al. (2025), </a:t>
            </a:r>
            <a:r>
              <a:rPr lang="en-US" b="1" dirty="0" err="1"/>
              <a:t>eLife</a:t>
            </a:r>
            <a:r>
              <a:rPr lang="en-US" dirty="0"/>
              <a:t> - "Proposed a perturbation test: good models predict how the brain reacts to interventions, even when they score worse on standard test data."</a:t>
            </a:r>
          </a:p>
          <a:p>
            <a:r>
              <a:rPr lang="en-US" b="1" dirty="0"/>
              <a:t>Ye et al. (2025), ICLR (NDT3)</a:t>
            </a:r>
            <a:r>
              <a:rPr lang="en-US" dirty="0"/>
              <a:t> - "A large transformer for motor decoding from 2000h of data, finding that scaling saturates — more data isn't enough."</a:t>
            </a:r>
          </a:p>
          <a:p>
            <a:r>
              <a:rPr lang="en-US" b="1" dirty="0"/>
              <a:t>The thread to say out loud</a:t>
            </a:r>
            <a:r>
              <a:rPr lang="en-US" dirty="0"/>
              <a:t>: "The first three are my lab's own line of work on generatively evaluating neural models — that's what I build on. The last shows why it matters: scaling alone doesn't solve it.“ I did it on transformer not RNN, LSTM and so on </a:t>
            </a:r>
          </a:p>
          <a:p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4C3B2649-7BD8-4005-A99E-30D13769A8BD}" type="slidenum">
              <a:rPr lang="en-US" smtClean="0"/>
              <a:t>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39195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/>
              <a:t>Spike F1: Model </a:t>
            </a:r>
            <a:r>
              <a:rPr lang="de-DE" dirty="0" err="1"/>
              <a:t>predicts</a:t>
            </a:r>
            <a:r>
              <a:rPr lang="de-DE" dirty="0"/>
              <a:t> </a:t>
            </a:r>
            <a:r>
              <a:rPr lang="de-DE" dirty="0" err="1"/>
              <a:t>for</a:t>
            </a:r>
            <a:r>
              <a:rPr lang="de-DE" dirty="0"/>
              <a:t> </a:t>
            </a:r>
            <a:r>
              <a:rPr lang="de-DE" dirty="0" err="1"/>
              <a:t>hidden</a:t>
            </a:r>
            <a:r>
              <a:rPr lang="de-DE" dirty="0"/>
              <a:t> </a:t>
            </a:r>
            <a:r>
              <a:rPr lang="de-DE" dirty="0" err="1"/>
              <a:t>neurons</a:t>
            </a:r>
            <a:r>
              <a:rPr lang="de-DE" dirty="0"/>
              <a:t>, </a:t>
            </a:r>
            <a:r>
              <a:rPr lang="de-DE" dirty="0" err="1"/>
              <a:t>whether</a:t>
            </a:r>
            <a:r>
              <a:rPr lang="de-DE" dirty="0"/>
              <a:t> </a:t>
            </a:r>
            <a:r>
              <a:rPr lang="de-DE" dirty="0" err="1"/>
              <a:t>they</a:t>
            </a:r>
            <a:r>
              <a:rPr lang="de-DE" dirty="0"/>
              <a:t> </a:t>
            </a:r>
            <a:r>
              <a:rPr lang="de-DE" dirty="0" err="1"/>
              <a:t>fire</a:t>
            </a:r>
            <a:r>
              <a:rPr lang="de-DE" dirty="0"/>
              <a:t> in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next</a:t>
            </a:r>
            <a:r>
              <a:rPr lang="de-DE" dirty="0"/>
              <a:t> </a:t>
            </a:r>
            <a:r>
              <a:rPr lang="de-DE" dirty="0" err="1"/>
              <a:t>timestep</a:t>
            </a:r>
            <a:r>
              <a:rPr lang="de-DE" dirty="0"/>
              <a:t>. F1 </a:t>
            </a:r>
            <a:r>
              <a:rPr lang="de-DE" dirty="0" err="1"/>
              <a:t>measures</a:t>
            </a:r>
            <a:r>
              <a:rPr lang="de-DE" dirty="0"/>
              <a:t> </a:t>
            </a:r>
            <a:r>
              <a:rPr lang="de-DE" dirty="0" err="1"/>
              <a:t>how</a:t>
            </a:r>
            <a:r>
              <a:rPr lang="de-DE" dirty="0"/>
              <a:t> </a:t>
            </a:r>
            <a:r>
              <a:rPr lang="de-DE" dirty="0" err="1"/>
              <a:t>good</a:t>
            </a:r>
            <a:r>
              <a:rPr lang="de-DE" dirty="0"/>
              <a:t> </a:t>
            </a:r>
            <a:r>
              <a:rPr lang="de-DE" dirty="0" err="1"/>
              <a:t>this</a:t>
            </a:r>
            <a:r>
              <a:rPr lang="de-DE" dirty="0"/>
              <a:t> </a:t>
            </a:r>
            <a:r>
              <a:rPr lang="de-DE" dirty="0" err="1"/>
              <a:t>prediction</a:t>
            </a:r>
            <a:r>
              <a:rPr lang="de-DE" dirty="0"/>
              <a:t> </a:t>
            </a:r>
            <a:r>
              <a:rPr lang="de-DE" dirty="0" err="1"/>
              <a:t>is</a:t>
            </a:r>
            <a:r>
              <a:rPr lang="de-DE" dirty="0"/>
              <a:t>.</a:t>
            </a:r>
          </a:p>
          <a:p>
            <a:r>
              <a:rPr lang="de-DE" dirty="0" err="1"/>
              <a:t>Accuracy</a:t>
            </a:r>
            <a:r>
              <a:rPr lang="de-DE" dirty="0"/>
              <a:t> </a:t>
            </a:r>
            <a:r>
              <a:rPr lang="de-DE" dirty="0" err="1"/>
              <a:t>would</a:t>
            </a:r>
            <a:r>
              <a:rPr lang="de-DE" dirty="0"/>
              <a:t> not </a:t>
            </a:r>
            <a:r>
              <a:rPr lang="de-DE" dirty="0" err="1"/>
              <a:t>work</a:t>
            </a:r>
            <a:r>
              <a:rPr lang="de-DE" dirty="0"/>
              <a:t> </a:t>
            </a:r>
            <a:r>
              <a:rPr lang="de-DE" dirty="0" err="1"/>
              <a:t>because</a:t>
            </a:r>
            <a:r>
              <a:rPr lang="de-DE" dirty="0"/>
              <a:t> </a:t>
            </a:r>
            <a:r>
              <a:rPr lang="de-DE" dirty="0" err="1"/>
              <a:t>neurons</a:t>
            </a:r>
            <a:r>
              <a:rPr lang="de-DE" dirty="0"/>
              <a:t> </a:t>
            </a:r>
            <a:r>
              <a:rPr lang="de-DE" dirty="0" err="1"/>
              <a:t>fire</a:t>
            </a:r>
            <a:r>
              <a:rPr lang="de-DE" dirty="0"/>
              <a:t> </a:t>
            </a:r>
            <a:r>
              <a:rPr lang="de-DE" dirty="0" err="1"/>
              <a:t>seldom</a:t>
            </a:r>
            <a:r>
              <a:rPr lang="de-DE" dirty="0"/>
              <a:t> (5% </a:t>
            </a:r>
            <a:r>
              <a:rPr lang="de-DE" dirty="0" err="1"/>
              <a:t>firerate</a:t>
            </a:r>
            <a:r>
              <a:rPr lang="de-DE" dirty="0"/>
              <a:t>, </a:t>
            </a:r>
            <a:r>
              <a:rPr lang="de-DE" dirty="0" err="1"/>
              <a:t>model</a:t>
            </a:r>
            <a:r>
              <a:rPr lang="de-DE" dirty="0"/>
              <a:t> </a:t>
            </a:r>
            <a:r>
              <a:rPr lang="de-DE" dirty="0" err="1"/>
              <a:t>that</a:t>
            </a:r>
            <a:r>
              <a:rPr lang="de-DE" dirty="0"/>
              <a:t> </a:t>
            </a:r>
            <a:r>
              <a:rPr lang="de-DE" dirty="0" err="1"/>
              <a:t>says</a:t>
            </a:r>
            <a:r>
              <a:rPr lang="de-DE" dirty="0"/>
              <a:t> 100% </a:t>
            </a:r>
            <a:r>
              <a:rPr lang="de-DE" dirty="0" err="1"/>
              <a:t>of</a:t>
            </a:r>
            <a:r>
              <a:rPr lang="de-DE" dirty="0"/>
              <a:t> time </a:t>
            </a:r>
            <a:r>
              <a:rPr lang="de-DE" dirty="0" err="1"/>
              <a:t>no</a:t>
            </a:r>
            <a:r>
              <a:rPr lang="de-DE" dirty="0"/>
              <a:t> </a:t>
            </a:r>
            <a:r>
              <a:rPr lang="de-DE" dirty="0" err="1"/>
              <a:t>fire</a:t>
            </a:r>
            <a:r>
              <a:rPr lang="de-DE" dirty="0"/>
              <a:t> </a:t>
            </a:r>
            <a:r>
              <a:rPr lang="de-DE" dirty="0" err="1"/>
              <a:t>is</a:t>
            </a:r>
            <a:r>
              <a:rPr lang="de-DE" dirty="0"/>
              <a:t> 95% </a:t>
            </a:r>
            <a:r>
              <a:rPr lang="de-DE" dirty="0" err="1"/>
              <a:t>right</a:t>
            </a:r>
            <a:r>
              <a:rPr lang="de-DE" dirty="0"/>
              <a:t> but also </a:t>
            </a:r>
            <a:r>
              <a:rPr lang="de-DE" dirty="0" err="1"/>
              <a:t>useless</a:t>
            </a:r>
            <a:r>
              <a:rPr lang="de-DE" dirty="0"/>
              <a:t>). </a:t>
            </a:r>
            <a:r>
              <a:rPr lang="de-DE" dirty="0" err="1"/>
              <a:t>Combines</a:t>
            </a:r>
            <a:r>
              <a:rPr lang="de-DE" dirty="0"/>
              <a:t> Precision (TP/(TP+FP)) + Recall (TP/(TP+FN)) </a:t>
            </a:r>
            <a:r>
              <a:rPr lang="de-DE" dirty="0">
                <a:sym typeface="Wingdings" panose="05000000000000000000" pitchFamily="2" charset="2"/>
              </a:rPr>
              <a:t> 2*P*R/(P+R)</a:t>
            </a:r>
            <a:r>
              <a:rPr lang="de-DE" dirty="0"/>
              <a:t>. F1=1 </a:t>
            </a:r>
            <a:r>
              <a:rPr lang="de-DE" dirty="0" err="1"/>
              <a:t>perfect</a:t>
            </a:r>
            <a:r>
              <a:rPr lang="de-DE" dirty="0"/>
              <a:t>, 0 </a:t>
            </a:r>
            <a:r>
              <a:rPr lang="de-DE" dirty="0" err="1"/>
              <a:t>bad</a:t>
            </a:r>
            <a:r>
              <a:rPr lang="de-DE" dirty="0"/>
              <a:t>.</a:t>
            </a:r>
          </a:p>
          <a:p>
            <a:endParaRPr lang="de-DE" dirty="0"/>
          </a:p>
          <a:p>
            <a:r>
              <a:rPr lang="de-DE" dirty="0" err="1"/>
              <a:t>Behaviour</a:t>
            </a:r>
            <a:r>
              <a:rPr lang="de-DE" dirty="0"/>
              <a:t> R^2: The Model </a:t>
            </a:r>
            <a:r>
              <a:rPr lang="de-DE" dirty="0" err="1"/>
              <a:t>predicts</a:t>
            </a:r>
            <a:r>
              <a:rPr lang="de-DE" dirty="0"/>
              <a:t> a </a:t>
            </a:r>
            <a:r>
              <a:rPr lang="de-DE" dirty="0" err="1"/>
              <a:t>continous</a:t>
            </a:r>
            <a:r>
              <a:rPr lang="de-DE" dirty="0"/>
              <a:t> „</a:t>
            </a:r>
            <a:r>
              <a:rPr lang="de-DE" dirty="0" err="1"/>
              <a:t>behaviour</a:t>
            </a:r>
            <a:r>
              <a:rPr lang="de-DE" dirty="0"/>
              <a:t> </a:t>
            </a:r>
            <a:r>
              <a:rPr lang="de-DE" dirty="0" err="1"/>
              <a:t>signal</a:t>
            </a:r>
            <a:r>
              <a:rPr lang="de-DE" dirty="0"/>
              <a:t>“ </a:t>
            </a:r>
            <a:r>
              <a:rPr lang="de-DE" dirty="0" err="1"/>
              <a:t>from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neural</a:t>
            </a:r>
            <a:r>
              <a:rPr lang="de-DE" dirty="0"/>
              <a:t> </a:t>
            </a:r>
            <a:r>
              <a:rPr lang="de-DE" dirty="0" err="1"/>
              <a:t>activity</a:t>
            </a:r>
            <a:r>
              <a:rPr lang="de-DE" dirty="0"/>
              <a:t>. (</a:t>
            </a:r>
            <a:r>
              <a:rPr lang="de-DE" dirty="0" err="1"/>
              <a:t>Runningspeed</a:t>
            </a:r>
            <a:r>
              <a:rPr lang="de-DE" dirty="0"/>
              <a:t>, </a:t>
            </a:r>
            <a:r>
              <a:rPr lang="de-DE" dirty="0" err="1"/>
              <a:t>gaze</a:t>
            </a:r>
            <a:r>
              <a:rPr lang="de-DE" dirty="0"/>
              <a:t> </a:t>
            </a:r>
            <a:r>
              <a:rPr lang="de-DE" dirty="0" err="1"/>
              <a:t>direction</a:t>
            </a:r>
            <a:r>
              <a:rPr lang="de-DE" dirty="0"/>
              <a:t>, </a:t>
            </a:r>
            <a:r>
              <a:rPr lang="de-DE" dirty="0" err="1"/>
              <a:t>pupilsize</a:t>
            </a:r>
            <a:r>
              <a:rPr lang="de-DE" dirty="0"/>
              <a:t>). R^2 </a:t>
            </a:r>
            <a:r>
              <a:rPr lang="de-DE" dirty="0" err="1"/>
              <a:t>measures</a:t>
            </a:r>
            <a:r>
              <a:rPr lang="de-DE" dirty="0"/>
              <a:t> </a:t>
            </a:r>
            <a:r>
              <a:rPr lang="de-DE" dirty="0" err="1"/>
              <a:t>how</a:t>
            </a:r>
            <a:r>
              <a:rPr lang="de-DE" dirty="0"/>
              <a:t> </a:t>
            </a:r>
            <a:r>
              <a:rPr lang="de-DE" dirty="0" err="1"/>
              <a:t>much</a:t>
            </a:r>
            <a:r>
              <a:rPr lang="de-DE" dirty="0"/>
              <a:t>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real </a:t>
            </a:r>
            <a:r>
              <a:rPr lang="de-DE" dirty="0" err="1"/>
              <a:t>fluctuation</a:t>
            </a:r>
            <a:r>
              <a:rPr lang="de-DE" dirty="0"/>
              <a:t> in </a:t>
            </a:r>
            <a:r>
              <a:rPr lang="de-DE" dirty="0" err="1"/>
              <a:t>behaviour</a:t>
            </a:r>
            <a:r>
              <a:rPr lang="de-DE" dirty="0"/>
              <a:t> </a:t>
            </a:r>
            <a:r>
              <a:rPr lang="de-DE" dirty="0" err="1"/>
              <a:t>is</a:t>
            </a:r>
            <a:r>
              <a:rPr lang="de-DE" dirty="0"/>
              <a:t> </a:t>
            </a:r>
            <a:r>
              <a:rPr lang="de-DE" dirty="0" err="1"/>
              <a:t>captured</a:t>
            </a:r>
            <a:r>
              <a:rPr lang="de-DE" dirty="0"/>
              <a:t>. R^2=1-“How </a:t>
            </a:r>
            <a:r>
              <a:rPr lang="de-DE" dirty="0" err="1"/>
              <a:t>far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prediction</a:t>
            </a:r>
            <a:r>
              <a:rPr lang="de-DE" dirty="0"/>
              <a:t> </a:t>
            </a:r>
            <a:r>
              <a:rPr lang="de-DE" dirty="0" err="1"/>
              <a:t>is</a:t>
            </a:r>
            <a:r>
              <a:rPr lang="de-DE" dirty="0"/>
              <a:t> off“/“</a:t>
            </a:r>
            <a:r>
              <a:rPr lang="de-DE" dirty="0" err="1"/>
              <a:t>how</a:t>
            </a:r>
            <a:r>
              <a:rPr lang="de-DE" dirty="0"/>
              <a:t> </a:t>
            </a:r>
            <a:r>
              <a:rPr lang="de-DE" dirty="0" err="1"/>
              <a:t>much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real </a:t>
            </a:r>
            <a:r>
              <a:rPr lang="de-DE" dirty="0" err="1"/>
              <a:t>signal</a:t>
            </a:r>
            <a:r>
              <a:rPr lang="de-DE" dirty="0"/>
              <a:t> </a:t>
            </a:r>
            <a:r>
              <a:rPr lang="de-DE" dirty="0" err="1"/>
              <a:t>fluctuates</a:t>
            </a:r>
            <a:r>
              <a:rPr lang="de-DE" dirty="0"/>
              <a:t>“. (1=</a:t>
            </a:r>
            <a:r>
              <a:rPr lang="de-DE" dirty="0" err="1"/>
              <a:t>perfect</a:t>
            </a:r>
            <a:r>
              <a:rPr lang="de-DE" dirty="0"/>
              <a:t>, 0=</a:t>
            </a:r>
            <a:r>
              <a:rPr lang="de-DE" dirty="0" err="1"/>
              <a:t>random</a:t>
            </a:r>
            <a:r>
              <a:rPr lang="de-DE" dirty="0"/>
              <a:t>, &lt;0=</a:t>
            </a:r>
            <a:r>
              <a:rPr lang="de-DE" dirty="0" err="1"/>
              <a:t>worse</a:t>
            </a:r>
            <a:r>
              <a:rPr lang="de-DE" dirty="0"/>
              <a:t> </a:t>
            </a:r>
            <a:r>
              <a:rPr lang="de-DE" dirty="0" err="1"/>
              <a:t>than</a:t>
            </a:r>
            <a:r>
              <a:rPr lang="de-DE" dirty="0"/>
              <a:t> </a:t>
            </a:r>
            <a:r>
              <a:rPr lang="de-DE" dirty="0" err="1"/>
              <a:t>random</a:t>
            </a:r>
            <a:r>
              <a:rPr lang="de-DE" dirty="0"/>
              <a:t>)</a:t>
            </a:r>
          </a:p>
          <a:p>
            <a:endParaRPr lang="de-DE" dirty="0"/>
          </a:p>
          <a:p>
            <a:r>
              <a:rPr lang="de-DE" dirty="0"/>
              <a:t>Stimulus </a:t>
            </a:r>
            <a:r>
              <a:rPr lang="de-DE" dirty="0" err="1"/>
              <a:t>accuracy</a:t>
            </a:r>
            <a:r>
              <a:rPr lang="de-DE" dirty="0"/>
              <a:t>: Does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model</a:t>
            </a:r>
            <a:r>
              <a:rPr lang="de-DE" dirty="0"/>
              <a:t> </a:t>
            </a:r>
            <a:r>
              <a:rPr lang="de-DE" dirty="0" err="1"/>
              <a:t>get</a:t>
            </a:r>
            <a:r>
              <a:rPr lang="de-DE" dirty="0"/>
              <a:t> </a:t>
            </a:r>
            <a:r>
              <a:rPr lang="de-DE" dirty="0" err="1"/>
              <a:t>what</a:t>
            </a:r>
            <a:r>
              <a:rPr lang="de-DE" dirty="0"/>
              <a:t> </a:t>
            </a:r>
            <a:r>
              <a:rPr lang="de-DE" dirty="0" err="1"/>
              <a:t>kind</a:t>
            </a:r>
            <a:r>
              <a:rPr lang="de-DE" dirty="0"/>
              <a:t>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stimulus</a:t>
            </a:r>
            <a:r>
              <a:rPr lang="de-DE" dirty="0"/>
              <a:t> was </a:t>
            </a:r>
            <a:r>
              <a:rPr lang="de-DE" dirty="0" err="1"/>
              <a:t>shown</a:t>
            </a:r>
            <a:r>
              <a:rPr lang="de-DE" dirty="0"/>
              <a:t>. (</a:t>
            </a:r>
            <a:r>
              <a:rPr lang="de-DE" dirty="0" err="1"/>
              <a:t>classification</a:t>
            </a:r>
            <a:r>
              <a:rPr lang="de-DE" dirty="0"/>
              <a:t>)</a:t>
            </a:r>
          </a:p>
          <a:p>
            <a:endParaRPr lang="de-DE" dirty="0"/>
          </a:p>
          <a:p>
            <a:r>
              <a:rPr lang="de-DE" dirty="0"/>
              <a:t>So </a:t>
            </a:r>
            <a:r>
              <a:rPr lang="de-DE" dirty="0" err="1"/>
              <a:t>they</a:t>
            </a:r>
            <a:r>
              <a:rPr lang="de-DE" dirty="0"/>
              <a:t> </a:t>
            </a:r>
            <a:r>
              <a:rPr lang="de-DE" dirty="0" err="1"/>
              <a:t>measure</a:t>
            </a:r>
            <a:r>
              <a:rPr lang="de-DE" dirty="0"/>
              <a:t> and </a:t>
            </a:r>
            <a:r>
              <a:rPr lang="de-DE" dirty="0" err="1"/>
              <a:t>evaluate</a:t>
            </a:r>
            <a:r>
              <a:rPr lang="de-DE" dirty="0"/>
              <a:t>/</a:t>
            </a:r>
            <a:r>
              <a:rPr lang="de-DE" dirty="0" err="1"/>
              <a:t>validate</a:t>
            </a:r>
            <a:r>
              <a:rPr lang="de-DE" dirty="0"/>
              <a:t> real </a:t>
            </a:r>
            <a:r>
              <a:rPr lang="de-DE" dirty="0" err="1"/>
              <a:t>data</a:t>
            </a:r>
            <a:r>
              <a:rPr lang="de-DE" dirty="0"/>
              <a:t>.</a:t>
            </a:r>
          </a:p>
          <a:p>
            <a:endParaRPr lang="de-DE" dirty="0"/>
          </a:p>
          <a:p>
            <a:r>
              <a:rPr lang="de-DE" dirty="0"/>
              <a:t>Generative on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other</a:t>
            </a:r>
            <a:r>
              <a:rPr lang="de-DE" dirty="0"/>
              <a:t> </a:t>
            </a:r>
            <a:r>
              <a:rPr lang="de-DE" dirty="0" err="1"/>
              <a:t>hand</a:t>
            </a:r>
            <a:r>
              <a:rPr lang="de-DE" dirty="0"/>
              <a:t>: </a:t>
            </a:r>
            <a:r>
              <a:rPr lang="de-DE" dirty="0" err="1"/>
              <a:t>judges</a:t>
            </a:r>
            <a:r>
              <a:rPr lang="de-DE" dirty="0"/>
              <a:t> </a:t>
            </a:r>
            <a:r>
              <a:rPr lang="de-DE" dirty="0" err="1"/>
              <a:t>realism</a:t>
            </a:r>
            <a:r>
              <a:rPr lang="de-DE" dirty="0"/>
              <a:t>. „</a:t>
            </a:r>
            <a:r>
              <a:rPr lang="de-DE" dirty="0" err="1"/>
              <a:t>does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generated</a:t>
            </a:r>
            <a:r>
              <a:rPr lang="de-DE" dirty="0"/>
              <a:t> </a:t>
            </a:r>
            <a:r>
              <a:rPr lang="de-DE" dirty="0" err="1"/>
              <a:t>activity</a:t>
            </a:r>
            <a:r>
              <a:rPr lang="de-DE" dirty="0"/>
              <a:t> </a:t>
            </a:r>
            <a:r>
              <a:rPr lang="de-DE" dirty="0" err="1"/>
              <a:t>look</a:t>
            </a:r>
            <a:r>
              <a:rPr lang="de-DE" dirty="0"/>
              <a:t> real“</a:t>
            </a:r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4C3B2649-7BD8-4005-A99E-30D13769A8BD}" type="slidenum">
              <a:rPr lang="en-US" smtClean="0"/>
              <a:t>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1136800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/>
              <a:t>This </a:t>
            </a:r>
            <a:r>
              <a:rPr lang="de-DE" dirty="0" err="1"/>
              <a:t>is</a:t>
            </a:r>
            <a:r>
              <a:rPr lang="de-DE" dirty="0"/>
              <a:t> </a:t>
            </a:r>
            <a:r>
              <a:rPr lang="de-DE" dirty="0" err="1"/>
              <a:t>how</a:t>
            </a:r>
            <a:r>
              <a:rPr lang="de-DE" dirty="0"/>
              <a:t> Brain FID </a:t>
            </a:r>
            <a:r>
              <a:rPr lang="de-DE" dirty="0" err="1"/>
              <a:t>works</a:t>
            </a:r>
            <a:r>
              <a:rPr lang="de-DE" dirty="0"/>
              <a:t> in 4 </a:t>
            </a:r>
            <a:r>
              <a:rPr lang="de-DE" dirty="0" err="1"/>
              <a:t>steps</a:t>
            </a:r>
            <a:r>
              <a:rPr lang="de-DE" dirty="0"/>
              <a:t>:</a:t>
            </a:r>
          </a:p>
          <a:p>
            <a:endParaRPr lang="de-DE" dirty="0"/>
          </a:p>
          <a:p>
            <a:r>
              <a:rPr lang="de-DE" dirty="0"/>
              <a:t>Spikes: </a:t>
            </a:r>
            <a:r>
              <a:rPr lang="de-DE" dirty="0" err="1"/>
              <a:t>We</a:t>
            </a:r>
            <a:r>
              <a:rPr lang="de-DE" dirty="0"/>
              <a:t> </a:t>
            </a:r>
            <a:r>
              <a:rPr lang="de-DE" dirty="0" err="1"/>
              <a:t>start</a:t>
            </a:r>
            <a:r>
              <a:rPr lang="de-DE" dirty="0"/>
              <a:t> </a:t>
            </a:r>
            <a:r>
              <a:rPr lang="de-DE" dirty="0" err="1"/>
              <a:t>with</a:t>
            </a:r>
            <a:r>
              <a:rPr lang="de-DE" dirty="0"/>
              <a:t> </a:t>
            </a:r>
            <a:r>
              <a:rPr lang="de-DE" dirty="0" err="1"/>
              <a:t>two</a:t>
            </a:r>
            <a:r>
              <a:rPr lang="de-DE" dirty="0"/>
              <a:t> stets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spike</a:t>
            </a:r>
            <a:r>
              <a:rPr lang="de-DE" dirty="0"/>
              <a:t> </a:t>
            </a:r>
            <a:r>
              <a:rPr lang="de-DE" dirty="0" err="1"/>
              <a:t>rasters</a:t>
            </a:r>
            <a:r>
              <a:rPr lang="de-DE" dirty="0"/>
              <a:t>: real </a:t>
            </a:r>
            <a:r>
              <a:rPr lang="de-DE" dirty="0" err="1"/>
              <a:t>recordings</a:t>
            </a:r>
            <a:r>
              <a:rPr lang="de-DE" dirty="0"/>
              <a:t>, and </a:t>
            </a:r>
            <a:r>
              <a:rPr lang="de-DE" dirty="0" err="1"/>
              <a:t>sequences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model</a:t>
            </a:r>
            <a:r>
              <a:rPr lang="de-DE" dirty="0"/>
              <a:t> </a:t>
            </a:r>
            <a:r>
              <a:rPr lang="de-DE" dirty="0" err="1"/>
              <a:t>generated</a:t>
            </a:r>
            <a:r>
              <a:rPr lang="de-DE" dirty="0"/>
              <a:t> </a:t>
            </a:r>
            <a:r>
              <a:rPr lang="de-DE" dirty="0" err="1"/>
              <a:t>autoregressively</a:t>
            </a:r>
            <a:r>
              <a:rPr lang="de-DE" dirty="0"/>
              <a:t>. The </a:t>
            </a:r>
            <a:r>
              <a:rPr lang="de-DE" dirty="0" err="1"/>
              <a:t>question</a:t>
            </a:r>
            <a:r>
              <a:rPr lang="de-DE" dirty="0"/>
              <a:t> </a:t>
            </a:r>
            <a:r>
              <a:rPr lang="de-DE" dirty="0" err="1"/>
              <a:t>is</a:t>
            </a:r>
            <a:r>
              <a:rPr lang="de-DE" dirty="0"/>
              <a:t> </a:t>
            </a:r>
            <a:r>
              <a:rPr lang="de-DE" dirty="0" err="1"/>
              <a:t>whether</a:t>
            </a:r>
            <a:r>
              <a:rPr lang="de-DE" dirty="0"/>
              <a:t> </a:t>
            </a:r>
            <a:r>
              <a:rPr lang="de-DE" dirty="0" err="1"/>
              <a:t>these</a:t>
            </a:r>
            <a:r>
              <a:rPr lang="de-DE" dirty="0"/>
              <a:t> </a:t>
            </a:r>
            <a:r>
              <a:rPr lang="de-DE" dirty="0" err="1"/>
              <a:t>two</a:t>
            </a:r>
            <a:r>
              <a:rPr lang="de-DE" dirty="0"/>
              <a:t> </a:t>
            </a:r>
            <a:r>
              <a:rPr lang="de-DE" dirty="0" err="1"/>
              <a:t>look</a:t>
            </a:r>
            <a:r>
              <a:rPr lang="de-DE" dirty="0"/>
              <a:t> </a:t>
            </a:r>
            <a:r>
              <a:rPr lang="de-DE" dirty="0" err="1"/>
              <a:t>statistically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same?</a:t>
            </a:r>
          </a:p>
          <a:p>
            <a:endParaRPr lang="de-DE" dirty="0"/>
          </a:p>
          <a:p>
            <a:r>
              <a:rPr lang="de-DE" dirty="0"/>
              <a:t>Pool </a:t>
            </a:r>
            <a:r>
              <a:rPr lang="de-DE" dirty="0" err="1"/>
              <a:t>by</a:t>
            </a:r>
            <a:r>
              <a:rPr lang="de-DE" dirty="0"/>
              <a:t> </a:t>
            </a:r>
            <a:r>
              <a:rPr lang="de-DE" dirty="0" err="1"/>
              <a:t>area</a:t>
            </a:r>
            <a:r>
              <a:rPr lang="de-DE" dirty="0"/>
              <a:t>: Individual </a:t>
            </a:r>
            <a:r>
              <a:rPr lang="de-DE" dirty="0" err="1"/>
              <a:t>neurons</a:t>
            </a:r>
            <a:r>
              <a:rPr lang="de-DE" dirty="0"/>
              <a:t> </a:t>
            </a:r>
            <a:r>
              <a:rPr lang="de-DE" dirty="0" err="1"/>
              <a:t>are</a:t>
            </a:r>
            <a:r>
              <a:rPr lang="de-DE" dirty="0"/>
              <a:t> </a:t>
            </a:r>
            <a:r>
              <a:rPr lang="de-DE" dirty="0" err="1"/>
              <a:t>too</a:t>
            </a:r>
            <a:r>
              <a:rPr lang="de-DE" dirty="0"/>
              <a:t> </a:t>
            </a:r>
            <a:r>
              <a:rPr lang="de-DE" dirty="0" err="1"/>
              <a:t>noisy</a:t>
            </a:r>
            <a:r>
              <a:rPr lang="de-DE" dirty="0"/>
              <a:t> </a:t>
            </a:r>
            <a:r>
              <a:rPr lang="de-DE" dirty="0" err="1"/>
              <a:t>to</a:t>
            </a:r>
            <a:r>
              <a:rPr lang="de-DE" dirty="0"/>
              <a:t> </a:t>
            </a:r>
            <a:r>
              <a:rPr lang="de-DE" dirty="0" err="1"/>
              <a:t>compare</a:t>
            </a:r>
            <a:r>
              <a:rPr lang="de-DE" dirty="0"/>
              <a:t> </a:t>
            </a:r>
            <a:r>
              <a:rPr lang="de-DE" dirty="0" err="1"/>
              <a:t>directly</a:t>
            </a:r>
            <a:r>
              <a:rPr lang="de-DE" dirty="0"/>
              <a:t>, so </a:t>
            </a:r>
            <a:r>
              <a:rPr lang="de-DE" dirty="0" err="1"/>
              <a:t>we</a:t>
            </a:r>
            <a:r>
              <a:rPr lang="de-DE" dirty="0"/>
              <a:t> </a:t>
            </a:r>
            <a:r>
              <a:rPr lang="de-DE" dirty="0" err="1"/>
              <a:t>have</a:t>
            </a:r>
            <a:r>
              <a:rPr lang="de-DE" dirty="0"/>
              <a:t> </a:t>
            </a:r>
            <a:r>
              <a:rPr lang="de-DE" dirty="0" err="1"/>
              <a:t>to</a:t>
            </a:r>
            <a:r>
              <a:rPr lang="de-DE" dirty="0"/>
              <a:t> </a:t>
            </a:r>
            <a:r>
              <a:rPr lang="de-DE" dirty="0" err="1"/>
              <a:t>average</a:t>
            </a:r>
            <a:r>
              <a:rPr lang="de-DE" dirty="0"/>
              <a:t> </a:t>
            </a:r>
            <a:r>
              <a:rPr lang="de-DE" dirty="0" err="1"/>
              <a:t>them</a:t>
            </a:r>
            <a:r>
              <a:rPr lang="de-DE" dirty="0"/>
              <a:t> per </a:t>
            </a:r>
            <a:r>
              <a:rPr lang="de-DE" dirty="0" err="1"/>
              <a:t>brain</a:t>
            </a:r>
            <a:r>
              <a:rPr lang="de-DE" dirty="0"/>
              <a:t> </a:t>
            </a:r>
            <a:r>
              <a:rPr lang="de-DE" dirty="0" err="1"/>
              <a:t>region</a:t>
            </a:r>
            <a:r>
              <a:rPr lang="de-DE" dirty="0"/>
              <a:t> </a:t>
            </a:r>
            <a:r>
              <a:rPr lang="de-DE" dirty="0" err="1"/>
              <a:t>using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atlas</a:t>
            </a:r>
            <a:r>
              <a:rPr lang="de-DE" dirty="0"/>
              <a:t> </a:t>
            </a:r>
            <a:r>
              <a:rPr lang="de-DE" dirty="0" err="1"/>
              <a:t>labels</a:t>
            </a:r>
            <a:r>
              <a:rPr lang="de-DE" dirty="0"/>
              <a:t> </a:t>
            </a:r>
            <a:r>
              <a:rPr lang="de-DE" dirty="0" err="1"/>
              <a:t>from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Allen </a:t>
            </a:r>
            <a:r>
              <a:rPr lang="de-DE" dirty="0" err="1"/>
              <a:t>institute</a:t>
            </a:r>
            <a:r>
              <a:rPr lang="de-DE" dirty="0"/>
              <a:t>. This </a:t>
            </a:r>
            <a:r>
              <a:rPr lang="de-DE" dirty="0" err="1"/>
              <a:t>turns</a:t>
            </a:r>
            <a:r>
              <a:rPr lang="de-DE" dirty="0"/>
              <a:t> 100+ </a:t>
            </a:r>
            <a:r>
              <a:rPr lang="de-DE" dirty="0" err="1"/>
              <a:t>neurons</a:t>
            </a:r>
            <a:r>
              <a:rPr lang="de-DE" dirty="0"/>
              <a:t> </a:t>
            </a:r>
            <a:r>
              <a:rPr lang="de-DE" dirty="0" err="1"/>
              <a:t>into</a:t>
            </a:r>
            <a:r>
              <a:rPr lang="de-DE" dirty="0"/>
              <a:t> a </a:t>
            </a:r>
            <a:r>
              <a:rPr lang="de-DE" dirty="0" err="1"/>
              <a:t>handful</a:t>
            </a:r>
            <a:r>
              <a:rPr lang="de-DE" dirty="0"/>
              <a:t>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population</a:t>
            </a:r>
            <a:r>
              <a:rPr lang="de-DE" dirty="0"/>
              <a:t> </a:t>
            </a:r>
            <a:r>
              <a:rPr lang="de-DE" dirty="0" err="1"/>
              <a:t>signals</a:t>
            </a:r>
            <a:r>
              <a:rPr lang="de-DE" dirty="0"/>
              <a:t>.</a:t>
            </a:r>
          </a:p>
          <a:p>
            <a:endParaRPr lang="de-DE" dirty="0"/>
          </a:p>
          <a:p>
            <a:r>
              <a:rPr lang="de-DE" dirty="0" err="1"/>
              <a:t>Frequency</a:t>
            </a:r>
            <a:r>
              <a:rPr lang="de-DE" dirty="0"/>
              <a:t> </a:t>
            </a:r>
            <a:r>
              <a:rPr lang="de-DE" dirty="0" err="1"/>
              <a:t>features</a:t>
            </a:r>
            <a:r>
              <a:rPr lang="de-DE" dirty="0"/>
              <a:t>: </a:t>
            </a:r>
            <a:r>
              <a:rPr lang="de-DE" dirty="0" err="1"/>
              <a:t>For</a:t>
            </a:r>
            <a:r>
              <a:rPr lang="de-DE" dirty="0"/>
              <a:t> </a:t>
            </a:r>
            <a:r>
              <a:rPr lang="de-DE" dirty="0" err="1"/>
              <a:t>each</a:t>
            </a:r>
            <a:r>
              <a:rPr lang="de-DE" dirty="0"/>
              <a:t> </a:t>
            </a:r>
            <a:r>
              <a:rPr lang="de-DE" dirty="0" err="1"/>
              <a:t>region</a:t>
            </a:r>
            <a:r>
              <a:rPr lang="de-DE" dirty="0"/>
              <a:t> </a:t>
            </a:r>
            <a:r>
              <a:rPr lang="de-DE" dirty="0" err="1"/>
              <a:t>then</a:t>
            </a:r>
            <a:r>
              <a:rPr lang="de-DE" dirty="0"/>
              <a:t> I </a:t>
            </a:r>
            <a:r>
              <a:rPr lang="de-DE" dirty="0" err="1"/>
              <a:t>extracted</a:t>
            </a:r>
            <a:r>
              <a:rPr lang="de-DE" dirty="0"/>
              <a:t> </a:t>
            </a:r>
            <a:r>
              <a:rPr lang="de-DE" dirty="0" err="1"/>
              <a:t>how</a:t>
            </a:r>
            <a:r>
              <a:rPr lang="de-DE" dirty="0"/>
              <a:t> </a:t>
            </a:r>
            <a:r>
              <a:rPr lang="de-DE" dirty="0" err="1"/>
              <a:t>much</a:t>
            </a:r>
            <a:r>
              <a:rPr lang="de-DE" dirty="0"/>
              <a:t> </a:t>
            </a:r>
            <a:r>
              <a:rPr lang="de-DE" dirty="0" err="1"/>
              <a:t>oscillation</a:t>
            </a:r>
            <a:r>
              <a:rPr lang="de-DE" dirty="0"/>
              <a:t> power </a:t>
            </a:r>
            <a:r>
              <a:rPr lang="de-DE" dirty="0" err="1"/>
              <a:t>sits</a:t>
            </a:r>
            <a:r>
              <a:rPr lang="de-DE" dirty="0"/>
              <a:t> in different </a:t>
            </a:r>
            <a:r>
              <a:rPr lang="de-DE" dirty="0" err="1"/>
              <a:t>frequency</a:t>
            </a:r>
            <a:r>
              <a:rPr lang="de-DE" dirty="0"/>
              <a:t> bands, </a:t>
            </a:r>
            <a:r>
              <a:rPr lang="de-DE" dirty="0" err="1"/>
              <a:t>from</a:t>
            </a:r>
            <a:r>
              <a:rPr lang="de-DE" dirty="0"/>
              <a:t> 2 </a:t>
            </a:r>
            <a:r>
              <a:rPr lang="de-DE" dirty="0" err="1"/>
              <a:t>to</a:t>
            </a:r>
            <a:r>
              <a:rPr lang="de-DE" dirty="0"/>
              <a:t> 30Hz. (2–30 Hz deckt die für kortikale Aktivität relevanten Rhythmen ab (</a:t>
            </a:r>
            <a:r>
              <a:rPr lang="de-DE" dirty="0" err="1"/>
              <a:t>theta</a:t>
            </a:r>
            <a:r>
              <a:rPr lang="de-DE" dirty="0"/>
              <a:t> ~4–8, </a:t>
            </a:r>
            <a:r>
              <a:rPr lang="de-DE" dirty="0" err="1"/>
              <a:t>alpha</a:t>
            </a:r>
            <a:r>
              <a:rPr lang="de-DE" dirty="0"/>
              <a:t> ~8–12, </a:t>
            </a:r>
            <a:r>
              <a:rPr lang="de-DE" dirty="0" err="1"/>
              <a:t>beta</a:t>
            </a:r>
            <a:r>
              <a:rPr lang="de-DE" dirty="0"/>
              <a:t> ~13–30 Hz). Unter 2 Hz ist quasi statisch, über 30 Hz brauchst du feinere Zeitauflösung als dein </a:t>
            </a:r>
            <a:r>
              <a:rPr lang="de-DE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dt</a:t>
            </a:r>
            <a:r>
              <a:rPr lang="de-DE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=0.02</a:t>
            </a:r>
            <a:r>
              <a:rPr lang="de-DE" dirty="0"/>
              <a:t> (Nyquist-Grenze = 25 Hz) überhaupt hergibt. </a:t>
            </a:r>
          </a:p>
          <a:p>
            <a:endParaRPr lang="de-DE" dirty="0"/>
          </a:p>
          <a:p>
            <a:r>
              <a:rPr lang="en-US" dirty="0"/>
              <a:t>Fréchet distance — Finally I compare the feature distributions of real versus generated data. </a:t>
            </a:r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4C3B2649-7BD8-4005-A99E-30D13769A8BD}" type="slidenum">
              <a:rPr lang="en-US" smtClean="0"/>
              <a:t>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7992080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/>
              <a:t>A </a:t>
            </a:r>
            <a:r>
              <a:rPr lang="de-DE" dirty="0" err="1"/>
              <a:t>motivates</a:t>
            </a:r>
            <a:r>
              <a:rPr lang="de-DE" dirty="0"/>
              <a:t> B was </a:t>
            </a:r>
            <a:r>
              <a:rPr lang="de-DE" dirty="0" err="1"/>
              <a:t>my</a:t>
            </a:r>
            <a:r>
              <a:rPr lang="de-DE" dirty="0"/>
              <a:t> </a:t>
            </a:r>
            <a:r>
              <a:rPr lang="de-DE" dirty="0" err="1"/>
              <a:t>thought</a:t>
            </a:r>
            <a:r>
              <a:rPr lang="de-DE" dirty="0"/>
              <a:t> at </a:t>
            </a:r>
            <a:r>
              <a:rPr lang="de-DE" b="1" dirty="0" err="1"/>
              <a:t>first</a:t>
            </a:r>
            <a:endParaRPr lang="de-DE" b="1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4C3B2649-7BD8-4005-A99E-30D13769A8BD}" type="slidenum">
              <a:rPr lang="en-US" smtClean="0"/>
              <a:t>10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54127366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/>
              <a:t>My </a:t>
            </a:r>
            <a:r>
              <a:rPr lang="de-DE" dirty="0" err="1"/>
              <a:t>thought</a:t>
            </a:r>
            <a:r>
              <a:rPr lang="de-DE" dirty="0"/>
              <a:t> was: i </a:t>
            </a:r>
            <a:r>
              <a:rPr lang="de-DE" dirty="0" err="1"/>
              <a:t>dont</a:t>
            </a:r>
            <a:r>
              <a:rPr lang="de-DE" dirty="0"/>
              <a:t> </a:t>
            </a:r>
            <a:r>
              <a:rPr lang="de-DE" dirty="0" err="1"/>
              <a:t>neccessarily</a:t>
            </a:r>
            <a:r>
              <a:rPr lang="de-DE" dirty="0"/>
              <a:t> </a:t>
            </a:r>
            <a:r>
              <a:rPr lang="de-DE" dirty="0" err="1"/>
              <a:t>want</a:t>
            </a:r>
            <a:r>
              <a:rPr lang="de-DE" dirty="0"/>
              <a:t> </a:t>
            </a:r>
            <a:r>
              <a:rPr lang="de-DE" dirty="0" err="1"/>
              <a:t>to</a:t>
            </a:r>
            <a:r>
              <a:rPr lang="de-DE" dirty="0"/>
              <a:t> </a:t>
            </a:r>
            <a:r>
              <a:rPr lang="de-DE" dirty="0" err="1"/>
              <a:t>improve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training</a:t>
            </a:r>
            <a:r>
              <a:rPr lang="de-DE" dirty="0"/>
              <a:t> </a:t>
            </a:r>
            <a:r>
              <a:rPr lang="de-DE" dirty="0" err="1"/>
              <a:t>setup</a:t>
            </a:r>
            <a:r>
              <a:rPr lang="de-DE" dirty="0"/>
              <a:t> </a:t>
            </a:r>
            <a:r>
              <a:rPr lang="de-DE" dirty="0" err="1"/>
              <a:t>or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hyperparameters</a:t>
            </a:r>
            <a:r>
              <a:rPr lang="de-DE" dirty="0"/>
              <a:t> </a:t>
            </a:r>
            <a:r>
              <a:rPr lang="de-DE" dirty="0" err="1"/>
              <a:t>those</a:t>
            </a:r>
            <a:r>
              <a:rPr lang="de-DE" dirty="0"/>
              <a:t> </a:t>
            </a:r>
            <a:r>
              <a:rPr lang="de-DE" dirty="0" err="1"/>
              <a:t>should</a:t>
            </a:r>
            <a:r>
              <a:rPr lang="de-DE" dirty="0"/>
              <a:t> </a:t>
            </a:r>
            <a:r>
              <a:rPr lang="de-DE" dirty="0" err="1"/>
              <a:t>stay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same. Only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architecture</a:t>
            </a:r>
            <a:r>
              <a:rPr lang="de-DE" dirty="0"/>
              <a:t> </a:t>
            </a:r>
            <a:r>
              <a:rPr lang="de-DE" dirty="0" err="1"/>
              <a:t>differs</a:t>
            </a:r>
            <a:r>
              <a:rPr lang="de-DE" dirty="0"/>
              <a:t>. My </a:t>
            </a:r>
            <a:r>
              <a:rPr lang="de-DE" dirty="0" err="1"/>
              <a:t>baseline</a:t>
            </a:r>
            <a:r>
              <a:rPr lang="de-DE" dirty="0"/>
              <a:t> </a:t>
            </a:r>
            <a:r>
              <a:rPr lang="de-DE" dirty="0" err="1"/>
              <a:t>is</a:t>
            </a:r>
            <a:r>
              <a:rPr lang="de-DE" dirty="0"/>
              <a:t> a </a:t>
            </a:r>
            <a:r>
              <a:rPr lang="de-DE" dirty="0" err="1"/>
              <a:t>textbook</a:t>
            </a:r>
            <a:r>
              <a:rPr lang="de-DE" dirty="0"/>
              <a:t> GPT and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professor‘s</a:t>
            </a:r>
            <a:r>
              <a:rPr lang="de-DE" dirty="0"/>
              <a:t> </a:t>
            </a:r>
            <a:r>
              <a:rPr lang="de-DE" dirty="0" err="1"/>
              <a:t>SpikeGPT</a:t>
            </a:r>
            <a:r>
              <a:rPr lang="de-DE" dirty="0"/>
              <a:t> </a:t>
            </a:r>
            <a:r>
              <a:rPr lang="de-DE" dirty="0" err="1"/>
              <a:t>adds</a:t>
            </a:r>
            <a:r>
              <a:rPr lang="de-DE" dirty="0"/>
              <a:t> multiple </a:t>
            </a:r>
            <a:r>
              <a:rPr lang="de-DE" dirty="0" err="1"/>
              <a:t>refinements</a:t>
            </a:r>
            <a:r>
              <a:rPr lang="de-DE" dirty="0"/>
              <a:t>. </a:t>
            </a:r>
            <a:r>
              <a:rPr lang="en-US" dirty="0"/>
              <a:t>They of course all make sense and are SOTA choices — the question I also had then was how much do they actually matter? </a:t>
            </a:r>
          </a:p>
          <a:p>
            <a:endParaRPr lang="de-DE" dirty="0"/>
          </a:p>
          <a:p>
            <a:r>
              <a:rPr lang="en-US" b="1" dirty="0"/>
              <a:t>Positional encoding</a:t>
            </a:r>
            <a:r>
              <a:rPr lang="en-US" dirty="0"/>
              <a:t> — "How the model knows the order of timesteps: I add a fixed sinusoidal signal once at the input; </a:t>
            </a:r>
            <a:r>
              <a:rPr lang="en-US" dirty="0" err="1"/>
              <a:t>SpikeGPT</a:t>
            </a:r>
            <a:r>
              <a:rPr lang="en-US" dirty="0"/>
              <a:t> rotates the representations inside every attention layer (</a:t>
            </a:r>
            <a:r>
              <a:rPr lang="en-US" dirty="0" err="1"/>
              <a:t>RoPE</a:t>
            </a:r>
            <a:r>
              <a:rPr lang="en-US" dirty="0"/>
              <a:t>), which generalizes better to position."</a:t>
            </a:r>
          </a:p>
          <a:p>
            <a:r>
              <a:rPr lang="en-US" b="1" dirty="0"/>
              <a:t>Attention</a:t>
            </a:r>
            <a:r>
              <a:rPr lang="en-US" dirty="0"/>
              <a:t> — "Both compute attention — mine the standard textbook way, </a:t>
            </a:r>
            <a:r>
              <a:rPr lang="en-US" dirty="0" err="1"/>
              <a:t>SpikeGPT</a:t>
            </a:r>
            <a:r>
              <a:rPr lang="en-US" dirty="0"/>
              <a:t> uses </a:t>
            </a:r>
            <a:r>
              <a:rPr lang="en-US" dirty="0" err="1"/>
              <a:t>FlexAttention</a:t>
            </a:r>
            <a:r>
              <a:rPr lang="en-US" dirty="0"/>
              <a:t>, an optimized GPU implementation."</a:t>
            </a:r>
          </a:p>
          <a:p>
            <a:r>
              <a:rPr lang="en-US" b="1" dirty="0"/>
              <a:t>Normalization</a:t>
            </a:r>
            <a:r>
              <a:rPr lang="en-US" dirty="0"/>
              <a:t> — "How activations are kept stable during training: I use </a:t>
            </a:r>
            <a:r>
              <a:rPr lang="en-US" dirty="0" err="1"/>
              <a:t>LayerNorm</a:t>
            </a:r>
            <a:r>
              <a:rPr lang="en-US" dirty="0"/>
              <a:t>, </a:t>
            </a:r>
            <a:r>
              <a:rPr lang="en-US" dirty="0" err="1"/>
              <a:t>SpikeGPT</a:t>
            </a:r>
            <a:r>
              <a:rPr lang="en-US" dirty="0"/>
              <a:t> uses </a:t>
            </a:r>
            <a:r>
              <a:rPr lang="en-US" dirty="0" err="1"/>
              <a:t>RMSNorm</a:t>
            </a:r>
            <a:r>
              <a:rPr lang="en-US" dirty="0"/>
              <a:t>, a slightly simpler and faster variant."</a:t>
            </a:r>
          </a:p>
          <a:p>
            <a:r>
              <a:rPr lang="en-US" b="1" dirty="0"/>
              <a:t>QK normalization</a:t>
            </a:r>
            <a:r>
              <a:rPr lang="en-US" dirty="0"/>
              <a:t> — "</a:t>
            </a:r>
            <a:r>
              <a:rPr lang="en-US" dirty="0" err="1"/>
              <a:t>SpikeGPT</a:t>
            </a:r>
            <a:r>
              <a:rPr lang="en-US" dirty="0"/>
              <a:t> additionally normalizes the queries and keys before attention for extra training stability — mine doesn't."</a:t>
            </a:r>
          </a:p>
          <a:p>
            <a:r>
              <a:rPr lang="en-US" b="1" dirty="0"/>
              <a:t>Output projection</a:t>
            </a:r>
            <a:r>
              <a:rPr lang="en-US" dirty="0"/>
              <a:t> — "A small initialization trick: </a:t>
            </a:r>
            <a:r>
              <a:rPr lang="en-US" dirty="0" err="1"/>
              <a:t>SpikeGPT</a:t>
            </a:r>
            <a:r>
              <a:rPr lang="en-US" dirty="0"/>
              <a:t> starts the attention output at zero so each layer begins as a no-op, which can stabilize early training."</a:t>
            </a:r>
          </a:p>
          <a:p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4C3B2649-7BD8-4005-A99E-30D13769A8BD}" type="slidenum">
              <a:rPr lang="en-US" smtClean="0"/>
              <a:t>11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25185899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="1" dirty="0"/>
              <a:t>two reasons:</a:t>
            </a:r>
            <a:endParaRPr lang="en-US" dirty="0"/>
          </a:p>
          <a:p>
            <a:r>
              <a:rPr lang="en-US" b="1" dirty="0"/>
              <a:t>Reason 1:</a:t>
            </a:r>
            <a:r>
              <a:rPr lang="en-US" dirty="0"/>
              <a:t> One of the features is just the average firing rate over time. If you shuffle the time order, the average doesn't change at all — so this feature can't tell the difference.</a:t>
            </a:r>
          </a:p>
          <a:p>
            <a:r>
              <a:rPr lang="en-US" b="1" dirty="0"/>
              <a:t>Reason 2:</a:t>
            </a:r>
            <a:r>
              <a:rPr lang="en-US" dirty="0"/>
              <a:t> When you average a whole brain region together, the signal becomes slow and smooth. The features mostly capture this slow part — and shuffling time barely changes slow signals. It's the fast, moment-to-moment detail that shuffling destroys, and that's exactly what these features ignore.</a:t>
            </a:r>
          </a:p>
          <a:p>
            <a:endParaRPr lang="en-US" dirty="0"/>
          </a:p>
          <a:p>
            <a:r>
              <a:rPr lang="en-US" dirty="0"/>
              <a:t>"The features mostly capture </a:t>
            </a:r>
            <a:r>
              <a:rPr lang="en-US" i="1" dirty="0"/>
              <a:t>how much</a:t>
            </a:r>
            <a:r>
              <a:rPr lang="en-US" dirty="0"/>
              <a:t> and </a:t>
            </a:r>
            <a:r>
              <a:rPr lang="en-US" i="1" dirty="0"/>
              <a:t>how slow</a:t>
            </a:r>
            <a:r>
              <a:rPr lang="en-US" dirty="0"/>
              <a:t> each region fires — not the fine temporal order — so shuffling time barely moves them.“</a:t>
            </a:r>
          </a:p>
          <a:p>
            <a:endParaRPr lang="en-US" dirty="0"/>
          </a:p>
          <a:p>
            <a:r>
              <a:rPr lang="en-US" dirty="0"/>
              <a:t>Potential fix: Instead of only looking at rhythm, it splits the sequence into time blocks and keeps each block as its own feature — so shuffling the time order scrambles the blocks and the score finally reacts.</a:t>
            </a:r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4C3B2649-7BD8-4005-A99E-30D13769A8BD}" type="slidenum">
              <a:rPr lang="en-US" smtClean="0"/>
              <a:t>15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73885232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/>
              <a:t>PCA: </a:t>
            </a:r>
            <a:r>
              <a:rPr lang="de-DE" dirty="0" err="1"/>
              <a:t>Finds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directions</a:t>
            </a:r>
            <a:r>
              <a:rPr lang="de-DE" dirty="0"/>
              <a:t>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biggest</a:t>
            </a:r>
            <a:r>
              <a:rPr lang="de-DE" dirty="0"/>
              <a:t> </a:t>
            </a:r>
            <a:r>
              <a:rPr lang="de-DE" dirty="0" err="1"/>
              <a:t>variation</a:t>
            </a:r>
            <a:r>
              <a:rPr lang="de-DE" dirty="0"/>
              <a:t> and </a:t>
            </a:r>
            <a:r>
              <a:rPr lang="de-DE" dirty="0" err="1"/>
              <a:t>flattens</a:t>
            </a:r>
            <a:r>
              <a:rPr lang="de-DE" dirty="0"/>
              <a:t> </a:t>
            </a:r>
            <a:r>
              <a:rPr lang="de-DE" dirty="0" err="1"/>
              <a:t>everything</a:t>
            </a:r>
            <a:r>
              <a:rPr lang="de-DE" dirty="0"/>
              <a:t> </a:t>
            </a:r>
            <a:r>
              <a:rPr lang="de-DE" dirty="0" err="1"/>
              <a:t>into</a:t>
            </a:r>
            <a:r>
              <a:rPr lang="de-DE" dirty="0"/>
              <a:t> 2D </a:t>
            </a:r>
            <a:r>
              <a:rPr lang="de-DE" dirty="0" err="1"/>
              <a:t>linearly</a:t>
            </a:r>
            <a:r>
              <a:rPr lang="de-DE" dirty="0"/>
              <a:t>. Strength: </a:t>
            </a:r>
            <a:r>
              <a:rPr lang="de-DE" dirty="0" err="1"/>
              <a:t>does</a:t>
            </a:r>
            <a:r>
              <a:rPr lang="de-DE" dirty="0"/>
              <a:t> not </a:t>
            </a:r>
            <a:r>
              <a:rPr lang="de-DE" dirty="0" err="1"/>
              <a:t>distort</a:t>
            </a:r>
            <a:r>
              <a:rPr lang="de-DE" dirty="0"/>
              <a:t> </a:t>
            </a:r>
            <a:r>
              <a:rPr lang="de-DE" dirty="0" err="1"/>
              <a:t>distances</a:t>
            </a:r>
            <a:r>
              <a:rPr lang="de-DE" dirty="0"/>
              <a:t> </a:t>
            </a:r>
            <a:r>
              <a:rPr lang="de-DE" dirty="0">
                <a:sym typeface="Wingdings" panose="05000000000000000000" pitchFamily="2" charset="2"/>
              </a:rPr>
              <a:t> </a:t>
            </a:r>
            <a:r>
              <a:rPr lang="de-DE" dirty="0" err="1">
                <a:sym typeface="Wingdings" panose="05000000000000000000" pitchFamily="2" charset="2"/>
              </a:rPr>
              <a:t>if</a:t>
            </a:r>
            <a:r>
              <a:rPr lang="de-DE" dirty="0">
                <a:sym typeface="Wingdings" panose="05000000000000000000" pitchFamily="2" charset="2"/>
              </a:rPr>
              <a:t> real/</a:t>
            </a:r>
            <a:r>
              <a:rPr lang="de-DE" dirty="0" err="1">
                <a:sym typeface="Wingdings" panose="05000000000000000000" pitchFamily="2" charset="2"/>
              </a:rPr>
              <a:t>generated</a:t>
            </a:r>
            <a:r>
              <a:rPr lang="de-DE" dirty="0">
                <a:sym typeface="Wingdings" panose="05000000000000000000" pitchFamily="2" charset="2"/>
              </a:rPr>
              <a:t> </a:t>
            </a:r>
            <a:r>
              <a:rPr lang="de-DE" dirty="0" err="1">
                <a:sym typeface="Wingdings" panose="05000000000000000000" pitchFamily="2" charset="2"/>
              </a:rPr>
              <a:t>overlap</a:t>
            </a:r>
            <a:r>
              <a:rPr lang="de-DE" dirty="0">
                <a:sym typeface="Wingdings" panose="05000000000000000000" pitchFamily="2" charset="2"/>
              </a:rPr>
              <a:t> </a:t>
            </a:r>
            <a:r>
              <a:rPr lang="de-DE" dirty="0" err="1">
                <a:sym typeface="Wingdings" panose="05000000000000000000" pitchFamily="2" charset="2"/>
              </a:rPr>
              <a:t>the</a:t>
            </a:r>
            <a:r>
              <a:rPr lang="de-DE" dirty="0">
                <a:sym typeface="Wingdings" panose="05000000000000000000" pitchFamily="2" charset="2"/>
              </a:rPr>
              <a:t> </a:t>
            </a:r>
            <a:r>
              <a:rPr lang="de-DE" dirty="0" err="1">
                <a:sym typeface="Wingdings" panose="05000000000000000000" pitchFamily="2" charset="2"/>
              </a:rPr>
              <a:t>overlap</a:t>
            </a:r>
            <a:r>
              <a:rPr lang="de-DE" dirty="0">
                <a:sym typeface="Wingdings" panose="05000000000000000000" pitchFamily="2" charset="2"/>
              </a:rPr>
              <a:t> </a:t>
            </a:r>
            <a:r>
              <a:rPr lang="de-DE" dirty="0" err="1">
                <a:sym typeface="Wingdings" panose="05000000000000000000" pitchFamily="2" charset="2"/>
              </a:rPr>
              <a:t>is</a:t>
            </a:r>
            <a:r>
              <a:rPr lang="de-DE" dirty="0">
                <a:sym typeface="Wingdings" panose="05000000000000000000" pitchFamily="2" charset="2"/>
              </a:rPr>
              <a:t> real. </a:t>
            </a:r>
            <a:r>
              <a:rPr lang="de-DE" dirty="0" err="1">
                <a:sym typeface="Wingdings" panose="05000000000000000000" pitchFamily="2" charset="2"/>
              </a:rPr>
              <a:t>Weakness</a:t>
            </a:r>
            <a:r>
              <a:rPr lang="de-DE" dirty="0">
                <a:sym typeface="Wingdings" panose="05000000000000000000" pitchFamily="2" charset="2"/>
              </a:rPr>
              <a:t>: </a:t>
            </a:r>
            <a:r>
              <a:rPr lang="en-US" dirty="0"/>
              <a:t>if the data has curved or complex structure, PCA can squash it into a blob and hide it.</a:t>
            </a:r>
          </a:p>
          <a:p>
            <a:endParaRPr lang="en-US" dirty="0"/>
          </a:p>
          <a:p>
            <a:r>
              <a:rPr lang="en-US" dirty="0"/>
              <a:t>UMAP: nonlinear projection. It tries to preserve which points are neighbors </a:t>
            </a:r>
            <a:r>
              <a:rPr lang="en-US" dirty="0">
                <a:sym typeface="Wingdings" panose="05000000000000000000" pitchFamily="2" charset="2"/>
              </a:rPr>
              <a:t> good at revealing clusters or sub-structures. </a:t>
            </a:r>
            <a:r>
              <a:rPr lang="en-US" dirty="0"/>
              <a:t>— for example if real activity falls into several distinct states (different behaviors), UMAP tends to show them as separate groups. Its weakness: it can </a:t>
            </a:r>
            <a:r>
              <a:rPr lang="en-US" i="1" dirty="0"/>
              <a:t>invent</a:t>
            </a:r>
            <a:r>
              <a:rPr lang="en-US" dirty="0"/>
              <a:t> structure that isn't really there, and distances between clusters aren't meaningful.</a:t>
            </a:r>
          </a:p>
          <a:p>
            <a:endParaRPr lang="en-US" dirty="0"/>
          </a:p>
          <a:p>
            <a:r>
              <a:rPr lang="en-US" b="1" dirty="0"/>
              <a:t>Why both:</a:t>
            </a:r>
            <a:r>
              <a:rPr lang="en-US" dirty="0"/>
              <a:t> they cross-check each other — PCA for spread, UMAP for structure.</a:t>
            </a:r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4C3B2649-7BD8-4005-A99E-30D13769A8BD}" type="slidenum">
              <a:rPr lang="en-US" smtClean="0"/>
              <a:t>16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43690433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/>
              <a:t>I </a:t>
            </a:r>
            <a:r>
              <a:rPr lang="de-DE" dirty="0" err="1"/>
              <a:t>don‘t</a:t>
            </a:r>
            <a:r>
              <a:rPr lang="de-DE" dirty="0"/>
              <a:t> </a:t>
            </a:r>
            <a:r>
              <a:rPr lang="de-DE" dirty="0" err="1"/>
              <a:t>really</a:t>
            </a:r>
            <a:r>
              <a:rPr lang="de-DE" dirty="0"/>
              <a:t> </a:t>
            </a:r>
            <a:r>
              <a:rPr lang="de-DE" dirty="0" err="1"/>
              <a:t>see</a:t>
            </a:r>
            <a:r>
              <a:rPr lang="de-DE" dirty="0"/>
              <a:t> </a:t>
            </a:r>
            <a:r>
              <a:rPr lang="de-DE" dirty="0" err="1"/>
              <a:t>this</a:t>
            </a:r>
            <a:r>
              <a:rPr lang="de-DE" dirty="0"/>
              <a:t> </a:t>
            </a:r>
            <a:r>
              <a:rPr lang="de-DE" dirty="0" err="1"/>
              <a:t>as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metrics</a:t>
            </a:r>
            <a:r>
              <a:rPr lang="de-DE" dirty="0"/>
              <a:t> fault. </a:t>
            </a:r>
            <a:r>
              <a:rPr lang="de-DE" dirty="0" err="1"/>
              <a:t>There</a:t>
            </a:r>
            <a:r>
              <a:rPr lang="de-DE" dirty="0"/>
              <a:t> </a:t>
            </a:r>
            <a:r>
              <a:rPr lang="de-DE" dirty="0" err="1"/>
              <a:t>is</a:t>
            </a:r>
            <a:r>
              <a:rPr lang="de-DE" dirty="0"/>
              <a:t> just </a:t>
            </a:r>
            <a:r>
              <a:rPr lang="de-DE" dirty="0" err="1"/>
              <a:t>to</a:t>
            </a:r>
            <a:r>
              <a:rPr lang="de-DE" dirty="0"/>
              <a:t> </a:t>
            </a:r>
            <a:r>
              <a:rPr lang="de-DE" dirty="0" err="1"/>
              <a:t>little</a:t>
            </a:r>
            <a:r>
              <a:rPr lang="de-DE" dirty="0"/>
              <a:t> </a:t>
            </a:r>
            <a:r>
              <a:rPr lang="de-DE" dirty="0" err="1"/>
              <a:t>data</a:t>
            </a:r>
            <a:r>
              <a:rPr lang="de-DE" dirty="0"/>
              <a:t> per </a:t>
            </a:r>
            <a:r>
              <a:rPr lang="de-DE" dirty="0" err="1"/>
              <a:t>session</a:t>
            </a:r>
            <a:r>
              <a:rPr lang="de-DE" dirty="0"/>
              <a:t> (~50 Samples </a:t>
            </a:r>
            <a:r>
              <a:rPr lang="de-DE" dirty="0" err="1"/>
              <a:t>vs</a:t>
            </a:r>
            <a:r>
              <a:rPr lang="de-DE" dirty="0"/>
              <a:t> 1000 Samples </a:t>
            </a:r>
            <a:r>
              <a:rPr lang="de-DE" dirty="0" err="1"/>
              <a:t>globally</a:t>
            </a:r>
            <a:r>
              <a:rPr lang="de-DE" dirty="0"/>
              <a:t>).</a:t>
            </a:r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4C3B2649-7BD8-4005-A99E-30D13769A8BD}" type="slidenum">
              <a:rPr lang="en-US" smtClean="0"/>
              <a:t>17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46035373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Potential fix: Instead of only looking at rhythm, it splits the sequence into time blocks and keeps each block as its own feature — so shuffling the time order scrambles the blocks and the score finally reacts.</a:t>
            </a:r>
          </a:p>
          <a:p>
            <a:endParaRPr lang="de-DE" dirty="0"/>
          </a:p>
          <a:p>
            <a:r>
              <a:rPr lang="en-US" dirty="0"/>
              <a:t>I already found that Brain FID is weak on temporal structure (the time-shuffle problem). Trial-matched R² measures something different — it matches each generated trial to its closest real trial via optimal transport and asks how well they line up. Two metrics that fail differently are much more convincing than one.</a:t>
            </a:r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4C3B2649-7BD8-4005-A99E-30D13769A8BD}" type="slidenum">
              <a:rPr lang="en-US" smtClean="0"/>
              <a:t>19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2896097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hteck 5">
            <a:extLst>
              <a:ext uri="{FF2B5EF4-FFF2-40B4-BE49-F238E27FC236}">
                <a16:creationId xmlns:a16="http://schemas.microsoft.com/office/drawing/2014/main" id="{751A4182-6276-41ED-8EAF-0C6A4D8FF0A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0"/>
            <a:ext cx="12192000" cy="6099048"/>
          </a:xfrm>
          <a:prstGeom prst="rect">
            <a:avLst/>
          </a:prstGeom>
          <a:gradFill flip="none" rotWithShape="1">
            <a:gsLst>
              <a:gs pos="10000">
                <a:schemeClr val="accent5"/>
              </a:gs>
              <a:gs pos="90000">
                <a:schemeClr val="accent1"/>
              </a:gs>
              <a:gs pos="70000">
                <a:schemeClr val="accent2"/>
              </a:gs>
              <a:gs pos="30000">
                <a:schemeClr val="accent4"/>
              </a:gs>
              <a:gs pos="50000">
                <a:schemeClr val="accent3">
                  <a:lumMod val="60000"/>
                  <a:lumOff val="40000"/>
                </a:schemeClr>
              </a:gs>
            </a:gsLst>
            <a:lin ang="72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en-US" dirty="0"/>
          </a:p>
        </p:txBody>
      </p:sp>
      <p:sp useBgFill="1">
        <p:nvSpPr>
          <p:cNvPr id="7" name="Rechteck 6">
            <a:extLst>
              <a:ext uri="{FF2B5EF4-FFF2-40B4-BE49-F238E27FC236}">
                <a16:creationId xmlns:a16="http://schemas.microsoft.com/office/drawing/2014/main" id="{EF4B644F-A23D-409C-9540-B41AC18DB54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0"/>
            <a:ext cx="5334003" cy="6175613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en-US" dirty="0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470AF812-9F51-0D2C-2EA5-A8D6DA66275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58952" y="841248"/>
            <a:ext cx="4114800" cy="3474720"/>
          </a:xfrm>
        </p:spPr>
        <p:txBody>
          <a:bodyPr rtlCol="0" anchor="ctr">
            <a:normAutofit/>
          </a:bodyPr>
          <a:lstStyle>
            <a:lvl1pPr>
              <a:defRPr sz="4400"/>
            </a:lvl1pPr>
          </a:lstStyle>
          <a:p>
            <a:pPr rtl="0"/>
            <a:r>
              <a:rPr lang="de-DE"/>
              <a:t>Mastertitelformat bearbeiten</a:t>
            </a:r>
            <a:endParaRPr lang="de"/>
          </a:p>
        </p:txBody>
      </p:sp>
      <p:sp>
        <p:nvSpPr>
          <p:cNvPr id="9" name="Untertitel 19">
            <a:extLst>
              <a:ext uri="{FF2B5EF4-FFF2-40B4-BE49-F238E27FC236}">
                <a16:creationId xmlns:a16="http://schemas.microsoft.com/office/drawing/2014/main" id="{E8F46CAD-D4FF-4BBC-937E-CBBD034A180B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762000" y="4570807"/>
            <a:ext cx="4123899" cy="1524000"/>
          </a:xfrm>
        </p:spPr>
        <p:txBody>
          <a:bodyPr rtlCol="0">
            <a:normAutofit/>
          </a:bodyPr>
          <a:lstStyle>
            <a:lvl1pPr marL="0" indent="0">
              <a:buNone/>
              <a:defRPr sz="2400"/>
            </a:lvl1pPr>
          </a:lstStyle>
          <a:p>
            <a:pPr algn="l" rtl="0"/>
            <a:r>
              <a:rPr lang="de"/>
              <a:t>Untertitel durch Klicken hinzufügen</a:t>
            </a:r>
          </a:p>
        </p:txBody>
      </p:sp>
      <p:sp>
        <p:nvSpPr>
          <p:cNvPr id="15" name="Bildplatzhalter 14">
            <a:extLst>
              <a:ext uri="{FF2B5EF4-FFF2-40B4-BE49-F238E27FC236}">
                <a16:creationId xmlns:a16="http://schemas.microsoft.com/office/drawing/2014/main" id="{A2750E7C-D01B-4533-A0B8-2E7EF2B168DC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5330952" y="754711"/>
            <a:ext cx="6099048" cy="5340096"/>
          </a:xfrm>
          <a:solidFill>
            <a:schemeClr val="accent6"/>
          </a:solidFill>
        </p:spPr>
        <p:txBody>
          <a:bodyPr rtlCol="0"/>
          <a:lstStyle/>
          <a:p>
            <a:pPr rtl="0"/>
            <a:r>
              <a:rPr lang="de-DE"/>
              <a:t>Bild durch Klicken auf Symbol hinzufügen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7273795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5" name="Rechteck 4">
            <a:extLst>
              <a:ext uri="{FF2B5EF4-FFF2-40B4-BE49-F238E27FC236}">
                <a16:creationId xmlns:a16="http://schemas.microsoft.com/office/drawing/2014/main" id="{FAC5ABB9-3EAC-446C-B128-CFDB09B2476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2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en-US" dirty="0"/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70DED2D7-7BC9-473D-8241-8289B5821CF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0"/>
            <a:ext cx="12192000" cy="6858001"/>
          </a:xfrm>
          <a:prstGeom prst="rect">
            <a:avLst/>
          </a:prstGeom>
          <a:gradFill flip="none" rotWithShape="1">
            <a:gsLst>
              <a:gs pos="10000">
                <a:schemeClr val="accent5"/>
              </a:gs>
              <a:gs pos="90000">
                <a:schemeClr val="accent1"/>
              </a:gs>
              <a:gs pos="70000">
                <a:schemeClr val="accent2"/>
              </a:gs>
              <a:gs pos="30000">
                <a:schemeClr val="accent4"/>
              </a:gs>
              <a:gs pos="50000">
                <a:schemeClr val="accent3">
                  <a:lumMod val="60000"/>
                  <a:lumOff val="40000"/>
                </a:schemeClr>
              </a:gs>
            </a:gsLst>
            <a:lin ang="72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en-US" dirty="0"/>
          </a:p>
        </p:txBody>
      </p:sp>
      <p:sp useBgFill="1">
        <p:nvSpPr>
          <p:cNvPr id="7" name="Rechteck 6">
            <a:extLst>
              <a:ext uri="{FF2B5EF4-FFF2-40B4-BE49-F238E27FC236}">
                <a16:creationId xmlns:a16="http://schemas.microsoft.com/office/drawing/2014/main" id="{19C2616F-4436-4A60-BB08-54EC762C53B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762001"/>
            <a:ext cx="12192000" cy="6095999"/>
          </a:xfrm>
          <a:prstGeom prst="rect">
            <a:avLst/>
          </a:prstGeom>
          <a:ln w="762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en-US" dirty="0"/>
          </a:p>
        </p:txBody>
      </p:sp>
      <p:sp>
        <p:nvSpPr>
          <p:cNvPr id="9" name="Titel 8">
            <a:extLst>
              <a:ext uri="{FF2B5EF4-FFF2-40B4-BE49-F238E27FC236}">
                <a16:creationId xmlns:a16="http://schemas.microsoft.com/office/drawing/2014/main" id="{62A5B690-D47A-166B-0BEE-8CDC1BB5982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58952" y="1517904"/>
            <a:ext cx="4114800" cy="4572000"/>
          </a:xfrm>
        </p:spPr>
        <p:txBody>
          <a:bodyPr rtlCol="0">
            <a:normAutofit/>
          </a:bodyPr>
          <a:lstStyle>
            <a:lvl1pPr>
              <a:defRPr sz="3200"/>
            </a:lvl1pPr>
          </a:lstStyle>
          <a:p>
            <a:pPr rtl="0"/>
            <a:r>
              <a:rPr lang="de-DE"/>
              <a:t>Mastertitelformat bearbeiten</a:t>
            </a:r>
            <a:endParaRPr lang="de"/>
          </a:p>
        </p:txBody>
      </p:sp>
      <p:sp>
        <p:nvSpPr>
          <p:cNvPr id="11" name="Inhaltsplatzhalter 10">
            <a:extLst>
              <a:ext uri="{FF2B5EF4-FFF2-40B4-BE49-F238E27FC236}">
                <a16:creationId xmlns:a16="http://schemas.microsoft.com/office/drawing/2014/main" id="{D99B7A4E-1E73-5148-8EF4-5232DBEAFE0B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6096000" y="1517904"/>
            <a:ext cx="5212080" cy="4572000"/>
          </a:xfrm>
        </p:spPr>
        <p:txBody>
          <a:bodyPr rtlCol="0"/>
          <a:lstStyle>
            <a:lvl1pPr marL="0" indent="0">
              <a:lnSpc>
                <a:spcPct val="150000"/>
              </a:lnSpc>
              <a:spcBef>
                <a:spcPts val="0"/>
              </a:spcBef>
              <a:spcAft>
                <a:spcPts val="1000"/>
              </a:spcAft>
              <a:buNone/>
              <a:defRPr sz="2400"/>
            </a:lvl1pPr>
            <a:lvl2pPr>
              <a:defRPr sz="18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</a:lstStyle>
          <a:p>
            <a:pPr lvl="0" rtl="0"/>
            <a:r>
              <a:rPr lang="de-DE"/>
              <a:t>Mastertextformat bearbeiten</a:t>
            </a:r>
          </a:p>
          <a:p>
            <a:pPr lvl="1" rtl="0"/>
            <a:r>
              <a:rPr lang="de-DE"/>
              <a:t>Zweite Ebene</a:t>
            </a:r>
          </a:p>
          <a:p>
            <a:pPr lvl="2" rtl="0"/>
            <a:r>
              <a:rPr lang="de-DE"/>
              <a:t>Dritte Ebene</a:t>
            </a:r>
          </a:p>
          <a:p>
            <a:pPr lvl="3" rtl="0"/>
            <a:r>
              <a:rPr lang="de-DE"/>
              <a:t>Vierte Ebene</a:t>
            </a:r>
          </a:p>
          <a:p>
            <a:pPr lvl="4" rtl="0"/>
            <a:r>
              <a:rPr lang="de-DE"/>
              <a:t>Fünfte Ebene</a:t>
            </a:r>
            <a:endParaRPr lang="de"/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452CFE08-03FE-487B-8963-9FAD3049CFF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758952" y="6400800"/>
            <a:ext cx="6099048" cy="365125"/>
          </a:xfrm>
          <a:prstGeom prst="rect">
            <a:avLst/>
          </a:prstGeom>
        </p:spPr>
        <p:txBody>
          <a:bodyPr rtlCol="0"/>
          <a:lstStyle/>
          <a:p>
            <a:pPr rtl="0"/>
            <a:r>
              <a:rPr lang="en-US"/>
              <a:t>Jonas Himmetsberger | Practical Work presentation</a:t>
            </a:r>
            <a:endParaRPr lang="en-US" dirty="0"/>
          </a:p>
        </p:txBody>
      </p:sp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B7862271-51F6-4122-9709-D279042F884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r>
              <a:rPr lang="de-DE"/>
              <a:t>01.03.20XX</a:t>
            </a:r>
            <a:endParaRPr lang="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CA935A50-18AE-4CB1-BB10-1CBDD8A7C2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CB1E4CB7-CB13-4810-BF18-BE31AFC64F93}" type="slidenum">
              <a:rPr lang="en-US" smtClean="0"/>
              <a:t>‹Nr.›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0961380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bschnittsumbruch mit Unter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hteck 5">
            <a:extLst>
              <a:ext uri="{FF2B5EF4-FFF2-40B4-BE49-F238E27FC236}">
                <a16:creationId xmlns:a16="http://schemas.microsoft.com/office/drawing/2014/main" id="{751A4182-6276-41ED-8EAF-0C6A4D8FF0A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0"/>
            <a:ext cx="12192000" cy="6099048"/>
          </a:xfrm>
          <a:prstGeom prst="rect">
            <a:avLst/>
          </a:prstGeom>
          <a:gradFill flip="none" rotWithShape="1">
            <a:gsLst>
              <a:gs pos="10000">
                <a:schemeClr val="accent5"/>
              </a:gs>
              <a:gs pos="90000">
                <a:schemeClr val="accent1"/>
              </a:gs>
              <a:gs pos="70000">
                <a:schemeClr val="accent2"/>
              </a:gs>
              <a:gs pos="30000">
                <a:schemeClr val="accent4"/>
              </a:gs>
              <a:gs pos="50000">
                <a:schemeClr val="accent3">
                  <a:lumMod val="60000"/>
                  <a:lumOff val="40000"/>
                </a:schemeClr>
              </a:gs>
            </a:gsLst>
            <a:lin ang="72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en-US" dirty="0"/>
          </a:p>
        </p:txBody>
      </p:sp>
      <p:sp useBgFill="1">
        <p:nvSpPr>
          <p:cNvPr id="7" name="Rechteck 6">
            <a:extLst>
              <a:ext uri="{FF2B5EF4-FFF2-40B4-BE49-F238E27FC236}">
                <a16:creationId xmlns:a16="http://schemas.microsoft.com/office/drawing/2014/main" id="{EF4B644F-A23D-409C-9540-B41AC18DB54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6857997" y="0"/>
            <a:ext cx="5334003" cy="6175613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en-US" dirty="0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85C320B4-1D6E-D480-A44F-13517DFF7CF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406640" y="841248"/>
            <a:ext cx="4114800" cy="3474720"/>
          </a:xfrm>
        </p:spPr>
        <p:txBody>
          <a:bodyPr rtlCol="0" anchor="ctr">
            <a:normAutofit/>
          </a:bodyPr>
          <a:lstStyle>
            <a:lvl1pPr>
              <a:defRPr sz="4400"/>
            </a:lvl1pPr>
          </a:lstStyle>
          <a:p>
            <a:pPr rtl="0"/>
            <a:r>
              <a:rPr lang="de-DE"/>
              <a:t>Mastertitelformat bearbeiten</a:t>
            </a:r>
            <a:endParaRPr lang="de"/>
          </a:p>
        </p:txBody>
      </p:sp>
      <p:sp>
        <p:nvSpPr>
          <p:cNvPr id="9" name="Untertitel 19">
            <a:extLst>
              <a:ext uri="{FF2B5EF4-FFF2-40B4-BE49-F238E27FC236}">
                <a16:creationId xmlns:a16="http://schemas.microsoft.com/office/drawing/2014/main" id="{E8F46CAD-D4FF-4BBC-937E-CBBD034A180B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7406641" y="4570807"/>
            <a:ext cx="4114800" cy="1524000"/>
          </a:xfrm>
        </p:spPr>
        <p:txBody>
          <a:bodyPr rtlCol="0">
            <a:normAutofit/>
          </a:bodyPr>
          <a:lstStyle>
            <a:lvl1pPr marL="0" indent="0">
              <a:buNone/>
              <a:defRPr sz="2400"/>
            </a:lvl1pPr>
          </a:lstStyle>
          <a:p>
            <a:pPr algn="l" rtl="0"/>
            <a:r>
              <a:rPr lang="de"/>
              <a:t>Untertitel durch Klicken hinzufügen</a:t>
            </a:r>
          </a:p>
        </p:txBody>
      </p:sp>
      <p:sp>
        <p:nvSpPr>
          <p:cNvPr id="15" name="Bildplatzhalter 14">
            <a:extLst>
              <a:ext uri="{FF2B5EF4-FFF2-40B4-BE49-F238E27FC236}">
                <a16:creationId xmlns:a16="http://schemas.microsoft.com/office/drawing/2014/main" id="{A2750E7C-D01B-4533-A0B8-2E7EF2B168DC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758952" y="758952"/>
            <a:ext cx="6099048" cy="5340096"/>
          </a:xfrm>
          <a:solidFill>
            <a:schemeClr val="accent6"/>
          </a:solidFill>
        </p:spPr>
        <p:txBody>
          <a:bodyPr rtlCol="0"/>
          <a:lstStyle/>
          <a:p>
            <a:pPr rtl="0"/>
            <a:r>
              <a:rPr lang="de-DE"/>
              <a:t>Bild durch Klicken auf Symbol hinzufügen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2002753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bschnittsumbruch mit Untertitel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Freihandform: Form 7">
            <a:extLst>
              <a:ext uri="{FF2B5EF4-FFF2-40B4-BE49-F238E27FC236}">
                <a16:creationId xmlns:a16="http://schemas.microsoft.com/office/drawing/2014/main" id="{1D03AAFC-F6FA-4A24-BE1D-34AE6AD64CD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0"/>
            <a:ext cx="12192000" cy="6105524"/>
          </a:xfrm>
          <a:custGeom>
            <a:avLst/>
            <a:gdLst>
              <a:gd name="connsiteX0" fmla="*/ 0 w 12192000"/>
              <a:gd name="connsiteY0" fmla="*/ 0 h 6105524"/>
              <a:gd name="connsiteX1" fmla="*/ 12192000 w 12192000"/>
              <a:gd name="connsiteY1" fmla="*/ 0 h 6105524"/>
              <a:gd name="connsiteX2" fmla="*/ 12192000 w 12192000"/>
              <a:gd name="connsiteY2" fmla="*/ 6105524 h 6105524"/>
              <a:gd name="connsiteX3" fmla="*/ 11435080 w 12192000"/>
              <a:gd name="connsiteY3" fmla="*/ 6105524 h 6105524"/>
              <a:gd name="connsiteX4" fmla="*/ 11435080 w 12192000"/>
              <a:gd name="connsiteY4" fmla="*/ 771523 h 6105524"/>
              <a:gd name="connsiteX5" fmla="*/ 767080 w 12192000"/>
              <a:gd name="connsiteY5" fmla="*/ 771523 h 6105524"/>
              <a:gd name="connsiteX6" fmla="*/ 767080 w 12192000"/>
              <a:gd name="connsiteY6" fmla="*/ 6105524 h 6105524"/>
              <a:gd name="connsiteX7" fmla="*/ 0 w 12192000"/>
              <a:gd name="connsiteY7" fmla="*/ 6105524 h 610552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2192000" h="6105524">
                <a:moveTo>
                  <a:pt x="0" y="0"/>
                </a:moveTo>
                <a:lnTo>
                  <a:pt x="12192000" y="0"/>
                </a:lnTo>
                <a:lnTo>
                  <a:pt x="12192000" y="6105524"/>
                </a:lnTo>
                <a:lnTo>
                  <a:pt x="11435080" y="6105524"/>
                </a:lnTo>
                <a:lnTo>
                  <a:pt x="11435080" y="771523"/>
                </a:lnTo>
                <a:lnTo>
                  <a:pt x="767080" y="771523"/>
                </a:lnTo>
                <a:lnTo>
                  <a:pt x="767080" y="6105524"/>
                </a:lnTo>
                <a:lnTo>
                  <a:pt x="0" y="6105524"/>
                </a:lnTo>
                <a:close/>
              </a:path>
            </a:pathLst>
          </a:custGeom>
          <a:gradFill flip="none" rotWithShape="1">
            <a:gsLst>
              <a:gs pos="10000">
                <a:schemeClr val="accent5"/>
              </a:gs>
              <a:gs pos="90000">
                <a:schemeClr val="accent1"/>
              </a:gs>
              <a:gs pos="70000">
                <a:schemeClr val="accent2"/>
              </a:gs>
              <a:gs pos="30000">
                <a:schemeClr val="accent4"/>
              </a:gs>
              <a:gs pos="50000">
                <a:schemeClr val="accent3">
                  <a:lumMod val="60000"/>
                  <a:lumOff val="40000"/>
                </a:schemeClr>
              </a:gs>
            </a:gsLst>
            <a:lin ang="72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 rtl="0"/>
            <a:endParaRPr lang="en-US" dirty="0"/>
          </a:p>
        </p:txBody>
      </p:sp>
      <p:sp>
        <p:nvSpPr>
          <p:cNvPr id="15" name="Titel 16">
            <a:extLst>
              <a:ext uri="{FF2B5EF4-FFF2-40B4-BE49-F238E27FC236}">
                <a16:creationId xmlns:a16="http://schemas.microsoft.com/office/drawing/2014/main" id="{8950CCE3-163E-46A1-B489-395F3F75FE3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17904" y="1517904"/>
            <a:ext cx="5212080" cy="2788920"/>
          </a:xfrm>
        </p:spPr>
        <p:txBody>
          <a:bodyPr rtlCol="0" anchor="b">
            <a:normAutofit/>
          </a:bodyPr>
          <a:lstStyle>
            <a:lvl1pPr>
              <a:defRPr sz="4400"/>
            </a:lvl1pPr>
          </a:lstStyle>
          <a:p>
            <a:pPr algn="l" rtl="0"/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16" name="Untertitel 17">
            <a:extLst>
              <a:ext uri="{FF2B5EF4-FFF2-40B4-BE49-F238E27FC236}">
                <a16:creationId xmlns:a16="http://schemas.microsoft.com/office/drawing/2014/main" id="{81E38157-454C-44D5-8D2B-A220A53D780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17904" y="4571999"/>
            <a:ext cx="5212080" cy="1645920"/>
          </a:xfrm>
        </p:spPr>
        <p:txBody>
          <a:bodyPr rtlCol="0">
            <a:normAutofit/>
          </a:bodyPr>
          <a:lstStyle>
            <a:lvl1pPr marL="0" indent="0">
              <a:buNone/>
              <a:defRPr sz="2400"/>
            </a:lvl1pPr>
          </a:lstStyle>
          <a:p>
            <a:pPr algn="l" rtl="0"/>
            <a:r>
              <a:rPr lang="de-DE"/>
              <a:t>Master-Untertitelformat bearbeiten</a:t>
            </a:r>
            <a:endParaRPr lang="en-US" dirty="0"/>
          </a:p>
        </p:txBody>
      </p:sp>
      <p:sp>
        <p:nvSpPr>
          <p:cNvPr id="12" name="Bildplatzhalter 11">
            <a:extLst>
              <a:ext uri="{FF2B5EF4-FFF2-40B4-BE49-F238E27FC236}">
                <a16:creationId xmlns:a16="http://schemas.microsoft.com/office/drawing/2014/main" id="{82190B39-D040-425A-9AD6-58A7533FEA6D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7013448" y="756284"/>
            <a:ext cx="4434840" cy="5349240"/>
          </a:xfrm>
          <a:solidFill>
            <a:schemeClr val="accent6"/>
          </a:solidFill>
        </p:spPr>
        <p:txBody>
          <a:bodyPr rtlCol="0"/>
          <a:lstStyle/>
          <a:p>
            <a:pPr rtl="0"/>
            <a:r>
              <a:rPr lang="de-DE"/>
              <a:t>Bild durch Klicken auf Symbol hinzufügen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230643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, Inhalt und Bil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hteck 9">
            <a:extLst>
              <a:ext uri="{FF2B5EF4-FFF2-40B4-BE49-F238E27FC236}">
                <a16:creationId xmlns:a16="http://schemas.microsoft.com/office/drawing/2014/main" id="{924A1CC7-4419-4A64-9DC9-AE157407AFB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en-US" dirty="0"/>
          </a:p>
        </p:txBody>
      </p:sp>
      <p:sp>
        <p:nvSpPr>
          <p:cNvPr id="11" name="Rechteck 10">
            <a:extLst>
              <a:ext uri="{FF2B5EF4-FFF2-40B4-BE49-F238E27FC236}">
                <a16:creationId xmlns:a16="http://schemas.microsoft.com/office/drawing/2014/main" id="{8A2F8EC6-DD66-475C-B129-22B374F49A7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-1"/>
            <a:ext cx="12192000" cy="6099048"/>
          </a:xfrm>
          <a:prstGeom prst="rect">
            <a:avLst/>
          </a:prstGeom>
          <a:gradFill flip="none" rotWithShape="1">
            <a:gsLst>
              <a:gs pos="10000">
                <a:schemeClr val="accent5"/>
              </a:gs>
              <a:gs pos="90000">
                <a:schemeClr val="accent1"/>
              </a:gs>
              <a:gs pos="70000">
                <a:schemeClr val="accent2"/>
              </a:gs>
              <a:gs pos="30000">
                <a:schemeClr val="accent4"/>
              </a:gs>
              <a:gs pos="50000">
                <a:schemeClr val="accent3">
                  <a:lumMod val="60000"/>
                  <a:lumOff val="40000"/>
                </a:schemeClr>
              </a:gs>
            </a:gsLst>
            <a:lin ang="72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en-US" dirty="0"/>
          </a:p>
        </p:txBody>
      </p:sp>
      <p:sp useBgFill="1">
        <p:nvSpPr>
          <p:cNvPr id="12" name="Freihandform: Form 11">
            <a:extLst>
              <a:ext uri="{FF2B5EF4-FFF2-40B4-BE49-F238E27FC236}">
                <a16:creationId xmlns:a16="http://schemas.microsoft.com/office/drawing/2014/main" id="{86FA963F-8B94-469B-B1A5-890D9134FB5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H="1">
            <a:off x="761999" y="0"/>
            <a:ext cx="11430001" cy="6168789"/>
          </a:xfrm>
          <a:custGeom>
            <a:avLst/>
            <a:gdLst>
              <a:gd name="connsiteX0" fmla="*/ 0 w 11430001"/>
              <a:gd name="connsiteY0" fmla="*/ 0 h 6168789"/>
              <a:gd name="connsiteX1" fmla="*/ 5334002 w 11430001"/>
              <a:gd name="connsiteY1" fmla="*/ 0 h 6168789"/>
              <a:gd name="connsiteX2" fmla="*/ 5334002 w 11430001"/>
              <a:gd name="connsiteY2" fmla="*/ 771523 h 6168789"/>
              <a:gd name="connsiteX3" fmla="*/ 11430001 w 11430001"/>
              <a:gd name="connsiteY3" fmla="*/ 771523 h 6168789"/>
              <a:gd name="connsiteX4" fmla="*/ 11430001 w 11430001"/>
              <a:gd name="connsiteY4" fmla="*/ 6168789 h 6168789"/>
              <a:gd name="connsiteX5" fmla="*/ 0 w 11430001"/>
              <a:gd name="connsiteY5" fmla="*/ 6168789 h 61687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1430001" h="6168789">
                <a:moveTo>
                  <a:pt x="0" y="0"/>
                </a:moveTo>
                <a:lnTo>
                  <a:pt x="5334002" y="0"/>
                </a:lnTo>
                <a:lnTo>
                  <a:pt x="5334002" y="771523"/>
                </a:lnTo>
                <a:lnTo>
                  <a:pt x="11430001" y="771523"/>
                </a:lnTo>
                <a:lnTo>
                  <a:pt x="11430001" y="6168789"/>
                </a:lnTo>
                <a:lnTo>
                  <a:pt x="0" y="6168789"/>
                </a:lnTo>
                <a:close/>
              </a:path>
            </a:pathLst>
          </a:custGeom>
          <a:ln w="762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 rtl="0"/>
            <a:endParaRPr lang="en-US" dirty="0"/>
          </a:p>
        </p:txBody>
      </p:sp>
      <p:sp>
        <p:nvSpPr>
          <p:cNvPr id="13" name="Titel 5">
            <a:extLst>
              <a:ext uri="{FF2B5EF4-FFF2-40B4-BE49-F238E27FC236}">
                <a16:creationId xmlns:a16="http://schemas.microsoft.com/office/drawing/2014/main" id="{4CD44A43-6E39-4FE6-87BB-C65CE8FC6B1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17904" y="1517649"/>
            <a:ext cx="4754880" cy="1645920"/>
          </a:xfrm>
        </p:spPr>
        <p:txBody>
          <a:bodyPr rtlCol="0">
            <a:normAutofit/>
          </a:bodyPr>
          <a:lstStyle>
            <a:lvl1pPr>
              <a:defRPr sz="3200"/>
            </a:lvl1pPr>
          </a:lstStyle>
          <a:p>
            <a:pPr rtl="0"/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5" name="Inhaltsplatzhalter 5">
            <a:extLst>
              <a:ext uri="{FF2B5EF4-FFF2-40B4-BE49-F238E27FC236}">
                <a16:creationId xmlns:a16="http://schemas.microsoft.com/office/drawing/2014/main" id="{0C795068-4EB8-AD75-B4FA-E0676D823527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1517904" y="3291840"/>
            <a:ext cx="4754880" cy="2743200"/>
          </a:xfrm>
        </p:spPr>
        <p:txBody>
          <a:bodyPr rtlCol="0">
            <a:normAutofit/>
          </a:bodyPr>
          <a:lstStyle>
            <a:lvl1pPr>
              <a:defRPr sz="1800"/>
            </a:lvl1pPr>
            <a:lvl2pPr>
              <a:defRPr sz="14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 rtl="0"/>
            <a:r>
              <a:rPr lang="de-DE"/>
              <a:t>Mastertextformat bearbeiten</a:t>
            </a:r>
          </a:p>
          <a:p>
            <a:pPr lvl="1" rtl="0"/>
            <a:r>
              <a:rPr lang="de-DE"/>
              <a:t>Zweite Ebene</a:t>
            </a:r>
          </a:p>
          <a:p>
            <a:pPr lvl="2" rtl="0"/>
            <a:r>
              <a:rPr lang="de-DE"/>
              <a:t>Dritte Ebene</a:t>
            </a:r>
          </a:p>
          <a:p>
            <a:pPr lvl="3" rtl="0"/>
            <a:r>
              <a:rPr lang="de-DE"/>
              <a:t>Vierte Ebene</a:t>
            </a:r>
          </a:p>
          <a:p>
            <a:pPr lvl="4" rtl="0"/>
            <a:r>
              <a:rPr lang="de-DE"/>
              <a:t>Fünfte Ebene</a:t>
            </a:r>
            <a:endParaRPr lang="de"/>
          </a:p>
        </p:txBody>
      </p:sp>
      <p:sp>
        <p:nvSpPr>
          <p:cNvPr id="18" name="Bildplatzhalter 17">
            <a:extLst>
              <a:ext uri="{FF2B5EF4-FFF2-40B4-BE49-F238E27FC236}">
                <a16:creationId xmlns:a16="http://schemas.microsoft.com/office/drawing/2014/main" id="{5229EB0D-B986-4E26-BDF3-305AE3233EB7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900954" y="883486"/>
            <a:ext cx="4562856" cy="5212513"/>
          </a:xfrm>
          <a:solidFill>
            <a:schemeClr val="accent6"/>
          </a:solidFill>
        </p:spPr>
        <p:txBody>
          <a:bodyPr rtlCol="0"/>
          <a:lstStyle/>
          <a:p>
            <a:pPr rtl="0"/>
            <a:r>
              <a:rPr lang="de-DE"/>
              <a:t>Bild durch Klicken auf Symbol hinzufügen</a:t>
            </a:r>
            <a:endParaRPr lang="en-US" dirty="0"/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452CFE08-03FE-487B-8963-9FAD3049CFF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758952" y="6400800"/>
            <a:ext cx="6099048" cy="365125"/>
          </a:xfrm>
          <a:prstGeom prst="rect">
            <a:avLst/>
          </a:prstGeom>
        </p:spPr>
        <p:txBody>
          <a:bodyPr rtlCol="0"/>
          <a:lstStyle/>
          <a:p>
            <a:pPr rtl="0"/>
            <a:r>
              <a:rPr lang="en-US"/>
              <a:t>Jonas Himmetsberger | Practical Work presentation</a:t>
            </a:r>
            <a:endParaRPr lang="en-US" dirty="0"/>
          </a:p>
        </p:txBody>
      </p:sp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B7862271-51F6-4122-9709-D279042F884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r>
              <a:rPr lang="de-DE"/>
              <a:t>01.03.20XX</a:t>
            </a:r>
            <a:endParaRPr lang="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CA935A50-18AE-4CB1-BB10-1CBDD8A7C2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CB1E4CB7-CB13-4810-BF18-BE31AFC64F93}" type="slidenum">
              <a:rPr lang="en-US" smtClean="0"/>
              <a:t>‹Nr.›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4390701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Zwei Spalte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el 9">
            <a:extLst>
              <a:ext uri="{FF2B5EF4-FFF2-40B4-BE49-F238E27FC236}">
                <a16:creationId xmlns:a16="http://schemas.microsoft.com/office/drawing/2014/main" id="{D9D22302-83E3-4E22-93DF-1E5D463B64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17904" y="1517904"/>
            <a:ext cx="9144000" cy="1280160"/>
          </a:xfrm>
        </p:spPr>
        <p:txBody>
          <a:bodyPr rtlCol="0">
            <a:normAutofit/>
          </a:bodyPr>
          <a:lstStyle>
            <a:lvl1pPr>
              <a:defRPr sz="3200"/>
            </a:lvl1pPr>
          </a:lstStyle>
          <a:p>
            <a:pPr rtl="0"/>
            <a:r>
              <a:rPr lang="de-DE"/>
              <a:t>Mastertitelformat bearbeiten</a:t>
            </a:r>
            <a:endParaRPr lang="de"/>
          </a:p>
        </p:txBody>
      </p:sp>
      <p:sp>
        <p:nvSpPr>
          <p:cNvPr id="2" name="Inhaltsplatzhalter 5">
            <a:extLst>
              <a:ext uri="{FF2B5EF4-FFF2-40B4-BE49-F238E27FC236}">
                <a16:creationId xmlns:a16="http://schemas.microsoft.com/office/drawing/2014/main" id="{56DDD407-AEC1-3D37-ADE9-45D0416B2084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1517904" y="3108960"/>
            <a:ext cx="4334256" cy="3017520"/>
          </a:xfrm>
        </p:spPr>
        <p:txBody>
          <a:bodyPr rtlCol="0">
            <a:normAutofit/>
          </a:bodyPr>
          <a:lstStyle>
            <a:lvl1pPr>
              <a:defRPr sz="1800"/>
            </a:lvl1pPr>
            <a:lvl2pPr>
              <a:defRPr sz="14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 rtl="0"/>
            <a:r>
              <a:rPr lang="de-DE"/>
              <a:t>Mastertextformat bearbeiten</a:t>
            </a:r>
          </a:p>
          <a:p>
            <a:pPr lvl="1" rtl="0"/>
            <a:r>
              <a:rPr lang="de-DE"/>
              <a:t>Zweite Ebene</a:t>
            </a:r>
          </a:p>
          <a:p>
            <a:pPr lvl="2" rtl="0"/>
            <a:r>
              <a:rPr lang="de-DE"/>
              <a:t>Dritte Ebene</a:t>
            </a:r>
          </a:p>
          <a:p>
            <a:pPr lvl="3" rtl="0"/>
            <a:r>
              <a:rPr lang="de-DE"/>
              <a:t>Vierte Ebene</a:t>
            </a:r>
          </a:p>
          <a:p>
            <a:pPr lvl="4" rtl="0"/>
            <a:r>
              <a:rPr lang="de-DE"/>
              <a:t>Fünfte Ebene</a:t>
            </a:r>
            <a:endParaRPr lang="de"/>
          </a:p>
        </p:txBody>
      </p:sp>
      <p:sp>
        <p:nvSpPr>
          <p:cNvPr id="11" name="Inhaltsplatzhalter 5">
            <a:extLst>
              <a:ext uri="{FF2B5EF4-FFF2-40B4-BE49-F238E27FC236}">
                <a16:creationId xmlns:a16="http://schemas.microsoft.com/office/drawing/2014/main" id="{6200E1C4-7A2D-07AE-8DB0-52CEF088A187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6336792" y="3108960"/>
            <a:ext cx="4334256" cy="3017520"/>
          </a:xfrm>
        </p:spPr>
        <p:txBody>
          <a:bodyPr rtlCol="0">
            <a:normAutofit/>
          </a:bodyPr>
          <a:lstStyle>
            <a:lvl1pPr>
              <a:defRPr sz="1800"/>
            </a:lvl1pPr>
            <a:lvl2pPr>
              <a:defRPr sz="14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 rtl="0"/>
            <a:r>
              <a:rPr lang="de-DE"/>
              <a:t>Mastertextformat bearbeiten</a:t>
            </a:r>
          </a:p>
          <a:p>
            <a:pPr lvl="1" rtl="0"/>
            <a:r>
              <a:rPr lang="de-DE"/>
              <a:t>Zweite Ebene</a:t>
            </a:r>
          </a:p>
          <a:p>
            <a:pPr lvl="2" rtl="0"/>
            <a:r>
              <a:rPr lang="de-DE"/>
              <a:t>Dritte Ebene</a:t>
            </a:r>
          </a:p>
          <a:p>
            <a:pPr lvl="3" rtl="0"/>
            <a:r>
              <a:rPr lang="de-DE"/>
              <a:t>Vierte Ebene</a:t>
            </a:r>
          </a:p>
          <a:p>
            <a:pPr lvl="4" rtl="0"/>
            <a:r>
              <a:rPr lang="de-DE"/>
              <a:t>Fünfte Ebene</a:t>
            </a:r>
            <a:endParaRPr lang="de"/>
          </a:p>
        </p:txBody>
      </p:sp>
      <p:sp>
        <p:nvSpPr>
          <p:cNvPr id="8" name="Fußzeilenplatzhalter 7">
            <a:extLst>
              <a:ext uri="{FF2B5EF4-FFF2-40B4-BE49-F238E27FC236}">
                <a16:creationId xmlns:a16="http://schemas.microsoft.com/office/drawing/2014/main" id="{576AF721-83FE-4B57-B910-C395D23FDE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758952" y="6400800"/>
            <a:ext cx="6099048" cy="365125"/>
          </a:xfrm>
          <a:prstGeom prst="rect">
            <a:avLst/>
          </a:prstGeom>
        </p:spPr>
        <p:txBody>
          <a:bodyPr rtlCol="0"/>
          <a:lstStyle/>
          <a:p>
            <a:pPr rtl="0"/>
            <a:r>
              <a:rPr lang="en-US"/>
              <a:t>Jonas Himmetsberger | Practical Work presentation</a:t>
            </a:r>
            <a:endParaRPr lang="en-US" dirty="0"/>
          </a:p>
        </p:txBody>
      </p:sp>
      <p:sp>
        <p:nvSpPr>
          <p:cNvPr id="7" name="Datumsplatzhalter 6">
            <a:extLst>
              <a:ext uri="{FF2B5EF4-FFF2-40B4-BE49-F238E27FC236}">
                <a16:creationId xmlns:a16="http://schemas.microsoft.com/office/drawing/2014/main" id="{7F3A70F0-5AFA-4C5A-812B-220C6A38DB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r>
              <a:rPr lang="de-DE"/>
              <a:t>01.03.20XX</a:t>
            </a:r>
            <a:endParaRPr lang="de"/>
          </a:p>
        </p:txBody>
      </p:sp>
      <p:sp>
        <p:nvSpPr>
          <p:cNvPr id="9" name="Foliennummernplatzhalter 8">
            <a:extLst>
              <a:ext uri="{FF2B5EF4-FFF2-40B4-BE49-F238E27FC236}">
                <a16:creationId xmlns:a16="http://schemas.microsoft.com/office/drawing/2014/main" id="{556A5893-52F1-44A1-AE8E-CF094DB41C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CB1E4CB7-CB13-4810-BF18-BE31AFC64F93}" type="slidenum">
              <a:rPr lang="en-US" smtClean="0"/>
              <a:t>‹Nr.›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9102113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Zwei Inhalte">
    <p:bg>
      <p:bgPr>
        <a:gradFill>
          <a:gsLst>
            <a:gs pos="10000">
              <a:schemeClr val="accent5"/>
            </a:gs>
            <a:gs pos="90000">
              <a:schemeClr val="accent1"/>
            </a:gs>
            <a:gs pos="70000">
              <a:schemeClr val="accent2"/>
            </a:gs>
            <a:gs pos="30000">
              <a:schemeClr val="accent4"/>
            </a:gs>
            <a:gs pos="50000">
              <a:schemeClr val="accent3">
                <a:lumMod val="60000"/>
                <a:lumOff val="40000"/>
              </a:schemeClr>
            </a:gs>
          </a:gsLst>
          <a:lin ang="72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hteck 2">
            <a:extLst>
              <a:ext uri="{FF2B5EF4-FFF2-40B4-BE49-F238E27FC236}">
                <a16:creationId xmlns:a16="http://schemas.microsoft.com/office/drawing/2014/main" id="{D47E0814-6B26-FB38-93C1-BA5A000BD03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762001"/>
            <a:ext cx="12192000" cy="6095999"/>
          </a:xfrm>
          <a:prstGeom prst="rect">
            <a:avLst/>
          </a:prstGeom>
          <a:solidFill>
            <a:schemeClr val="bg1"/>
          </a:solidFill>
          <a:ln w="762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en-US" dirty="0"/>
          </a:p>
        </p:txBody>
      </p:sp>
      <p:sp>
        <p:nvSpPr>
          <p:cNvPr id="10" name="Titel 9">
            <a:extLst>
              <a:ext uri="{FF2B5EF4-FFF2-40B4-BE49-F238E27FC236}">
                <a16:creationId xmlns:a16="http://schemas.microsoft.com/office/drawing/2014/main" id="{D9D22302-83E3-4E22-93DF-1E5D463B64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58952" y="1517904"/>
            <a:ext cx="5340096" cy="1911096"/>
          </a:xfrm>
        </p:spPr>
        <p:txBody>
          <a:bodyPr rtlCol="0">
            <a:normAutofit/>
          </a:bodyPr>
          <a:lstStyle>
            <a:lvl1pPr>
              <a:defRPr sz="3200"/>
            </a:lvl1pPr>
          </a:lstStyle>
          <a:p>
            <a:pPr rtl="0"/>
            <a:r>
              <a:rPr lang="de-DE"/>
              <a:t>Mastertitelformat bearbeiten</a:t>
            </a:r>
            <a:endParaRPr lang="de"/>
          </a:p>
        </p:txBody>
      </p:sp>
      <p:sp>
        <p:nvSpPr>
          <p:cNvPr id="2" name="Inhaltsplatzhalter 5">
            <a:extLst>
              <a:ext uri="{FF2B5EF4-FFF2-40B4-BE49-F238E27FC236}">
                <a16:creationId xmlns:a16="http://schemas.microsoft.com/office/drawing/2014/main" id="{56DDD407-AEC1-3D37-ADE9-45D0416B2084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099048" y="1517904"/>
            <a:ext cx="5340096" cy="1911096"/>
          </a:xfrm>
        </p:spPr>
        <p:txBody>
          <a:bodyPr rtlCol="0">
            <a:normAutofit/>
          </a:bodyPr>
          <a:lstStyle>
            <a:lvl1pPr>
              <a:defRPr sz="1800"/>
            </a:lvl1pPr>
            <a:lvl2pPr>
              <a:defRPr sz="14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 rtl="0"/>
            <a:r>
              <a:rPr lang="de-DE"/>
              <a:t>Mastertextformat bearbeiten</a:t>
            </a:r>
          </a:p>
          <a:p>
            <a:pPr lvl="1" rtl="0"/>
            <a:r>
              <a:rPr lang="de-DE"/>
              <a:t>Zweite Ebene</a:t>
            </a:r>
          </a:p>
          <a:p>
            <a:pPr lvl="2" rtl="0"/>
            <a:r>
              <a:rPr lang="de-DE"/>
              <a:t>Dritte Ebene</a:t>
            </a:r>
          </a:p>
          <a:p>
            <a:pPr lvl="3" rtl="0"/>
            <a:r>
              <a:rPr lang="de-DE"/>
              <a:t>Vierte Ebene</a:t>
            </a:r>
          </a:p>
          <a:p>
            <a:pPr lvl="4" rtl="0"/>
            <a:r>
              <a:rPr lang="de-DE"/>
              <a:t>Fünfte Ebene</a:t>
            </a:r>
            <a:endParaRPr lang="de"/>
          </a:p>
        </p:txBody>
      </p:sp>
      <p:sp>
        <p:nvSpPr>
          <p:cNvPr id="11" name="Inhaltsplatzhalter 5">
            <a:extLst>
              <a:ext uri="{FF2B5EF4-FFF2-40B4-BE49-F238E27FC236}">
                <a16:creationId xmlns:a16="http://schemas.microsoft.com/office/drawing/2014/main" id="{6200E1C4-7A2D-07AE-8DB0-52CEF088A187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886968" y="3867912"/>
            <a:ext cx="10424160" cy="2377440"/>
          </a:xfrm>
        </p:spPr>
        <p:txBody>
          <a:bodyPr rtlCol="0">
            <a:normAutofit/>
          </a:bodyPr>
          <a:lstStyle>
            <a:lvl1pPr>
              <a:defRPr sz="1800"/>
            </a:lvl1pPr>
            <a:lvl2pPr>
              <a:defRPr sz="14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 rtl="0"/>
            <a:r>
              <a:rPr lang="de-DE"/>
              <a:t>Mastertextformat bearbeiten</a:t>
            </a:r>
          </a:p>
          <a:p>
            <a:pPr lvl="1" rtl="0"/>
            <a:r>
              <a:rPr lang="de-DE"/>
              <a:t>Zweite Ebene</a:t>
            </a:r>
          </a:p>
          <a:p>
            <a:pPr lvl="2" rtl="0"/>
            <a:r>
              <a:rPr lang="de-DE"/>
              <a:t>Dritte Ebene</a:t>
            </a:r>
          </a:p>
          <a:p>
            <a:pPr lvl="3" rtl="0"/>
            <a:r>
              <a:rPr lang="de-DE"/>
              <a:t>Vierte Ebene</a:t>
            </a:r>
          </a:p>
          <a:p>
            <a:pPr lvl="4" rtl="0"/>
            <a:r>
              <a:rPr lang="de-DE"/>
              <a:t>Fünfte Ebene</a:t>
            </a:r>
            <a:endParaRPr lang="de"/>
          </a:p>
        </p:txBody>
      </p:sp>
      <p:sp>
        <p:nvSpPr>
          <p:cNvPr id="8" name="Fußzeilenplatzhalter 7">
            <a:extLst>
              <a:ext uri="{FF2B5EF4-FFF2-40B4-BE49-F238E27FC236}">
                <a16:creationId xmlns:a16="http://schemas.microsoft.com/office/drawing/2014/main" id="{576AF721-83FE-4B57-B910-C395D23FDE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758952" y="6400800"/>
            <a:ext cx="6099048" cy="365125"/>
          </a:xfrm>
          <a:prstGeom prst="rect">
            <a:avLst/>
          </a:prstGeom>
        </p:spPr>
        <p:txBody>
          <a:bodyPr rtlCol="0"/>
          <a:lstStyle/>
          <a:p>
            <a:pPr rtl="0"/>
            <a:r>
              <a:rPr lang="en-US"/>
              <a:t>Jonas Himmetsberger | Practical Work presentation</a:t>
            </a:r>
            <a:endParaRPr lang="en-US" dirty="0"/>
          </a:p>
        </p:txBody>
      </p:sp>
      <p:sp>
        <p:nvSpPr>
          <p:cNvPr id="7" name="Datumsplatzhalter 6">
            <a:extLst>
              <a:ext uri="{FF2B5EF4-FFF2-40B4-BE49-F238E27FC236}">
                <a16:creationId xmlns:a16="http://schemas.microsoft.com/office/drawing/2014/main" id="{7F3A70F0-5AFA-4C5A-812B-220C6A38DB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r>
              <a:rPr lang="de-DE"/>
              <a:t>01.03.20XX</a:t>
            </a:r>
            <a:endParaRPr lang="de"/>
          </a:p>
        </p:txBody>
      </p:sp>
      <p:sp>
        <p:nvSpPr>
          <p:cNvPr id="9" name="Foliennummernplatzhalter 8">
            <a:extLst>
              <a:ext uri="{FF2B5EF4-FFF2-40B4-BE49-F238E27FC236}">
                <a16:creationId xmlns:a16="http://schemas.microsoft.com/office/drawing/2014/main" id="{556A5893-52F1-44A1-AE8E-CF094DB41C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CB1E4CB7-CB13-4810-BF18-BE31AFC64F93}" type="slidenum">
              <a:rPr lang="en-US" smtClean="0"/>
              <a:t>‹Nr.›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2951008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Zwei Inhalt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5" name="Rechteck 4">
            <a:extLst>
              <a:ext uri="{FF2B5EF4-FFF2-40B4-BE49-F238E27FC236}">
                <a16:creationId xmlns:a16="http://schemas.microsoft.com/office/drawing/2014/main" id="{FAC5ABB9-3EAC-446C-B128-CFDB09B2476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2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en-US" dirty="0"/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70DED2D7-7BC9-473D-8241-8289B5821CF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0"/>
            <a:ext cx="12192000" cy="6858001"/>
          </a:xfrm>
          <a:prstGeom prst="rect">
            <a:avLst/>
          </a:prstGeom>
          <a:gradFill flip="none" rotWithShape="1">
            <a:gsLst>
              <a:gs pos="10000">
                <a:schemeClr val="accent5"/>
              </a:gs>
              <a:gs pos="90000">
                <a:schemeClr val="accent1"/>
              </a:gs>
              <a:gs pos="70000">
                <a:schemeClr val="accent2"/>
              </a:gs>
              <a:gs pos="30000">
                <a:schemeClr val="accent4"/>
              </a:gs>
              <a:gs pos="50000">
                <a:schemeClr val="accent3">
                  <a:lumMod val="60000"/>
                  <a:lumOff val="40000"/>
                </a:schemeClr>
              </a:gs>
            </a:gsLst>
            <a:lin ang="72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en-US" dirty="0"/>
          </a:p>
        </p:txBody>
      </p:sp>
      <p:sp useBgFill="1">
        <p:nvSpPr>
          <p:cNvPr id="7" name="Rechteck 6">
            <a:extLst>
              <a:ext uri="{FF2B5EF4-FFF2-40B4-BE49-F238E27FC236}">
                <a16:creationId xmlns:a16="http://schemas.microsoft.com/office/drawing/2014/main" id="{19C2616F-4436-4A60-BB08-54EC762C53B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762001"/>
            <a:ext cx="12192000" cy="6095999"/>
          </a:xfrm>
          <a:prstGeom prst="rect">
            <a:avLst/>
          </a:prstGeom>
          <a:ln w="762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en-US" dirty="0"/>
          </a:p>
        </p:txBody>
      </p:sp>
      <p:sp>
        <p:nvSpPr>
          <p:cNvPr id="11" name="Titel 9">
            <a:extLst>
              <a:ext uri="{FF2B5EF4-FFF2-40B4-BE49-F238E27FC236}">
                <a16:creationId xmlns:a16="http://schemas.microsoft.com/office/drawing/2014/main" id="{DF86B59D-D895-19E7-B742-EE199B71841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58952" y="1517904"/>
            <a:ext cx="10424160" cy="1280160"/>
          </a:xfrm>
        </p:spPr>
        <p:txBody>
          <a:bodyPr rtlCol="0">
            <a:normAutofit/>
          </a:bodyPr>
          <a:lstStyle>
            <a:lvl1pPr>
              <a:defRPr sz="3200"/>
            </a:lvl1pPr>
          </a:lstStyle>
          <a:p>
            <a:pPr rtl="0"/>
            <a:r>
              <a:rPr lang="de-DE"/>
              <a:t>Mastertitelformat bearbeiten</a:t>
            </a:r>
            <a:endParaRPr lang="de"/>
          </a:p>
        </p:txBody>
      </p:sp>
      <p:sp>
        <p:nvSpPr>
          <p:cNvPr id="9" name="Inhaltsplatzhalter 5">
            <a:extLst>
              <a:ext uri="{FF2B5EF4-FFF2-40B4-BE49-F238E27FC236}">
                <a16:creationId xmlns:a16="http://schemas.microsoft.com/office/drawing/2014/main" id="{A7544B75-76FD-A2AD-3444-313EF1771A4C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758952" y="3200400"/>
            <a:ext cx="6400800" cy="2926080"/>
          </a:xfrm>
        </p:spPr>
        <p:txBody>
          <a:bodyPr rtlCol="0">
            <a:normAutofit/>
          </a:bodyPr>
          <a:lstStyle>
            <a:lvl1pPr>
              <a:spcBef>
                <a:spcPts val="500"/>
              </a:spcBef>
              <a:defRPr sz="1800" b="1"/>
            </a:lvl1pPr>
            <a:lvl2pPr>
              <a:spcBef>
                <a:spcPts val="0"/>
              </a:spcBef>
              <a:spcAft>
                <a:spcPts val="500"/>
              </a:spcAft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</a:lstStyle>
          <a:p>
            <a:pPr lvl="0" rtl="0"/>
            <a:r>
              <a:rPr lang="de-DE"/>
              <a:t>Mastertextformat bearbeiten</a:t>
            </a:r>
          </a:p>
          <a:p>
            <a:pPr lvl="1" rtl="0"/>
            <a:r>
              <a:rPr lang="de-DE"/>
              <a:t>Zweite Ebene</a:t>
            </a:r>
          </a:p>
          <a:p>
            <a:pPr lvl="2" rtl="0"/>
            <a:r>
              <a:rPr lang="de-DE"/>
              <a:t>Dritte Ebene</a:t>
            </a:r>
          </a:p>
          <a:p>
            <a:pPr lvl="3" rtl="0"/>
            <a:r>
              <a:rPr lang="de-DE"/>
              <a:t>Vierte Ebene</a:t>
            </a:r>
          </a:p>
          <a:p>
            <a:pPr lvl="4" rtl="0"/>
            <a:r>
              <a:rPr lang="de-DE"/>
              <a:t>Fünfte Ebene</a:t>
            </a:r>
            <a:endParaRPr lang="de"/>
          </a:p>
        </p:txBody>
      </p:sp>
      <p:sp>
        <p:nvSpPr>
          <p:cNvPr id="10" name="Inhaltsplatzhalter 5">
            <a:extLst>
              <a:ext uri="{FF2B5EF4-FFF2-40B4-BE49-F238E27FC236}">
                <a16:creationId xmlns:a16="http://schemas.microsoft.com/office/drawing/2014/main" id="{0F9EB1B3-9B21-0E61-FC8A-659EDC63DAA1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7598664" y="3108960"/>
            <a:ext cx="3739896" cy="2926080"/>
          </a:xfrm>
        </p:spPr>
        <p:txBody>
          <a:bodyPr rtlCol="0">
            <a:normAutofit/>
          </a:bodyPr>
          <a:lstStyle>
            <a:lvl1pPr>
              <a:defRPr sz="1800"/>
            </a:lvl1pPr>
            <a:lvl2pPr>
              <a:defRPr sz="14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 rtl="0"/>
            <a:r>
              <a:rPr lang="de-DE"/>
              <a:t>Mastertextformat bearbeiten</a:t>
            </a:r>
          </a:p>
          <a:p>
            <a:pPr lvl="1" rtl="0"/>
            <a:r>
              <a:rPr lang="de-DE"/>
              <a:t>Zweite Ebene</a:t>
            </a:r>
          </a:p>
          <a:p>
            <a:pPr lvl="2" rtl="0"/>
            <a:r>
              <a:rPr lang="de-DE"/>
              <a:t>Dritte Ebene</a:t>
            </a:r>
          </a:p>
          <a:p>
            <a:pPr lvl="3" rtl="0"/>
            <a:r>
              <a:rPr lang="de-DE"/>
              <a:t>Vierte Ebene</a:t>
            </a:r>
          </a:p>
          <a:p>
            <a:pPr lvl="4" rtl="0"/>
            <a:r>
              <a:rPr lang="de-DE"/>
              <a:t>Fünfte Ebene</a:t>
            </a:r>
            <a:endParaRPr lang="de"/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452CFE08-03FE-487B-8963-9FAD3049CFF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758952" y="6400800"/>
            <a:ext cx="6099048" cy="365125"/>
          </a:xfrm>
          <a:prstGeom prst="rect">
            <a:avLst/>
          </a:prstGeom>
        </p:spPr>
        <p:txBody>
          <a:bodyPr rtlCol="0"/>
          <a:lstStyle/>
          <a:p>
            <a:pPr rtl="0"/>
            <a:r>
              <a:rPr lang="en-US"/>
              <a:t>Jonas Himmetsberger | Practical Work presentation</a:t>
            </a:r>
            <a:endParaRPr lang="en-US" dirty="0"/>
          </a:p>
        </p:txBody>
      </p:sp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B7862271-51F6-4122-9709-D279042F884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r>
              <a:rPr lang="de-DE"/>
              <a:t>01.03.20XX</a:t>
            </a:r>
            <a:endParaRPr lang="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CA935A50-18AE-4CB1-BB10-1CBDD8A7C2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CB1E4CB7-CB13-4810-BF18-BE31AFC64F93}" type="slidenum">
              <a:rPr lang="en-US" smtClean="0"/>
              <a:t>‹Nr.›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5753829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24C5BB2-C09C-49B0-BAFA-DE1801CD3E9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17904" y="1517904"/>
            <a:ext cx="9144000" cy="1280160"/>
          </a:xfrm>
        </p:spPr>
        <p:txBody>
          <a:bodyPr rtlCol="0">
            <a:normAutofit/>
          </a:bodyPr>
          <a:lstStyle>
            <a:lvl1pPr>
              <a:defRPr sz="3200"/>
            </a:lvl1pPr>
          </a:lstStyle>
          <a:p>
            <a:pPr rtl="0"/>
            <a:r>
              <a:rPr lang="de-DE"/>
              <a:t>Mastertitelformat bearbeiten</a:t>
            </a:r>
            <a:endParaRPr lang="de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C3A47C21-944D-47FE-9519-A2551883711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517904" y="3108960"/>
            <a:ext cx="9144000" cy="2926080"/>
          </a:xfrm>
        </p:spPr>
        <p:txBody>
          <a:bodyPr rtlCol="0"/>
          <a:lstStyle/>
          <a:p>
            <a:pPr lvl="0" rtl="0"/>
            <a:r>
              <a:rPr lang="de-DE"/>
              <a:t>Mastertextformat bearbeiten</a:t>
            </a:r>
          </a:p>
          <a:p>
            <a:pPr lvl="1" rtl="0"/>
            <a:r>
              <a:rPr lang="de-DE"/>
              <a:t>Zweite Ebene</a:t>
            </a:r>
          </a:p>
          <a:p>
            <a:pPr lvl="2" rtl="0"/>
            <a:r>
              <a:rPr lang="de-DE"/>
              <a:t>Dritte Ebene</a:t>
            </a:r>
          </a:p>
          <a:p>
            <a:pPr lvl="3" rtl="0"/>
            <a:r>
              <a:rPr lang="de-DE"/>
              <a:t>Vierte Ebene</a:t>
            </a:r>
          </a:p>
          <a:p>
            <a:pPr lvl="4" rtl="0"/>
            <a:r>
              <a:rPr lang="de-DE"/>
              <a:t>Fünfte Ebene</a:t>
            </a:r>
            <a:endParaRPr lang="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BA2AD668-6E19-425C-88F7-AF4220662C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r>
              <a:rPr lang="en-US"/>
              <a:t>Jonas Himmetsberger | Practical Work presentation</a:t>
            </a:r>
            <a:endParaRPr lang="en-US" dirty="0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AC7CE36D-6B7B-4D5E-831E-34A4286D6E6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algn="r" rtl="0"/>
            <a:r>
              <a:rPr lang="de-DE"/>
              <a:t>01.03.20XX</a:t>
            </a:r>
            <a:endParaRPr lang="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36905C53-CF7C-4936-9E35-1BEBD68362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CB1E4CB7-CB13-4810-BF18-BE31AFC64F93}" type="slidenum">
              <a:rPr lang="en-US" smtClean="0"/>
              <a:pPr/>
              <a:t>‹Nr.›</a:t>
            </a:fld>
            <a:endParaRPr lang="en-US" sz="1000" dirty="0"/>
          </a:p>
        </p:txBody>
      </p:sp>
    </p:spTree>
    <p:extLst>
      <p:ext uri="{BB962C8B-B14F-4D97-AF65-F5344CB8AC3E}">
        <p14:creationId xmlns:p14="http://schemas.microsoft.com/office/powerpoint/2010/main" val="419054356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10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platzhalter 1">
            <a:extLst>
              <a:ext uri="{FF2B5EF4-FFF2-40B4-BE49-F238E27FC236}">
                <a16:creationId xmlns:a16="http://schemas.microsoft.com/office/drawing/2014/main" id="{FFB1D84C-7934-4E5B-B6E4-A1D6EC2995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17904" y="1517904"/>
            <a:ext cx="9144000" cy="1344168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pPr rtl="0"/>
            <a:r>
              <a:rPr lang="de"/>
              <a:t>Titelmasterformat durch Klicken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5F6A990F-40AC-447A-964A-840C94A6471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517904" y="2971800"/>
            <a:ext cx="9144000" cy="312724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 rtl="0"/>
            <a:r>
              <a:rPr lang="de"/>
              <a:t>Textmasterformat durch Klicken bearbeiten</a:t>
            </a:r>
          </a:p>
          <a:p>
            <a:pPr lvl="1" rtl="0"/>
            <a:r>
              <a:rPr lang="de"/>
              <a:t>Zweite Ebene</a:t>
            </a:r>
          </a:p>
          <a:p>
            <a:pPr lvl="2" rtl="0"/>
            <a:r>
              <a:rPr lang="de"/>
              <a:t>Dritte Ebene</a:t>
            </a:r>
          </a:p>
          <a:p>
            <a:pPr lvl="3" rtl="0"/>
            <a:r>
              <a:rPr lang="de"/>
              <a:t>Vierte Ebene</a:t>
            </a:r>
          </a:p>
          <a:p>
            <a:pPr lvl="4" rtl="0"/>
            <a:r>
              <a:rPr lang="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07D832A1-FFBA-48B6-B2D0-E5414F12838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805672" y="6400800"/>
            <a:ext cx="1865376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/>
                </a:solidFill>
              </a:defRPr>
            </a:lvl1pPr>
          </a:lstStyle>
          <a:p>
            <a:pPr algn="r" rtl="0"/>
            <a:r>
              <a:rPr lang="de-DE"/>
              <a:t>01.03.20XX</a:t>
            </a:r>
            <a:endParaRPr lang="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0F933EC1-4EE2-4453-841C-CFDFE708948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758952" y="6400800"/>
            <a:ext cx="609904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/>
                </a:solidFill>
              </a:defRPr>
            </a:lvl1pPr>
          </a:lstStyle>
          <a:p>
            <a:pPr rtl="0"/>
            <a:r>
              <a:rPr lang="en-US" sz="1000"/>
              <a:t>Jonas Himmetsberger | Practical Work presentation</a:t>
            </a:r>
            <a:endParaRPr lang="en-US" sz="1000" dirty="0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C3CEBA78-E732-44EF-BA0B-FC42F793131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899648" y="6400800"/>
            <a:ext cx="53035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 b="1">
                <a:solidFill>
                  <a:schemeClr val="tx1"/>
                </a:solidFill>
              </a:defRPr>
            </a:lvl1pPr>
          </a:lstStyle>
          <a:p>
            <a:pPr rtl="0"/>
            <a:fld id="{CB1E4CB7-CB13-4810-BF18-BE31AFC64F93}" type="slidenum">
              <a:rPr lang="en-US" smtClean="0"/>
              <a:pPr/>
              <a:t>‹Nr.›</a:t>
            </a:fld>
            <a:endParaRPr lang="en-US" sz="1000" dirty="0"/>
          </a:p>
        </p:txBody>
      </p:sp>
      <p:sp>
        <p:nvSpPr>
          <p:cNvPr id="8" name="Freihandform: Form 7">
            <a:extLst>
              <a:ext uri="{FF2B5EF4-FFF2-40B4-BE49-F238E27FC236}">
                <a16:creationId xmlns:a16="http://schemas.microsoft.com/office/drawing/2014/main" id="{49306479-8C4D-4E4A-A330-DFC80A8A01BE}"/>
              </a:ext>
            </a:extLst>
          </p:cNvPr>
          <p:cNvSpPr/>
          <p:nvPr/>
        </p:nvSpPr>
        <p:spPr>
          <a:xfrm>
            <a:off x="0" y="0"/>
            <a:ext cx="12192000" cy="6105524"/>
          </a:xfrm>
          <a:custGeom>
            <a:avLst/>
            <a:gdLst>
              <a:gd name="connsiteX0" fmla="*/ 0 w 12192000"/>
              <a:gd name="connsiteY0" fmla="*/ 0 h 6105524"/>
              <a:gd name="connsiteX1" fmla="*/ 12192000 w 12192000"/>
              <a:gd name="connsiteY1" fmla="*/ 0 h 6105524"/>
              <a:gd name="connsiteX2" fmla="*/ 12192000 w 12192000"/>
              <a:gd name="connsiteY2" fmla="*/ 6105524 h 6105524"/>
              <a:gd name="connsiteX3" fmla="*/ 11435080 w 12192000"/>
              <a:gd name="connsiteY3" fmla="*/ 6105524 h 6105524"/>
              <a:gd name="connsiteX4" fmla="*/ 11435080 w 12192000"/>
              <a:gd name="connsiteY4" fmla="*/ 771523 h 6105524"/>
              <a:gd name="connsiteX5" fmla="*/ 767080 w 12192000"/>
              <a:gd name="connsiteY5" fmla="*/ 771523 h 6105524"/>
              <a:gd name="connsiteX6" fmla="*/ 767080 w 12192000"/>
              <a:gd name="connsiteY6" fmla="*/ 6105524 h 6105524"/>
              <a:gd name="connsiteX7" fmla="*/ 0 w 12192000"/>
              <a:gd name="connsiteY7" fmla="*/ 6105524 h 610552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2192000" h="6105524">
                <a:moveTo>
                  <a:pt x="0" y="0"/>
                </a:moveTo>
                <a:lnTo>
                  <a:pt x="12192000" y="0"/>
                </a:lnTo>
                <a:lnTo>
                  <a:pt x="12192000" y="6105524"/>
                </a:lnTo>
                <a:lnTo>
                  <a:pt x="11435080" y="6105524"/>
                </a:lnTo>
                <a:lnTo>
                  <a:pt x="11435080" y="771523"/>
                </a:lnTo>
                <a:lnTo>
                  <a:pt x="767080" y="771523"/>
                </a:lnTo>
                <a:lnTo>
                  <a:pt x="767080" y="6105524"/>
                </a:lnTo>
                <a:lnTo>
                  <a:pt x="0" y="6105524"/>
                </a:lnTo>
                <a:close/>
              </a:path>
            </a:pathLst>
          </a:custGeom>
          <a:gradFill flip="none" rotWithShape="1">
            <a:gsLst>
              <a:gs pos="10000">
                <a:schemeClr val="accent5"/>
              </a:gs>
              <a:gs pos="90000">
                <a:schemeClr val="accent1"/>
              </a:gs>
              <a:gs pos="70000">
                <a:schemeClr val="accent2"/>
              </a:gs>
              <a:gs pos="30000">
                <a:schemeClr val="accent4"/>
              </a:gs>
              <a:gs pos="50000">
                <a:schemeClr val="accent3">
                  <a:lumMod val="60000"/>
                  <a:lumOff val="40000"/>
                </a:schemeClr>
              </a:gs>
            </a:gsLst>
            <a:lin ang="72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 rtl="0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9751571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3" r:id="rId1"/>
    <p:sldLayoutId id="2147483696" r:id="rId2"/>
    <p:sldLayoutId id="2147483694" r:id="rId3"/>
    <p:sldLayoutId id="2147483697" r:id="rId4"/>
    <p:sldLayoutId id="2147483695" r:id="rId5"/>
    <p:sldLayoutId id="2147483688" r:id="rId6"/>
    <p:sldLayoutId id="2147483698" r:id="rId7"/>
    <p:sldLayoutId id="2147483684" r:id="rId8"/>
    <p:sldLayoutId id="2147483673" r:id="rId9"/>
  </p:sldLayoutIdLst>
  <p:hf hdr="0" dt="0"/>
  <p:txStyles>
    <p:titleStyle>
      <a:lvl1pPr algn="l" defTabSz="914400" rtl="0" eaLnBrk="1" latinLnBrk="0" hangingPunct="1">
        <a:lnSpc>
          <a:spcPct val="95000"/>
        </a:lnSpc>
        <a:spcBef>
          <a:spcPct val="0"/>
        </a:spcBef>
        <a:buNone/>
        <a:defRPr sz="4200" kern="1200" spc="-50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65760" indent="-365760" algn="l" defTabSz="914400" rtl="0" eaLnBrk="1" latinLnBrk="0" hangingPunct="1">
        <a:lnSpc>
          <a:spcPct val="105000"/>
        </a:lnSpc>
        <a:spcBef>
          <a:spcPts val="900"/>
        </a:spcBef>
        <a:buClr>
          <a:schemeClr val="accent5"/>
        </a:buClr>
        <a:buFont typeface="Avenir Next LT Pro" panose="020B0504020202020204" pitchFamily="34" charset="0"/>
        <a:buChar char="+"/>
        <a:defRPr sz="2600" kern="1200">
          <a:solidFill>
            <a:schemeClr val="tx1"/>
          </a:solidFill>
          <a:latin typeface="+mn-lt"/>
          <a:ea typeface="+mn-ea"/>
          <a:cs typeface="+mn-cs"/>
        </a:defRPr>
      </a:lvl1pPr>
      <a:lvl2pPr marL="365760" indent="0" algn="l" defTabSz="914400" rtl="0" eaLnBrk="1" latinLnBrk="0" hangingPunct="1">
        <a:lnSpc>
          <a:spcPct val="105000"/>
        </a:lnSpc>
        <a:spcBef>
          <a:spcPts val="900"/>
        </a:spcBef>
        <a:buFont typeface="Arial" panose="020B0604020202020204" pitchFamily="34" charset="0"/>
        <a:buNone/>
        <a:defRPr sz="20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640080" indent="-274320" algn="l" defTabSz="914400" rtl="0" eaLnBrk="1" latinLnBrk="0" hangingPunct="1">
        <a:lnSpc>
          <a:spcPct val="105000"/>
        </a:lnSpc>
        <a:spcBef>
          <a:spcPts val="600"/>
        </a:spcBef>
        <a:buClr>
          <a:schemeClr val="accent5"/>
        </a:buClr>
        <a:buFont typeface="Avenir Next LT Pro" panose="020B0504020202020204" pitchFamily="34" charset="0"/>
        <a:buChar char="+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640080" indent="0" algn="l" defTabSz="914400" rtl="0" eaLnBrk="1" latinLnBrk="0" hangingPunct="1">
        <a:lnSpc>
          <a:spcPct val="105000"/>
        </a:lnSpc>
        <a:spcBef>
          <a:spcPts val="600"/>
        </a:spcBef>
        <a:buFontTx/>
        <a:buNone/>
        <a:defRPr sz="1800" i="1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886968" indent="-274320" algn="l" defTabSz="914400" rtl="0" eaLnBrk="1" latinLnBrk="0" hangingPunct="1">
        <a:lnSpc>
          <a:spcPct val="105000"/>
        </a:lnSpc>
        <a:spcBef>
          <a:spcPts val="600"/>
        </a:spcBef>
        <a:buClr>
          <a:schemeClr val="accent5"/>
        </a:buClr>
        <a:buFont typeface="Avenir Next LT Pro" panose="020B0504020202020204" pitchFamily="34" charset="0"/>
        <a:buChar char="+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hyperlink" Target="https://proceedings.neurips.cc/paper_files/paper/2021/hash/9a32ff36c65e8ba30915a21b7bd76506-Abstract.html" TargetMode="Externa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8.xml"/><Relationship Id="rId6" Type="http://schemas.openxmlformats.org/officeDocument/2006/relationships/hyperlink" Target="https://openreview.net/forum?id=ONOe6cAE9I" TargetMode="External"/><Relationship Id="rId5" Type="http://schemas.openxmlformats.org/officeDocument/2006/relationships/hyperlink" Target="https://elifesciences.org/reviewed-preprints/106827" TargetMode="External"/><Relationship Id="rId4" Type="http://schemas.openxmlformats.org/officeDocument/2006/relationships/hyperlink" Target="https://proceedings.neurips.cc/paper_files/paper/2023/hash/ec702dd6e83b2113a43614685a7e2ac6-Abstract-Conference.html" TargetMode="Externa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6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4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.xml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Bildplatzhalter 4">
            <a:extLst>
              <a:ext uri="{FF2B5EF4-FFF2-40B4-BE49-F238E27FC236}">
                <a16:creationId xmlns:a16="http://schemas.microsoft.com/office/drawing/2014/main" id="{B79A4E83-20AF-0BE7-D02D-BAC5898F53B0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solidFill>
            <a:schemeClr val="bg1"/>
          </a:solidFill>
        </p:spPr>
        <p:txBody>
          <a:bodyPr/>
          <a:lstStyle/>
          <a:p>
            <a:endParaRPr lang="en-GB" noProof="0" dirty="0"/>
          </a:p>
        </p:txBody>
      </p:sp>
      <p:sp>
        <p:nvSpPr>
          <p:cNvPr id="19" name="Titel 18">
            <a:extLst>
              <a:ext uri="{FF2B5EF4-FFF2-40B4-BE49-F238E27FC236}">
                <a16:creationId xmlns:a16="http://schemas.microsoft.com/office/drawing/2014/main" id="{C60B4E40-ED59-4DFA-97D2-04570E2808B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58951" y="841248"/>
            <a:ext cx="8876661" cy="3474720"/>
          </a:xfrm>
        </p:spPr>
        <p:txBody>
          <a:bodyPr rtlCol="0" anchor="ctr">
            <a:normAutofit/>
          </a:bodyPr>
          <a:lstStyle/>
          <a:p>
            <a:pPr rtl="0"/>
            <a:r>
              <a:rPr lang="en-GB" noProof="0" dirty="0"/>
              <a:t>Transformers as generative models for neural activity</a:t>
            </a:r>
          </a:p>
        </p:txBody>
      </p:sp>
      <p:sp>
        <p:nvSpPr>
          <p:cNvPr id="20" name="Untertitel 19">
            <a:extLst>
              <a:ext uri="{FF2B5EF4-FFF2-40B4-BE49-F238E27FC236}">
                <a16:creationId xmlns:a16="http://schemas.microsoft.com/office/drawing/2014/main" id="{35E6FB68-BA70-4F6F-9874-1F349422D89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62000" y="4570807"/>
            <a:ext cx="4123899" cy="1524000"/>
          </a:xfrm>
        </p:spPr>
        <p:txBody>
          <a:bodyPr rtlCol="0">
            <a:normAutofit/>
          </a:bodyPr>
          <a:lstStyle/>
          <a:p>
            <a:pPr rtl="0"/>
            <a:r>
              <a:rPr lang="en-GB" sz="1800" noProof="0" dirty="0"/>
              <a:t>Jonas Himmetsberger</a:t>
            </a:r>
          </a:p>
          <a:p>
            <a:pPr rtl="0"/>
            <a:r>
              <a:rPr lang="en-GB" sz="1800" noProof="0" dirty="0"/>
              <a:t>TU Wien </a:t>
            </a:r>
          </a:p>
          <a:p>
            <a:pPr rtl="0"/>
            <a:r>
              <a:rPr lang="en-GB" sz="1800" noProof="0" dirty="0"/>
              <a:t>e12315363@student.tuwien.ac.at</a:t>
            </a:r>
          </a:p>
        </p:txBody>
      </p:sp>
    </p:spTree>
    <p:extLst>
      <p:ext uri="{BB962C8B-B14F-4D97-AF65-F5344CB8AC3E}">
        <p14:creationId xmlns:p14="http://schemas.microsoft.com/office/powerpoint/2010/main" val="90140157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24CF172-3947-42CE-B33F-43FB799FDB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58952" y="1517904"/>
            <a:ext cx="4114800" cy="4572000"/>
          </a:xfrm>
        </p:spPr>
        <p:txBody>
          <a:bodyPr rtlCol="0"/>
          <a:lstStyle/>
          <a:p>
            <a:pPr rtl="0"/>
            <a:r>
              <a:rPr lang="en-GB" sz="4400" noProof="0" dirty="0"/>
              <a:t>Agenda</a:t>
            </a:r>
            <a:br>
              <a:rPr lang="en-GB" noProof="0" dirty="0"/>
            </a:br>
            <a:r>
              <a:rPr lang="en-GB" sz="1800" noProof="0" dirty="0">
                <a:latin typeface="+mn-lt"/>
              </a:rPr>
              <a:t>OUTLINE</a:t>
            </a:r>
            <a:endParaRPr lang="en-GB" noProof="0" dirty="0">
              <a:latin typeface="+mn-lt"/>
            </a:endParaRP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F2F14772-A1EE-4EA8-8C5D-46383706A557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3753853" y="1517904"/>
            <a:ext cx="7554227" cy="4572000"/>
          </a:xfrm>
        </p:spPr>
        <p:txBody>
          <a:bodyPr rtlCol="0">
            <a:normAutofit/>
          </a:bodyPr>
          <a:lstStyle/>
          <a:p>
            <a:pPr marL="457200" indent="-457200" rtl="0">
              <a:buAutoNum type="arabicPeriod"/>
            </a:pPr>
            <a:r>
              <a:rPr lang="en-GB" noProof="0" dirty="0"/>
              <a:t>Context &amp; state of the art</a:t>
            </a:r>
            <a:br>
              <a:rPr lang="en-GB" noProof="0" dirty="0"/>
            </a:br>
            <a:r>
              <a:rPr lang="en-GB" sz="1600" noProof="0" dirty="0"/>
              <a:t>Transformers for neural spiking activity; why evaluation is hard</a:t>
            </a:r>
          </a:p>
          <a:p>
            <a:pPr marL="457200" indent="-457200" rtl="0">
              <a:buAutoNum type="arabicPeriod"/>
            </a:pPr>
            <a:r>
              <a:rPr lang="en-GB" noProof="0" dirty="0"/>
              <a:t>Two scientific questions</a:t>
            </a:r>
            <a:br>
              <a:rPr lang="en-GB" noProof="0" dirty="0"/>
            </a:br>
            <a:r>
              <a:rPr lang="en-GB" sz="1600" noProof="0" dirty="0"/>
              <a:t>Architecture: What did </a:t>
            </a:r>
            <a:r>
              <a:rPr lang="en-GB" sz="1600" noProof="0" dirty="0" err="1"/>
              <a:t>SpikeGPT</a:t>
            </a:r>
            <a:r>
              <a:rPr lang="en-GB" sz="1600" noProof="0" dirty="0"/>
              <a:t> improve?  </a:t>
            </a:r>
            <a:br>
              <a:rPr lang="en-GB" sz="1600" noProof="0" dirty="0"/>
            </a:br>
            <a:r>
              <a:rPr lang="en-GB" sz="1600" noProof="0" dirty="0"/>
              <a:t>Evaluation: how to score generation?</a:t>
            </a:r>
          </a:p>
          <a:p>
            <a:pPr marL="457200" indent="-457200" rtl="0">
              <a:buAutoNum type="arabicPeriod"/>
            </a:pPr>
            <a:r>
              <a:rPr lang="en-GB" noProof="0" dirty="0"/>
              <a:t>Results</a:t>
            </a:r>
            <a:br>
              <a:rPr lang="en-GB" noProof="0" dirty="0"/>
            </a:br>
            <a:r>
              <a:rPr lang="en-GB" sz="1600" noProof="0" dirty="0"/>
              <a:t>Architecture comparison, Brain FID, metric validation, limitations</a:t>
            </a:r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1CD17E29-2E98-8547-1DDA-A9991D6B02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rtl="0"/>
            <a:r>
              <a:rPr lang="en-GB" noProof="0" dirty="0"/>
              <a:t>Jonas Himmetsberger | Practical Work presentation</a:t>
            </a:r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1FD6867D-F53C-C40C-8047-FA0CC987BD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CB1E4CB7-CB13-4810-BF18-BE31AFC64F93}" type="slidenum">
              <a:rPr lang="en-GB" noProof="0" smtClean="0"/>
              <a:t>2</a:t>
            </a:fld>
            <a:endParaRPr lang="en-GB" noProof="0" dirty="0"/>
          </a:p>
        </p:txBody>
      </p:sp>
    </p:spTree>
    <p:extLst>
      <p:ext uri="{BB962C8B-B14F-4D97-AF65-F5344CB8AC3E}">
        <p14:creationId xmlns:p14="http://schemas.microsoft.com/office/powerpoint/2010/main" val="326050291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el 3">
            <a:extLst>
              <a:ext uri="{FF2B5EF4-FFF2-40B4-BE49-F238E27FC236}">
                <a16:creationId xmlns:a16="http://schemas.microsoft.com/office/drawing/2014/main" id="{D420E8BD-3489-B16C-1BFA-C0D3D07957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24000" y="2407278"/>
            <a:ext cx="9144000" cy="2043444"/>
          </a:xfrm>
        </p:spPr>
        <p:txBody>
          <a:bodyPr>
            <a:normAutofit/>
          </a:bodyPr>
          <a:lstStyle/>
          <a:p>
            <a:r>
              <a:rPr lang="en-GB" sz="6000" noProof="0" dirty="0"/>
              <a:t>Scientific context </a:t>
            </a:r>
            <a:br>
              <a:rPr lang="en-GB" sz="6000" noProof="0" dirty="0"/>
            </a:br>
            <a:r>
              <a:rPr lang="en-GB" sz="6000" noProof="0" dirty="0"/>
              <a:t>&amp; state of the art</a:t>
            </a:r>
          </a:p>
        </p:txBody>
      </p:sp>
      <p:sp>
        <p:nvSpPr>
          <p:cNvPr id="2" name="Fußzeilenplatzhalter 1">
            <a:extLst>
              <a:ext uri="{FF2B5EF4-FFF2-40B4-BE49-F238E27FC236}">
                <a16:creationId xmlns:a16="http://schemas.microsoft.com/office/drawing/2014/main" id="{CDBE7650-9EE9-65D3-38CC-5F1CDEFB12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rtl="0"/>
            <a:r>
              <a:rPr lang="en-GB" noProof="0" dirty="0"/>
              <a:t>Jonas Himmetsberger | Practical Work presentation</a:t>
            </a:r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9F52319F-25E2-6C6D-866B-623561D220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CB1E4CB7-CB13-4810-BF18-BE31AFC64F93}" type="slidenum">
              <a:rPr lang="en-GB" noProof="0" smtClean="0"/>
              <a:pPr rtl="0"/>
              <a:t>3</a:t>
            </a:fld>
            <a:endParaRPr lang="en-GB" sz="1000" noProof="0" dirty="0"/>
          </a:p>
        </p:txBody>
      </p:sp>
    </p:spTree>
    <p:extLst>
      <p:ext uri="{BB962C8B-B14F-4D97-AF65-F5344CB8AC3E}">
        <p14:creationId xmlns:p14="http://schemas.microsoft.com/office/powerpoint/2010/main" val="307267753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el 3">
            <a:extLst>
              <a:ext uri="{FF2B5EF4-FFF2-40B4-BE49-F238E27FC236}">
                <a16:creationId xmlns:a16="http://schemas.microsoft.com/office/drawing/2014/main" id="{B2866FCF-DEFC-0D7D-F7F3-5E50927A706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92480" y="1642130"/>
            <a:ext cx="10424160" cy="1280160"/>
          </a:xfrm>
        </p:spPr>
        <p:txBody>
          <a:bodyPr>
            <a:normAutofit/>
          </a:bodyPr>
          <a:lstStyle/>
          <a:p>
            <a:r>
              <a:rPr lang="en-GB" sz="2000" noProof="0" dirty="0">
                <a:latin typeface="+mn-lt"/>
              </a:rPr>
              <a:t>CONTEXT</a:t>
            </a:r>
            <a:br>
              <a:rPr lang="en-GB" noProof="0" dirty="0"/>
            </a:br>
            <a:r>
              <a:rPr lang="en-GB" noProof="0" dirty="0"/>
              <a:t>Transformers in neuroscience</a:t>
            </a:r>
            <a:br>
              <a:rPr lang="en-GB" noProof="0" dirty="0"/>
            </a:br>
            <a:r>
              <a:rPr lang="en-GB" sz="2400" noProof="0" dirty="0">
                <a:latin typeface="+mn-lt"/>
              </a:rPr>
              <a:t>Short recap of Bellec </a:t>
            </a:r>
            <a:r>
              <a:rPr lang="en-GB" sz="2400" noProof="0" dirty="0" err="1">
                <a:latin typeface="+mn-lt"/>
              </a:rPr>
              <a:t>Guillaumes</a:t>
            </a:r>
            <a:r>
              <a:rPr lang="en-GB" sz="2400" noProof="0" dirty="0">
                <a:latin typeface="+mn-lt"/>
              </a:rPr>
              <a:t>’ talk</a:t>
            </a:r>
            <a:endParaRPr lang="en-GB" noProof="0" dirty="0">
              <a:latin typeface="+mn-lt"/>
            </a:endParaRPr>
          </a:p>
        </p:txBody>
      </p:sp>
      <p:sp>
        <p:nvSpPr>
          <p:cNvPr id="5" name="Inhaltsplatzhalter 4">
            <a:extLst>
              <a:ext uri="{FF2B5EF4-FFF2-40B4-BE49-F238E27FC236}">
                <a16:creationId xmlns:a16="http://schemas.microsoft.com/office/drawing/2014/main" id="{BEA34DBA-FDF7-594E-503C-EECD6BBEAD1E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792480" y="2922290"/>
            <a:ext cx="6400800" cy="2926080"/>
          </a:xfrm>
        </p:spPr>
        <p:txBody>
          <a:bodyPr/>
          <a:lstStyle/>
          <a:p>
            <a:r>
              <a:rPr lang="en-GB" noProof="0" dirty="0"/>
              <a:t>The architecture behind LLMs applied to neural spike activity (see: spike_gpt.py, notebook 2)</a:t>
            </a:r>
          </a:p>
        </p:txBody>
      </p:sp>
      <p:sp>
        <p:nvSpPr>
          <p:cNvPr id="7" name="Shape 3">
            <a:extLst>
              <a:ext uri="{FF2B5EF4-FFF2-40B4-BE49-F238E27FC236}">
                <a16:creationId xmlns:a16="http://schemas.microsoft.com/office/drawing/2014/main" id="{CEB4D211-7DEB-9C40-E790-97A24EDC735E}"/>
              </a:ext>
            </a:extLst>
          </p:cNvPr>
          <p:cNvSpPr/>
          <p:nvPr/>
        </p:nvSpPr>
        <p:spPr>
          <a:xfrm>
            <a:off x="518160" y="3947059"/>
            <a:ext cx="3566160" cy="1901311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GB" noProof="0" dirty="0"/>
          </a:p>
        </p:txBody>
      </p:sp>
      <p:sp>
        <p:nvSpPr>
          <p:cNvPr id="10" name="Text 5">
            <a:extLst>
              <a:ext uri="{FF2B5EF4-FFF2-40B4-BE49-F238E27FC236}">
                <a16:creationId xmlns:a16="http://schemas.microsoft.com/office/drawing/2014/main" id="{0744C683-06D0-B029-FB56-C2B8BB77F18B}"/>
              </a:ext>
            </a:extLst>
          </p:cNvPr>
          <p:cNvSpPr/>
          <p:nvPr/>
        </p:nvSpPr>
        <p:spPr>
          <a:xfrm>
            <a:off x="838200" y="4156731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GB" b="1" noProof="0" dirty="0"/>
              <a:t>Spikes as sequences</a:t>
            </a:r>
          </a:p>
        </p:txBody>
      </p:sp>
      <p:sp>
        <p:nvSpPr>
          <p:cNvPr id="11" name="Text 6">
            <a:extLst>
              <a:ext uri="{FF2B5EF4-FFF2-40B4-BE49-F238E27FC236}">
                <a16:creationId xmlns:a16="http://schemas.microsoft.com/office/drawing/2014/main" id="{86559FAA-148C-BBBA-8FD0-49A2CC02E3F8}"/>
              </a:ext>
            </a:extLst>
          </p:cNvPr>
          <p:cNvSpPr/>
          <p:nvPr/>
        </p:nvSpPr>
        <p:spPr>
          <a:xfrm>
            <a:off x="838200" y="4659651"/>
            <a:ext cx="2971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GB" sz="1400" noProof="0" dirty="0">
                <a:solidFill>
                  <a:srgbClr val="5F6B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recording is a binary raster: neurons x time bins. Naturally a sequence-modelling problem.</a:t>
            </a:r>
            <a:endParaRPr lang="en-GB" sz="1400" noProof="0" dirty="0"/>
          </a:p>
        </p:txBody>
      </p:sp>
      <p:sp>
        <p:nvSpPr>
          <p:cNvPr id="12" name="Shape 7">
            <a:extLst>
              <a:ext uri="{FF2B5EF4-FFF2-40B4-BE49-F238E27FC236}">
                <a16:creationId xmlns:a16="http://schemas.microsoft.com/office/drawing/2014/main" id="{A2D22FF4-0C77-407D-068E-488998DC9DB4}"/>
              </a:ext>
            </a:extLst>
          </p:cNvPr>
          <p:cNvSpPr/>
          <p:nvPr/>
        </p:nvSpPr>
        <p:spPr>
          <a:xfrm>
            <a:off x="4312920" y="3947059"/>
            <a:ext cx="3566160" cy="1901311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GB" noProof="0" dirty="0"/>
          </a:p>
        </p:txBody>
      </p:sp>
      <p:sp>
        <p:nvSpPr>
          <p:cNvPr id="15" name="Text 9">
            <a:extLst>
              <a:ext uri="{FF2B5EF4-FFF2-40B4-BE49-F238E27FC236}">
                <a16:creationId xmlns:a16="http://schemas.microsoft.com/office/drawing/2014/main" id="{4AB3B7B2-642E-19A4-4BD9-6A546BADC712}"/>
              </a:ext>
            </a:extLst>
          </p:cNvPr>
          <p:cNvSpPr/>
          <p:nvPr/>
        </p:nvSpPr>
        <p:spPr>
          <a:xfrm>
            <a:off x="4632960" y="4156731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GB" b="1" noProof="0" dirty="0"/>
              <a:t>Why transformers</a:t>
            </a:r>
          </a:p>
        </p:txBody>
      </p:sp>
      <p:sp>
        <p:nvSpPr>
          <p:cNvPr id="16" name="Text 10">
            <a:extLst>
              <a:ext uri="{FF2B5EF4-FFF2-40B4-BE49-F238E27FC236}">
                <a16:creationId xmlns:a16="http://schemas.microsoft.com/office/drawing/2014/main" id="{740637EB-E0A3-7A92-DDC4-8251F90A72C4}"/>
              </a:ext>
            </a:extLst>
          </p:cNvPr>
          <p:cNvSpPr/>
          <p:nvPr/>
        </p:nvSpPr>
        <p:spPr>
          <a:xfrm>
            <a:off x="4632960" y="4659651"/>
            <a:ext cx="2971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GB" sz="1400" noProof="0" dirty="0">
                <a:solidFill>
                  <a:srgbClr val="5F6B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Parallel, scalable, capture long-range structure + no recurrence bottleneck like RNNs.</a:t>
            </a:r>
            <a:endParaRPr lang="en-GB" sz="1400" noProof="0" dirty="0"/>
          </a:p>
        </p:txBody>
      </p:sp>
      <p:sp>
        <p:nvSpPr>
          <p:cNvPr id="17" name="Shape 11">
            <a:extLst>
              <a:ext uri="{FF2B5EF4-FFF2-40B4-BE49-F238E27FC236}">
                <a16:creationId xmlns:a16="http://schemas.microsoft.com/office/drawing/2014/main" id="{C8742530-AA0D-5D36-1DE4-8DE8035EDD69}"/>
              </a:ext>
            </a:extLst>
          </p:cNvPr>
          <p:cNvSpPr/>
          <p:nvPr/>
        </p:nvSpPr>
        <p:spPr>
          <a:xfrm>
            <a:off x="8107680" y="3947059"/>
            <a:ext cx="3566160" cy="1901311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GB" noProof="0" dirty="0"/>
          </a:p>
        </p:txBody>
      </p:sp>
      <p:sp>
        <p:nvSpPr>
          <p:cNvPr id="20" name="Text 13">
            <a:extLst>
              <a:ext uri="{FF2B5EF4-FFF2-40B4-BE49-F238E27FC236}">
                <a16:creationId xmlns:a16="http://schemas.microsoft.com/office/drawing/2014/main" id="{EB0D8CBB-CA33-D907-8989-D8687B3202A3}"/>
              </a:ext>
            </a:extLst>
          </p:cNvPr>
          <p:cNvSpPr/>
          <p:nvPr/>
        </p:nvSpPr>
        <p:spPr>
          <a:xfrm>
            <a:off x="8427720" y="4156731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GB" b="1" noProof="0" dirty="0"/>
              <a:t>The</a:t>
            </a:r>
            <a:r>
              <a:rPr lang="en-GB" sz="1800" b="1" noProof="0" dirty="0">
                <a:solidFill>
                  <a:srgbClr val="1A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GB" b="1" noProof="0" dirty="0"/>
              <a:t>promise</a:t>
            </a:r>
          </a:p>
        </p:txBody>
      </p:sp>
      <p:sp>
        <p:nvSpPr>
          <p:cNvPr id="21" name="Text 14">
            <a:extLst>
              <a:ext uri="{FF2B5EF4-FFF2-40B4-BE49-F238E27FC236}">
                <a16:creationId xmlns:a16="http://schemas.microsoft.com/office/drawing/2014/main" id="{B6C020CB-D475-4584-2B14-F26C0A9FBA48}"/>
              </a:ext>
            </a:extLst>
          </p:cNvPr>
          <p:cNvSpPr/>
          <p:nvPr/>
        </p:nvSpPr>
        <p:spPr>
          <a:xfrm>
            <a:off x="8427720" y="4659651"/>
            <a:ext cx="2971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GB" sz="1400" noProof="0" dirty="0">
                <a:solidFill>
                  <a:srgbClr val="5F6B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model across sessions, animals, brain regions (a “foundation model” for neural data)</a:t>
            </a:r>
            <a:endParaRPr lang="en-GB" sz="1400" noProof="0" dirty="0"/>
          </a:p>
        </p:txBody>
      </p:sp>
      <p:sp>
        <p:nvSpPr>
          <p:cNvPr id="2" name="Fußzeilenplatzhalter 1">
            <a:extLst>
              <a:ext uri="{FF2B5EF4-FFF2-40B4-BE49-F238E27FC236}">
                <a16:creationId xmlns:a16="http://schemas.microsoft.com/office/drawing/2014/main" id="{D9DCD06E-B107-90AE-C2FC-67923F8B24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rtl="0"/>
            <a:r>
              <a:rPr lang="en-GB" noProof="0" dirty="0"/>
              <a:t>Jonas Himmetsberger | Practical Work presentation</a:t>
            </a:r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5F68CF9A-F697-8FAB-0BCA-0CB70F173E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CB1E4CB7-CB13-4810-BF18-BE31AFC64F93}" type="slidenum">
              <a:rPr lang="en-GB" noProof="0" smtClean="0"/>
              <a:t>4</a:t>
            </a:fld>
            <a:endParaRPr lang="en-GB" noProof="0" dirty="0"/>
          </a:p>
        </p:txBody>
      </p:sp>
    </p:spTree>
    <p:extLst>
      <p:ext uri="{BB962C8B-B14F-4D97-AF65-F5344CB8AC3E}">
        <p14:creationId xmlns:p14="http://schemas.microsoft.com/office/powerpoint/2010/main" val="145416192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61CB6E2-687B-FD6E-B433-8D8B7A25CD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58952" y="1162160"/>
            <a:ext cx="10424160" cy="1280160"/>
          </a:xfrm>
        </p:spPr>
        <p:txBody>
          <a:bodyPr/>
          <a:lstStyle/>
          <a:p>
            <a:r>
              <a:rPr lang="en-GB" sz="2000" noProof="0" dirty="0">
                <a:latin typeface="+mn-lt"/>
              </a:rPr>
              <a:t>STATE OF THE ART</a:t>
            </a:r>
            <a:br>
              <a:rPr lang="en-GB" noProof="0" dirty="0"/>
            </a:br>
            <a:r>
              <a:rPr lang="en-GB" noProof="0" dirty="0"/>
              <a:t>Prior work</a:t>
            </a:r>
          </a:p>
        </p:txBody>
      </p:sp>
      <p:sp>
        <p:nvSpPr>
          <p:cNvPr id="5" name="Rectangle 1">
            <a:extLst>
              <a:ext uri="{FF2B5EF4-FFF2-40B4-BE49-F238E27FC236}">
                <a16:creationId xmlns:a16="http://schemas.microsoft.com/office/drawing/2014/main" id="{8D4448B1-E3E4-9B0C-A403-F81E7CF45C6E}"/>
              </a:ext>
            </a:extLst>
          </p:cNvPr>
          <p:cNvSpPr>
            <a:spLocks noGrp="1" noChangeArrowheads="1"/>
          </p:cNvSpPr>
          <p:nvPr>
            <p:ph sz="quarter" idx="14"/>
          </p:nvPr>
        </p:nvSpPr>
        <p:spPr bwMode="auto">
          <a:xfrm>
            <a:off x="758952" y="2317671"/>
            <a:ext cx="8608575" cy="41960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indent="0">
              <a:lnSpc>
                <a:spcPts val="1600"/>
              </a:lnSpc>
              <a:buNone/>
            </a:pPr>
            <a:r>
              <a:rPr lang="en-GB" sz="1200" noProof="0" dirty="0">
                <a:solidFill>
                  <a:srgbClr val="1D9E75"/>
                </a:solidFill>
                <a:latin typeface="Calibri" pitchFamily="34" charset="0"/>
                <a:cs typeface="Calibri" pitchFamily="34" charset="-120"/>
              </a:rPr>
              <a:t>Bellec et al.</a:t>
            </a:r>
          </a:p>
          <a:p>
            <a:pPr marL="0" indent="0">
              <a:lnSpc>
                <a:spcPts val="1600"/>
              </a:lnSpc>
              <a:buNone/>
            </a:pPr>
            <a:r>
              <a:rPr lang="en-GB" sz="1200" noProof="0" dirty="0">
                <a:solidFill>
                  <a:srgbClr val="1D9E75"/>
                </a:solidFill>
                <a:latin typeface="Calibri" pitchFamily="34" charset="0"/>
                <a:cs typeface="Calibri" pitchFamily="34" charset="-120"/>
              </a:rPr>
              <a:t>2021 · </a:t>
            </a:r>
            <a:r>
              <a:rPr lang="en-GB" sz="1200" noProof="0" dirty="0" err="1">
                <a:solidFill>
                  <a:srgbClr val="1D9E75"/>
                </a:solidFill>
                <a:latin typeface="Calibri" pitchFamily="34" charset="0"/>
                <a:cs typeface="Calibri" pitchFamily="34" charset="-120"/>
              </a:rPr>
              <a:t>NeurIPS</a:t>
            </a:r>
            <a:endParaRPr lang="en-GB" sz="1200" noProof="0" dirty="0">
              <a:solidFill>
                <a:srgbClr val="1D9E75"/>
              </a:solidFill>
              <a:latin typeface="Calibri" pitchFamily="34" charset="0"/>
              <a:cs typeface="Calibri" pitchFamily="34" charset="-12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GB" sz="1200" b="0" i="0" u="none" strike="noStrike" cap="none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latin typeface="Calibri" panose="020F0502020204030204" pitchFamily="34" charset="0"/>
                <a:cs typeface="Calibri" panose="020F0502020204030204" pitchFamily="34" charset="0"/>
              </a:rPr>
              <a:t>Fitting summary statistics of neural data with a differentiable spiking network simulator</a:t>
            </a:r>
          </a:p>
          <a:p>
            <a:pPr marL="0" indent="0">
              <a:lnSpc>
                <a:spcPct val="100000"/>
              </a:lnSpc>
              <a:buClrTx/>
              <a:buNone/>
            </a:pPr>
            <a:r>
              <a:rPr lang="en-GB" sz="1200" noProof="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Fitting spiking nets by likelihood alone yields unrealistic activity; add summary-statistic dissimilarity terms to fix it.</a:t>
            </a:r>
            <a:endParaRPr kumimoji="0" lang="en-GB" sz="800" b="0" i="0" u="none" strike="noStrike" cap="none" normalizeH="0" baseline="0" noProof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GB" sz="1200" b="0" i="0" u="none" strike="noStrike" cap="none" normalizeH="0" baseline="0" noProof="0" dirty="0">
                <a:ln>
                  <a:noFill/>
                </a:ln>
                <a:solidFill>
                  <a:srgbClr val="1155CC"/>
                </a:solidFill>
                <a:effectLst/>
                <a:latin typeface="Calibri" panose="020F0502020204030204" pitchFamily="34" charset="0"/>
                <a:cs typeface="Calibri" panose="020F0502020204030204" pitchFamily="34" charset="0"/>
                <a:hlinkClick r:id="rId3"/>
              </a:rPr>
              <a:t>https://proceedings.neurips.cc/paper_files/paper/2021/hash/9a32ff36c65e8ba30915a21b7bd76506-Abstract.html</a:t>
            </a:r>
            <a:br>
              <a:rPr kumimoji="0" lang="en-GB" sz="1200" b="0" i="0" u="none" strike="noStrike" cap="none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latin typeface="Calibri" panose="020F0502020204030204" pitchFamily="34" charset="0"/>
                <a:cs typeface="Calibri" panose="020F0502020204030204" pitchFamily="34" charset="0"/>
              </a:rPr>
            </a:br>
            <a:endParaRPr kumimoji="0" lang="en-GB" sz="800" b="0" i="0" u="none" strike="noStrike" cap="none" normalizeH="0" baseline="0" noProof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indent="0">
              <a:lnSpc>
                <a:spcPts val="1600"/>
              </a:lnSpc>
              <a:buNone/>
            </a:pPr>
            <a:r>
              <a:rPr lang="en-GB" sz="1200" noProof="0" dirty="0" err="1">
                <a:solidFill>
                  <a:srgbClr val="1D9E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Sourmpis</a:t>
            </a:r>
            <a:r>
              <a:rPr lang="en-GB" sz="1200" noProof="0" dirty="0">
                <a:solidFill>
                  <a:srgbClr val="1D9E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et al.</a:t>
            </a:r>
            <a:endParaRPr lang="en-GB" sz="1200" noProof="0" dirty="0"/>
          </a:p>
          <a:p>
            <a:pPr marL="0" indent="0">
              <a:lnSpc>
                <a:spcPts val="1600"/>
              </a:lnSpc>
              <a:buNone/>
            </a:pPr>
            <a:r>
              <a:rPr lang="en-GB" sz="1200" noProof="0" dirty="0">
                <a:solidFill>
                  <a:srgbClr val="1D9E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2023 · </a:t>
            </a:r>
            <a:r>
              <a:rPr lang="en-GB" sz="1200" noProof="0" dirty="0" err="1">
                <a:solidFill>
                  <a:srgbClr val="1D9E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NeurIPS</a:t>
            </a:r>
            <a:endParaRPr lang="en-GB" sz="1200" noProof="0" dirty="0"/>
          </a:p>
          <a:p>
            <a:pPr marL="0" indent="0">
              <a:lnSpc>
                <a:spcPct val="100000"/>
              </a:lnSpc>
              <a:buClrTx/>
              <a:buNone/>
            </a:pPr>
            <a:r>
              <a:rPr lang="en-GB" sz="1200" noProof="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Trial matching: optimal-transport distance between generated and recorded trial distributions captures variability.</a:t>
            </a:r>
            <a:br>
              <a:rPr kumimoji="0" lang="en-GB" sz="1200" b="0" i="0" u="none" strike="noStrike" cap="none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latin typeface="Calibri" panose="020F0502020204030204" pitchFamily="34" charset="0"/>
                <a:cs typeface="Calibri" panose="020F0502020204030204" pitchFamily="34" charset="0"/>
              </a:rPr>
            </a:br>
            <a:r>
              <a:rPr kumimoji="0" lang="en-GB" sz="1200" b="0" i="0" u="none" strike="noStrike" cap="none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latin typeface="Calibri" panose="020F0502020204030204" pitchFamily="34" charset="0"/>
                <a:cs typeface="Calibri" panose="020F0502020204030204" pitchFamily="34" charset="0"/>
              </a:rPr>
              <a:t>Trial matching: capturing variability with data-constrained spiking neural networks</a:t>
            </a:r>
            <a:endParaRPr kumimoji="0" lang="en-GB" sz="800" b="0" i="0" u="none" strike="noStrike" cap="none" normalizeH="0" baseline="0" noProof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GB" sz="1200" b="0" i="0" u="none" strike="noStrike" cap="none" normalizeH="0" baseline="0" noProof="0" dirty="0">
                <a:ln>
                  <a:noFill/>
                </a:ln>
                <a:solidFill>
                  <a:srgbClr val="1155CC"/>
                </a:solidFill>
                <a:effectLst/>
                <a:latin typeface="Calibri" panose="020F0502020204030204" pitchFamily="34" charset="0"/>
                <a:cs typeface="Calibri" panose="020F0502020204030204" pitchFamily="34" charset="0"/>
                <a:hlinkClick r:id="rId4"/>
              </a:rPr>
              <a:t>https://proceedings.neurips.cc/paper_files/paper/2023/hash/ec702dd6e83b2113a43614685a7e2ac6-Abstract-Conference.html</a:t>
            </a:r>
            <a:endParaRPr lang="en-GB" sz="1200" b="0" noProof="0" dirty="0">
              <a:solidFill>
                <a:srgbClr val="1155CC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GB" sz="1200" b="0" i="0" u="none" strike="noStrike" cap="none" normalizeH="0" baseline="0" noProof="0" dirty="0">
              <a:ln>
                <a:noFill/>
              </a:ln>
              <a:solidFill>
                <a:srgbClr val="1155CC"/>
              </a:solidFill>
              <a:effectLst/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0" indent="0">
              <a:lnSpc>
                <a:spcPts val="1600"/>
              </a:lnSpc>
              <a:buNone/>
            </a:pPr>
            <a:r>
              <a:rPr lang="en-GB" sz="1200" noProof="0" dirty="0" err="1">
                <a:solidFill>
                  <a:srgbClr val="1D9E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Sourmpis</a:t>
            </a:r>
            <a:r>
              <a:rPr lang="en-GB" sz="1200" noProof="0" dirty="0">
                <a:solidFill>
                  <a:srgbClr val="1D9E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Bellec et al.</a:t>
            </a:r>
            <a:endParaRPr lang="en-GB" sz="1200" noProof="0" dirty="0"/>
          </a:p>
          <a:p>
            <a:pPr marL="0" indent="0">
              <a:lnSpc>
                <a:spcPts val="1600"/>
              </a:lnSpc>
              <a:buNone/>
            </a:pPr>
            <a:r>
              <a:rPr lang="en-GB" sz="1200" noProof="0" dirty="0">
                <a:solidFill>
                  <a:srgbClr val="1D9E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2025 · </a:t>
            </a:r>
            <a:r>
              <a:rPr lang="en-GB" sz="1200" noProof="0" dirty="0" err="1">
                <a:solidFill>
                  <a:srgbClr val="1D9E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eLife</a:t>
            </a:r>
            <a:endParaRPr lang="en-GB" sz="1200" noProof="0" dirty="0"/>
          </a:p>
          <a:p>
            <a:pPr marL="0" indent="0">
              <a:lnSpc>
                <a:spcPct val="100000"/>
              </a:lnSpc>
              <a:buClrTx/>
              <a:buNone/>
            </a:pPr>
            <a:r>
              <a:rPr lang="en-GB" sz="1200" noProof="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Perturbation test: biologically informed cortical models (RNNs) predict optogenetic effects — even when they fit worse on test data.</a:t>
            </a:r>
            <a:endParaRPr lang="en-GB" sz="1200" noProof="0" dirty="0"/>
          </a:p>
          <a:p>
            <a:pPr marL="0" lvl="0" indent="0">
              <a:lnSpc>
                <a:spcPct val="100000"/>
              </a:lnSpc>
              <a:buClrTx/>
              <a:buNone/>
            </a:pPr>
            <a:r>
              <a:rPr lang="en-GB" sz="1200" b="0" noProof="0" dirty="0">
                <a:solidFill>
                  <a:srgbClr val="1155CC"/>
                </a:solidFill>
                <a:latin typeface="Calibri" panose="020F0502020204030204" pitchFamily="34" charset="0"/>
                <a:cs typeface="Calibri" panose="020F0502020204030204" pitchFamily="34" charset="0"/>
                <a:hlinkClick r:id="rId5"/>
              </a:rPr>
              <a:t>https://elifesciences.org/reviewed-preprints/106827</a:t>
            </a:r>
            <a:br>
              <a:rPr kumimoji="0" lang="en-GB" sz="1200" b="0" i="0" u="none" strike="noStrike" cap="none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latin typeface="Calibri" panose="020F0502020204030204" pitchFamily="34" charset="0"/>
                <a:cs typeface="Calibri" panose="020F0502020204030204" pitchFamily="34" charset="0"/>
              </a:rPr>
            </a:br>
            <a:endParaRPr kumimoji="0" lang="en-GB" sz="800" b="0" i="0" u="none" strike="noStrike" cap="none" normalizeH="0" baseline="0" noProof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indent="0">
              <a:lnSpc>
                <a:spcPts val="1600"/>
              </a:lnSpc>
              <a:buNone/>
            </a:pPr>
            <a:r>
              <a:rPr lang="en-GB" sz="1200" noProof="0" dirty="0">
                <a:solidFill>
                  <a:srgbClr val="1D9E75"/>
                </a:solidFill>
                <a:latin typeface="Calibri" pitchFamily="34" charset="0"/>
                <a:cs typeface="Calibri" pitchFamily="34" charset="-120"/>
              </a:rPr>
              <a:t>Ye et al.</a:t>
            </a:r>
          </a:p>
          <a:p>
            <a:pPr marL="0" indent="0">
              <a:lnSpc>
                <a:spcPts val="1600"/>
              </a:lnSpc>
              <a:buNone/>
            </a:pPr>
            <a:r>
              <a:rPr lang="en-GB" sz="1200" noProof="0" dirty="0">
                <a:solidFill>
                  <a:srgbClr val="1D9E75"/>
                </a:solidFill>
                <a:latin typeface="Calibri" pitchFamily="34" charset="0"/>
                <a:cs typeface="Calibri" pitchFamily="34" charset="-120"/>
              </a:rPr>
              <a:t>2025 · ICLR (NDT3)</a:t>
            </a:r>
          </a:p>
          <a:p>
            <a:pPr marL="0" indent="0">
              <a:lnSpc>
                <a:spcPct val="100000"/>
              </a:lnSpc>
              <a:buClrTx/>
              <a:buNone/>
            </a:pPr>
            <a:r>
              <a:rPr lang="en-GB" sz="1200" noProof="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Transformer foundation model for motor decoding, 2000h data; finds scaling saturates — more data isn't enough.</a:t>
            </a:r>
            <a:endParaRPr lang="en-GB" sz="1200" noProof="0" dirty="0">
              <a:ea typeface="Calibri" pitchFamily="34" charset="-122"/>
            </a:endParaRPr>
          </a:p>
          <a:p>
            <a:pPr marL="0" indent="0">
              <a:lnSpc>
                <a:spcPct val="100000"/>
              </a:lnSpc>
              <a:buClrTx/>
              <a:buNone/>
            </a:pPr>
            <a:r>
              <a:rPr kumimoji="0" lang="en-GB" sz="1200" b="0" i="0" u="none" strike="noStrike" cap="none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latin typeface="Calibri" panose="020F0502020204030204" pitchFamily="34" charset="0"/>
                <a:cs typeface="Calibri" panose="020F0502020204030204" pitchFamily="34" charset="0"/>
              </a:rPr>
              <a:t>A Generalist Intracortical Motor Decoder</a:t>
            </a:r>
            <a:endParaRPr kumimoji="0" lang="en-GB" sz="800" b="0" i="0" u="none" strike="noStrike" cap="none" normalizeH="0" baseline="0" noProof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GB" sz="1200" b="0" i="0" u="none" strike="noStrike" cap="none" normalizeH="0" baseline="0" noProof="0" dirty="0">
                <a:ln>
                  <a:noFill/>
                </a:ln>
                <a:solidFill>
                  <a:srgbClr val="1155CC"/>
                </a:solidFill>
                <a:effectLst/>
                <a:latin typeface="Calibri" panose="020F0502020204030204" pitchFamily="34" charset="0"/>
                <a:cs typeface="Calibri" panose="020F0502020204030204" pitchFamily="34" charset="0"/>
                <a:hlinkClick r:id="rId6"/>
              </a:rPr>
              <a:t>https://openreview.net/forum?id=ONOe6cAE9I</a:t>
            </a:r>
            <a:endParaRPr kumimoji="0" lang="en-GB" sz="1800" b="0" i="0" u="none" strike="noStrike" cap="none" normalizeH="0" baseline="0" noProof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BB265586-9FC1-AACD-1CAD-5E91FF22110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rtl="0"/>
            <a:r>
              <a:rPr lang="en-GB" noProof="0" dirty="0"/>
              <a:t>Jonas Himmetsberger | Practical Work presentation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C73A4048-90C7-88BA-669E-95C184C68F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CB1E4CB7-CB13-4810-BF18-BE31AFC64F93}" type="slidenum">
              <a:rPr lang="en-GB" noProof="0" smtClean="0"/>
              <a:t>5</a:t>
            </a:fld>
            <a:endParaRPr lang="en-GB" noProof="0" dirty="0"/>
          </a:p>
        </p:txBody>
      </p:sp>
    </p:spTree>
    <p:extLst>
      <p:ext uri="{BB962C8B-B14F-4D97-AF65-F5344CB8AC3E}">
        <p14:creationId xmlns:p14="http://schemas.microsoft.com/office/powerpoint/2010/main" val="206302617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1572EBC-8E11-5CDB-1505-C636B6EF84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Is the model good?</a:t>
            </a:r>
          </a:p>
        </p:txBody>
      </p:sp>
      <p:sp>
        <p:nvSpPr>
          <p:cNvPr id="5" name="Inhaltsplatzhalter 4">
            <a:extLst>
              <a:ext uri="{FF2B5EF4-FFF2-40B4-BE49-F238E27FC236}">
                <a16:creationId xmlns:a16="http://schemas.microsoft.com/office/drawing/2014/main" id="{D2EC3CB7-3959-7566-BBC6-0C1C0F9883DC}"/>
              </a:ext>
            </a:extLst>
          </p:cNvPr>
          <p:cNvSpPr>
            <a:spLocks noGrp="1"/>
          </p:cNvSpPr>
          <p:nvPr>
            <p:ph sz="quarter" idx="14"/>
          </p:nvPr>
        </p:nvSpPr>
        <p:spPr/>
        <p:txBody>
          <a:bodyPr/>
          <a:lstStyle/>
          <a:p>
            <a:r>
              <a:rPr lang="en-GB" noProof="0" dirty="0"/>
              <a:t>Discriminative</a:t>
            </a:r>
          </a:p>
          <a:p>
            <a:pPr lvl="1"/>
            <a:r>
              <a:rPr lang="en-GB" noProof="0" dirty="0"/>
              <a:t>Given Input, predict target.</a:t>
            </a:r>
          </a:p>
          <a:p>
            <a:pPr lvl="1"/>
            <a:r>
              <a:rPr lang="en-GB" noProof="0" dirty="0"/>
              <a:t>Spike F1, behaviour R</a:t>
            </a:r>
            <a:r>
              <a:rPr lang="en-GB" baseline="30000" noProof="0" dirty="0"/>
              <a:t>2</a:t>
            </a:r>
            <a:r>
              <a:rPr lang="en-GB" noProof="0" dirty="0"/>
              <a:t>, stimulus accuracy</a:t>
            </a:r>
          </a:p>
          <a:p>
            <a:pPr lvl="1"/>
            <a:endParaRPr lang="en-GB" noProof="0" dirty="0"/>
          </a:p>
          <a:p>
            <a:pPr lvl="1"/>
            <a:r>
              <a:rPr lang="en-GB" noProof="0" dirty="0"/>
              <a:t>Tests whether the model can read out information from neural activity</a:t>
            </a:r>
          </a:p>
          <a:p>
            <a:pPr lvl="1"/>
            <a:r>
              <a:rPr lang="en-GB" noProof="0" dirty="0"/>
              <a:t>spike_gpt.py</a:t>
            </a:r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213F5514-011D-B7A8-098F-4D89B14BBD9A}"/>
              </a:ext>
            </a:extLst>
          </p:cNvPr>
          <p:cNvSpPr>
            <a:spLocks noGrp="1"/>
          </p:cNvSpPr>
          <p:nvPr>
            <p:ph sz="quarter" idx="15"/>
          </p:nvPr>
        </p:nvSpPr>
        <p:spPr/>
        <p:txBody>
          <a:bodyPr/>
          <a:lstStyle/>
          <a:p>
            <a:r>
              <a:rPr lang="en-GB" noProof="0" dirty="0"/>
              <a:t>Generative</a:t>
            </a:r>
          </a:p>
          <a:p>
            <a:pPr lvl="1"/>
            <a:r>
              <a:rPr lang="en-GB" noProof="0" dirty="0"/>
              <a:t>Generate activity </a:t>
            </a:r>
            <a:r>
              <a:rPr lang="en-GB" noProof="0" dirty="0">
                <a:sym typeface="Wingdings" panose="05000000000000000000" pitchFamily="2" charset="2"/>
              </a:rPr>
              <a:t> judge realism</a:t>
            </a:r>
          </a:p>
          <a:p>
            <a:pPr lvl="1"/>
            <a:r>
              <a:rPr lang="en-GB" noProof="0" dirty="0">
                <a:sym typeface="Wingdings" panose="05000000000000000000" pitchFamily="2" charset="2"/>
              </a:rPr>
              <a:t>Does generated activity look like real brain data?</a:t>
            </a:r>
          </a:p>
          <a:p>
            <a:pPr lvl="1"/>
            <a:endParaRPr lang="en-GB" noProof="0" dirty="0">
              <a:sym typeface="Wingdings" panose="05000000000000000000" pitchFamily="2" charset="2"/>
            </a:endParaRPr>
          </a:p>
          <a:p>
            <a:pPr lvl="1"/>
            <a:r>
              <a:rPr lang="en-GB" noProof="0" dirty="0"/>
              <a:t>“Evaluating generative models of neural activity is an open question” </a:t>
            </a:r>
            <a:br>
              <a:rPr lang="en-GB" noProof="0" dirty="0"/>
            </a:br>
            <a:br>
              <a:rPr lang="en-GB" noProof="0" dirty="0"/>
            </a:br>
            <a:r>
              <a:rPr lang="en-GB" noProof="0" dirty="0"/>
              <a:t>~G. Bellec</a:t>
            </a:r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0A1D2625-9934-272D-CAF3-DC305E05B7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rtl="0"/>
            <a:r>
              <a:rPr lang="en-GB" noProof="0" dirty="0"/>
              <a:t>Jonas Himmetsberger | Practical Work presentation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1B9161DA-372C-FE83-ADEB-AA3A7DFD97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CB1E4CB7-CB13-4810-BF18-BE31AFC64F93}" type="slidenum">
              <a:rPr lang="en-GB" noProof="0" smtClean="0"/>
              <a:t>6</a:t>
            </a:fld>
            <a:endParaRPr lang="en-GB" noProof="0" dirty="0"/>
          </a:p>
        </p:txBody>
      </p:sp>
    </p:spTree>
    <p:extLst>
      <p:ext uri="{BB962C8B-B14F-4D97-AF65-F5344CB8AC3E}">
        <p14:creationId xmlns:p14="http://schemas.microsoft.com/office/powerpoint/2010/main" val="214701528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FB104B7-2CAA-9E56-20CD-3B7C60AD0E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Borrowing from image generation</a:t>
            </a:r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3FA161EF-B8A2-6E0C-56CA-F20615C5E5A6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731520" y="3054096"/>
            <a:ext cx="5212080" cy="4572000"/>
          </a:xfrm>
        </p:spPr>
        <p:txBody>
          <a:bodyPr/>
          <a:lstStyle/>
          <a:p>
            <a:r>
              <a:rPr lang="en-GB" noProof="0" dirty="0"/>
              <a:t>Fréchet Inception Distance (FID) </a:t>
            </a:r>
          </a:p>
          <a:p>
            <a:r>
              <a:rPr lang="en-GB" sz="1600" noProof="0" dirty="0"/>
              <a:t>(Heusel et al. 2017) is the standard way to score GANs and diffusion models. It compares the distribution of real vs generated samples, not individual outputs.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feld 8">
                <a:extLst>
                  <a:ext uri="{FF2B5EF4-FFF2-40B4-BE49-F238E27FC236}">
                    <a16:creationId xmlns:a16="http://schemas.microsoft.com/office/drawing/2014/main" id="{D89479F6-BA04-73FE-5B1E-76299E29C6AF}"/>
                  </a:ext>
                </a:extLst>
              </p:cNvPr>
              <p:cNvSpPr txBox="1"/>
              <p:nvPr/>
            </p:nvSpPr>
            <p:spPr>
              <a:xfrm>
                <a:off x="426720" y="5375221"/>
                <a:ext cx="5212080" cy="71468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nor/>
                        </m:rPr>
                        <a:rPr lang="en-GB" b="0" i="0" noProof="0" smtClean="0">
                          <a:latin typeface="Cambria Math" panose="02040503050406030204" pitchFamily="18" charset="0"/>
                        </a:rPr>
                        <m:t>FID</m:t>
                      </m:r>
                      <m:r>
                        <a:rPr lang="en-GB" i="1" noProof="0" smtClean="0">
                          <a:latin typeface="Cambria Math" panose="02040503050406030204" pitchFamily="18" charset="0"/>
                        </a:rPr>
                        <m:t>=</m:t>
                      </m:r>
                      <m:sSubSup>
                        <m:sSubSupPr>
                          <m:ctrlPr>
                            <a:rPr lang="en-GB" b="0" i="1" noProof="0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d>
                            <m:dPr>
                              <m:begChr m:val="‖"/>
                              <m:endChr m:val="‖"/>
                              <m:ctrlPr>
                                <a:rPr lang="en-GB" b="0" i="1" noProof="0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GB" b="0" i="1" noProof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GB" i="1" noProof="0" smtClean="0">
                                      <a:latin typeface="Cambria Math" panose="02040503050406030204" pitchFamily="18" charset="0"/>
                                    </a:rPr>
                                    <m:t>𝜇</m:t>
                                  </m:r>
                                </m:e>
                                <m:sub>
                                  <m:r>
                                    <a:rPr lang="en-GB" i="1" noProof="0" smtClean="0">
                                      <a:latin typeface="Cambria Math" panose="02040503050406030204" pitchFamily="18" charset="0"/>
                                    </a:rPr>
                                    <m:t>𝑟</m:t>
                                  </m:r>
                                </m:sub>
                              </m:sSub>
                              <m:r>
                                <a:rPr lang="en-GB" i="1" noProof="0" smtClean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sSub>
                                <m:sSubPr>
                                  <m:ctrlPr>
                                    <a:rPr lang="en-GB" i="1" noProof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GB" i="1" noProof="0" smtClean="0">
                                      <a:latin typeface="Cambria Math" panose="02040503050406030204" pitchFamily="18" charset="0"/>
                                    </a:rPr>
                                    <m:t>𝜇</m:t>
                                  </m:r>
                                </m:e>
                                <m:sub>
                                  <m:r>
                                    <a:rPr lang="en-GB" i="1" noProof="0" smtClean="0">
                                      <a:latin typeface="Cambria Math" panose="02040503050406030204" pitchFamily="18" charset="0"/>
                                    </a:rPr>
                                    <m:t>𝑔</m:t>
                                  </m:r>
                                </m:sub>
                              </m:sSub>
                            </m:e>
                          </m:d>
                        </m:e>
                        <m:sub>
                          <m:r>
                            <a:rPr lang="en-GB" i="1" noProof="0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GB" i="1" noProof="0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bSup>
                      <m:r>
                        <a:rPr lang="en-GB" i="1" noProof="0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m:rPr>
                          <m:nor/>
                        </m:rPr>
                        <a:rPr lang="en-GB" b="0" i="0" noProof="0" smtClean="0">
                          <a:latin typeface="Cambria Math" panose="02040503050406030204" pitchFamily="18" charset="0"/>
                        </a:rPr>
                        <m:t>T</m:t>
                      </m:r>
                      <m:r>
                        <a:rPr lang="en-GB" b="0" i="1" noProof="0" smtClean="0">
                          <a:latin typeface="Cambria Math" panose="02040503050406030204" pitchFamily="18" charset="0"/>
                        </a:rPr>
                        <m:t>𝑟</m:t>
                      </m:r>
                      <m:d>
                        <m:dPr>
                          <m:ctrlPr>
                            <a:rPr lang="en-GB" b="0" i="1" noProof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GB" b="0" i="1" noProof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GB" i="0" noProof="0">
                                  <a:latin typeface="Cambria Math" panose="02040503050406030204" pitchFamily="18" charset="0"/>
                                </a:rPr>
                                <m:t>Σ</m:t>
                              </m:r>
                            </m:e>
                            <m:sub>
                              <m:r>
                                <a:rPr lang="en-GB" i="1" noProof="0">
                                  <a:latin typeface="Cambria Math" panose="02040503050406030204" pitchFamily="18" charset="0"/>
                                </a:rPr>
                                <m:t>𝑟</m:t>
                              </m:r>
                            </m:sub>
                          </m:sSub>
                          <m:r>
                            <a:rPr lang="en-GB" i="1" noProof="0"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en-GB" i="1" noProof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GB" i="0" noProof="0">
                                  <a:latin typeface="Cambria Math" panose="02040503050406030204" pitchFamily="18" charset="0"/>
                                </a:rPr>
                                <m:t>Σ</m:t>
                              </m:r>
                            </m:e>
                            <m:sub>
                              <m:r>
                                <a:rPr lang="en-GB" i="1" noProof="0">
                                  <a:latin typeface="Cambria Math" panose="02040503050406030204" pitchFamily="18" charset="0"/>
                                </a:rPr>
                                <m:t>𝑔</m:t>
                              </m:r>
                            </m:sub>
                          </m:sSub>
                          <m:r>
                            <a:rPr lang="en-GB" i="1" noProof="0">
                              <a:latin typeface="Cambria Math" panose="02040503050406030204" pitchFamily="18" charset="0"/>
                            </a:rPr>
                            <m:t>−2</m:t>
                          </m:r>
                          <m:rad>
                            <m:radPr>
                              <m:degHide m:val="on"/>
                              <m:ctrlPr>
                                <a:rPr lang="en-GB" i="1" noProof="0"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sSub>
                                <m:sSubPr>
                                  <m:ctrlPr>
                                    <a:rPr lang="en-GB" i="1" noProof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GB" i="0" noProof="0">
                                      <a:latin typeface="Cambria Math" panose="02040503050406030204" pitchFamily="18" charset="0"/>
                                    </a:rPr>
                                    <m:t>Σ</m:t>
                                  </m:r>
                                </m:e>
                                <m:sub>
                                  <m:r>
                                    <a:rPr lang="en-GB" i="1" noProof="0">
                                      <a:latin typeface="Cambria Math" panose="02040503050406030204" pitchFamily="18" charset="0"/>
                                    </a:rPr>
                                    <m:t>𝑟</m:t>
                                  </m:r>
                                </m:sub>
                              </m:sSub>
                              <m:sSub>
                                <m:sSubPr>
                                  <m:ctrlPr>
                                    <a:rPr lang="en-GB" i="1" noProof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GB" i="0" noProof="0">
                                      <a:latin typeface="Cambria Math" panose="02040503050406030204" pitchFamily="18" charset="0"/>
                                    </a:rPr>
                                    <m:t>Σ</m:t>
                                  </m:r>
                                </m:e>
                                <m:sub>
                                  <m:r>
                                    <a:rPr lang="en-GB" i="1" noProof="0">
                                      <a:latin typeface="Cambria Math" panose="02040503050406030204" pitchFamily="18" charset="0"/>
                                    </a:rPr>
                                    <m:t>𝑔</m:t>
                                  </m:r>
                                </m:sub>
                              </m:sSub>
                            </m:e>
                          </m:rad>
                        </m:e>
                      </m:d>
                    </m:oMath>
                  </m:oMathPara>
                </a14:m>
                <a:endParaRPr lang="en-GB" noProof="0" dirty="0"/>
              </a:p>
            </p:txBody>
          </p:sp>
        </mc:Choice>
        <mc:Fallback xmlns="">
          <p:sp>
            <p:nvSpPr>
              <p:cNvPr id="9" name="Textfeld 8">
                <a:extLst>
                  <a:ext uri="{FF2B5EF4-FFF2-40B4-BE49-F238E27FC236}">
                    <a16:creationId xmlns:a16="http://schemas.microsoft.com/office/drawing/2014/main" id="{D89479F6-BA04-73FE-5B1E-76299E29C6A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6720" y="5375221"/>
                <a:ext cx="5212080" cy="714683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" name="Textfeld 9">
            <a:extLst>
              <a:ext uri="{FF2B5EF4-FFF2-40B4-BE49-F238E27FC236}">
                <a16:creationId xmlns:a16="http://schemas.microsoft.com/office/drawing/2014/main" id="{77343B2B-9030-93D4-E616-9E68CFBDC436}"/>
              </a:ext>
            </a:extLst>
          </p:cNvPr>
          <p:cNvSpPr txBox="1"/>
          <p:nvPr/>
        </p:nvSpPr>
        <p:spPr>
          <a:xfrm>
            <a:off x="6598920" y="3124200"/>
            <a:ext cx="4834128" cy="28623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noProof="0" dirty="0"/>
              <a:t>Mean term: </a:t>
            </a:r>
          </a:p>
          <a:p>
            <a:r>
              <a:rPr lang="en-GB" noProof="0" dirty="0"/>
              <a:t>Are the two clouds </a:t>
            </a:r>
            <a:r>
              <a:rPr lang="en-GB" noProof="0" dirty="0" err="1"/>
              <a:t>centered</a:t>
            </a:r>
            <a:r>
              <a:rPr lang="en-GB" noProof="0" dirty="0"/>
              <a:t> in the same place?</a:t>
            </a:r>
          </a:p>
          <a:p>
            <a:endParaRPr lang="en-GB" noProof="0" dirty="0"/>
          </a:p>
          <a:p>
            <a:r>
              <a:rPr lang="en-GB" noProof="0" dirty="0"/>
              <a:t>Covariance term: </a:t>
            </a:r>
          </a:p>
          <a:p>
            <a:r>
              <a:rPr lang="en-GB" noProof="0" dirty="0"/>
              <a:t>Do they have the same shape and spread?</a:t>
            </a:r>
          </a:p>
          <a:p>
            <a:endParaRPr lang="en-GB" noProof="0" dirty="0"/>
          </a:p>
          <a:p>
            <a:endParaRPr lang="en-GB" noProof="0" dirty="0"/>
          </a:p>
          <a:p>
            <a:r>
              <a:rPr lang="en-GB" noProof="0" dirty="0"/>
              <a:t>Lower = more realistic, 0 = identical distributions</a:t>
            </a:r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BD881772-9684-9504-1897-CA79FD04C8F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rtl="0"/>
            <a:r>
              <a:rPr lang="en-GB" noProof="0" dirty="0"/>
              <a:t>Jonas Himmetsberger | Practical Work presentation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07775CA1-6D53-D32E-2514-6E5E3079A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CB1E4CB7-CB13-4810-BF18-BE31AFC64F93}" type="slidenum">
              <a:rPr lang="en-GB" noProof="0" smtClean="0"/>
              <a:t>7</a:t>
            </a:fld>
            <a:endParaRPr lang="en-GB" noProof="0" dirty="0"/>
          </a:p>
        </p:txBody>
      </p:sp>
    </p:spTree>
    <p:extLst>
      <p:ext uri="{BB962C8B-B14F-4D97-AF65-F5344CB8AC3E}">
        <p14:creationId xmlns:p14="http://schemas.microsoft.com/office/powerpoint/2010/main" val="22446930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A35431A-378A-270A-9800-54D7B080A6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58952" y="1517904"/>
            <a:ext cx="10549128" cy="813816"/>
          </a:xfrm>
        </p:spPr>
        <p:txBody>
          <a:bodyPr>
            <a:normAutofit fontScale="90000"/>
          </a:bodyPr>
          <a:lstStyle/>
          <a:p>
            <a:r>
              <a:rPr lang="en-GB" noProof="0" dirty="0"/>
              <a:t>From image FID to “Brain FID”</a:t>
            </a:r>
            <a:br>
              <a:rPr lang="en-GB" sz="2200" noProof="0" dirty="0">
                <a:latin typeface="+mn-lt"/>
              </a:rPr>
            </a:br>
            <a:r>
              <a:rPr lang="en-GB" sz="2200" noProof="0" dirty="0">
                <a:latin typeface="+mn-lt"/>
              </a:rPr>
              <a:t>Image FID feeds pictures through a NN (Inception-v3) that extracts features</a:t>
            </a:r>
            <a:br>
              <a:rPr lang="en-GB" sz="2200" noProof="0" dirty="0">
                <a:latin typeface="+mn-lt"/>
              </a:rPr>
            </a:br>
            <a:r>
              <a:rPr lang="en-GB" sz="2200" noProof="0" dirty="0">
                <a:latin typeface="+mn-lt"/>
              </a:rPr>
              <a:t>There is no Inception v3 for brains </a:t>
            </a:r>
            <a:r>
              <a:rPr lang="en-GB" sz="2200" noProof="0" dirty="0">
                <a:latin typeface="+mn-lt"/>
                <a:sym typeface="Wingdings" panose="05000000000000000000" pitchFamily="2" charset="2"/>
              </a:rPr>
              <a:t> Features must be hand crafted from the spikes themselves</a:t>
            </a:r>
            <a:endParaRPr lang="en-GB" sz="2200" noProof="0" dirty="0">
              <a:latin typeface="+mn-lt"/>
            </a:endParaRP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DB04D382-8BD8-C86A-786C-F847DDB4D361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758952" y="2834640"/>
            <a:ext cx="10549128" cy="3255264"/>
          </a:xfrm>
        </p:spPr>
        <p:txBody>
          <a:bodyPr>
            <a:normAutofit/>
          </a:bodyPr>
          <a:lstStyle/>
          <a:p>
            <a:r>
              <a:rPr lang="en-GB" sz="1400" noProof="0" dirty="0"/>
              <a:t>According to Notebook2 and trial-matching framework (</a:t>
            </a:r>
            <a:r>
              <a:rPr lang="en-GB" sz="1400" noProof="0" dirty="0" err="1"/>
              <a:t>Sourmpis</a:t>
            </a:r>
            <a:r>
              <a:rPr lang="en-GB" sz="1400" noProof="0" dirty="0"/>
              <a:t> et al. 2023)</a:t>
            </a:r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BD9D39EA-E7D1-D83D-82CE-0D1CFE9FEEB5}"/>
              </a:ext>
            </a:extLst>
          </p:cNvPr>
          <p:cNvSpPr/>
          <p:nvPr/>
        </p:nvSpPr>
        <p:spPr>
          <a:xfrm>
            <a:off x="792640" y="3840181"/>
            <a:ext cx="2091640" cy="1901311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GB" noProof="0" dirty="0"/>
          </a:p>
        </p:txBody>
      </p:sp>
      <p:sp>
        <p:nvSpPr>
          <p:cNvPr id="6" name="Text 5">
            <a:extLst>
              <a:ext uri="{FF2B5EF4-FFF2-40B4-BE49-F238E27FC236}">
                <a16:creationId xmlns:a16="http://schemas.microsoft.com/office/drawing/2014/main" id="{994F78E0-99EC-1C86-3F5B-82A7D386DE1A}"/>
              </a:ext>
            </a:extLst>
          </p:cNvPr>
          <p:cNvSpPr/>
          <p:nvPr/>
        </p:nvSpPr>
        <p:spPr>
          <a:xfrm>
            <a:off x="1112681" y="4049853"/>
            <a:ext cx="14782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GB" b="1" noProof="0" dirty="0"/>
              <a:t>Spikes</a:t>
            </a:r>
          </a:p>
        </p:txBody>
      </p:sp>
      <p:sp>
        <p:nvSpPr>
          <p:cNvPr id="7" name="Text 6">
            <a:extLst>
              <a:ext uri="{FF2B5EF4-FFF2-40B4-BE49-F238E27FC236}">
                <a16:creationId xmlns:a16="http://schemas.microsoft.com/office/drawing/2014/main" id="{9FC81C41-8A67-F9F8-777A-030828199417}"/>
              </a:ext>
            </a:extLst>
          </p:cNvPr>
          <p:cNvSpPr/>
          <p:nvPr/>
        </p:nvSpPr>
        <p:spPr>
          <a:xfrm>
            <a:off x="1112681" y="4552773"/>
            <a:ext cx="1501333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GB" sz="1400" noProof="0" dirty="0">
                <a:solidFill>
                  <a:srgbClr val="5F6B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Generated vs real raster windows</a:t>
            </a:r>
            <a:endParaRPr lang="en-GB" sz="1400" noProof="0" dirty="0"/>
          </a:p>
        </p:txBody>
      </p:sp>
      <p:sp>
        <p:nvSpPr>
          <p:cNvPr id="8" name="Shape 3">
            <a:extLst>
              <a:ext uri="{FF2B5EF4-FFF2-40B4-BE49-F238E27FC236}">
                <a16:creationId xmlns:a16="http://schemas.microsoft.com/office/drawing/2014/main" id="{1523533B-1A7E-707C-4F9E-745C67229A51}"/>
              </a:ext>
            </a:extLst>
          </p:cNvPr>
          <p:cNvSpPr/>
          <p:nvPr/>
        </p:nvSpPr>
        <p:spPr>
          <a:xfrm>
            <a:off x="3441312" y="3840181"/>
            <a:ext cx="2091640" cy="1901311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GB" noProof="0" dirty="0"/>
          </a:p>
        </p:txBody>
      </p:sp>
      <p:sp>
        <p:nvSpPr>
          <p:cNvPr id="9" name="Text 5">
            <a:extLst>
              <a:ext uri="{FF2B5EF4-FFF2-40B4-BE49-F238E27FC236}">
                <a16:creationId xmlns:a16="http://schemas.microsoft.com/office/drawing/2014/main" id="{0473B6F6-069F-AA36-4B62-C2DD4DB0DF83}"/>
              </a:ext>
            </a:extLst>
          </p:cNvPr>
          <p:cNvSpPr/>
          <p:nvPr/>
        </p:nvSpPr>
        <p:spPr>
          <a:xfrm>
            <a:off x="3761353" y="4049853"/>
            <a:ext cx="14782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GB" b="1" noProof="0" dirty="0"/>
              <a:t>Pool by area</a:t>
            </a:r>
          </a:p>
        </p:txBody>
      </p:sp>
      <p:sp>
        <p:nvSpPr>
          <p:cNvPr id="10" name="Text 6">
            <a:extLst>
              <a:ext uri="{FF2B5EF4-FFF2-40B4-BE49-F238E27FC236}">
                <a16:creationId xmlns:a16="http://schemas.microsoft.com/office/drawing/2014/main" id="{1F7DEA5D-8270-BE37-51EE-1BA9F060E2B8}"/>
              </a:ext>
            </a:extLst>
          </p:cNvPr>
          <p:cNvSpPr/>
          <p:nvPr/>
        </p:nvSpPr>
        <p:spPr>
          <a:xfrm>
            <a:off x="3761353" y="4552773"/>
            <a:ext cx="1501333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GB" sz="1400" noProof="0" dirty="0">
                <a:solidFill>
                  <a:srgbClr val="5F6B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Average per brain region (</a:t>
            </a:r>
            <a:r>
              <a:rPr lang="en-GB" sz="1400" noProof="0" dirty="0" err="1">
                <a:solidFill>
                  <a:srgbClr val="5F6B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VISp</a:t>
            </a:r>
            <a:r>
              <a:rPr lang="en-GB" sz="1400" noProof="0" dirty="0">
                <a:solidFill>
                  <a:srgbClr val="5F6B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CA1, …)</a:t>
            </a:r>
            <a:endParaRPr lang="en-GB" sz="1400" noProof="0" dirty="0"/>
          </a:p>
        </p:txBody>
      </p:sp>
      <p:sp>
        <p:nvSpPr>
          <p:cNvPr id="14" name="Shape 3">
            <a:extLst>
              <a:ext uri="{FF2B5EF4-FFF2-40B4-BE49-F238E27FC236}">
                <a16:creationId xmlns:a16="http://schemas.microsoft.com/office/drawing/2014/main" id="{3CF90751-6480-9BA7-8AE6-5D7B7BA1293D}"/>
              </a:ext>
            </a:extLst>
          </p:cNvPr>
          <p:cNvSpPr/>
          <p:nvPr/>
        </p:nvSpPr>
        <p:spPr>
          <a:xfrm>
            <a:off x="6089984" y="3840181"/>
            <a:ext cx="2091640" cy="1901311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GB" noProof="0" dirty="0"/>
          </a:p>
        </p:txBody>
      </p:sp>
      <p:sp>
        <p:nvSpPr>
          <p:cNvPr id="15" name="Text 5">
            <a:extLst>
              <a:ext uri="{FF2B5EF4-FFF2-40B4-BE49-F238E27FC236}">
                <a16:creationId xmlns:a16="http://schemas.microsoft.com/office/drawing/2014/main" id="{93503E6D-6B1C-B45E-8A28-3B9C2FCA7F14}"/>
              </a:ext>
            </a:extLst>
          </p:cNvPr>
          <p:cNvSpPr/>
          <p:nvPr/>
        </p:nvSpPr>
        <p:spPr>
          <a:xfrm>
            <a:off x="6410025" y="4049853"/>
            <a:ext cx="14782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GB" b="1" noProof="0" dirty="0"/>
              <a:t>Frequency features</a:t>
            </a:r>
          </a:p>
        </p:txBody>
      </p:sp>
      <p:sp>
        <p:nvSpPr>
          <p:cNvPr id="16" name="Text 6">
            <a:extLst>
              <a:ext uri="{FF2B5EF4-FFF2-40B4-BE49-F238E27FC236}">
                <a16:creationId xmlns:a16="http://schemas.microsoft.com/office/drawing/2014/main" id="{1716CE67-739D-CC06-66C4-F325D7016217}"/>
              </a:ext>
            </a:extLst>
          </p:cNvPr>
          <p:cNvSpPr/>
          <p:nvPr/>
        </p:nvSpPr>
        <p:spPr>
          <a:xfrm>
            <a:off x="6410025" y="4552773"/>
            <a:ext cx="1501333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GB" sz="1400" noProof="0" dirty="0">
                <a:solidFill>
                  <a:srgbClr val="5F6B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Oscillation power per band, 2-30 Hz</a:t>
            </a:r>
            <a:endParaRPr lang="en-GB" sz="1400" noProof="0" dirty="0"/>
          </a:p>
        </p:txBody>
      </p:sp>
      <p:sp>
        <p:nvSpPr>
          <p:cNvPr id="17" name="Shape 3">
            <a:extLst>
              <a:ext uri="{FF2B5EF4-FFF2-40B4-BE49-F238E27FC236}">
                <a16:creationId xmlns:a16="http://schemas.microsoft.com/office/drawing/2014/main" id="{EFE0B7E6-EDF4-38E6-63C7-69E078D17543}"/>
              </a:ext>
            </a:extLst>
          </p:cNvPr>
          <p:cNvSpPr/>
          <p:nvPr/>
        </p:nvSpPr>
        <p:spPr>
          <a:xfrm>
            <a:off x="8738656" y="3840181"/>
            <a:ext cx="2091640" cy="1901311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GB" noProof="0" dirty="0"/>
          </a:p>
        </p:txBody>
      </p:sp>
      <p:sp>
        <p:nvSpPr>
          <p:cNvPr id="18" name="Text 5">
            <a:extLst>
              <a:ext uri="{FF2B5EF4-FFF2-40B4-BE49-F238E27FC236}">
                <a16:creationId xmlns:a16="http://schemas.microsoft.com/office/drawing/2014/main" id="{4678DC7F-0CE7-8D40-920E-09EFCB18A5BE}"/>
              </a:ext>
            </a:extLst>
          </p:cNvPr>
          <p:cNvSpPr/>
          <p:nvPr/>
        </p:nvSpPr>
        <p:spPr>
          <a:xfrm>
            <a:off x="9058697" y="4049853"/>
            <a:ext cx="14782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GB" b="1" noProof="0" dirty="0"/>
              <a:t>Fréchet distance</a:t>
            </a:r>
          </a:p>
        </p:txBody>
      </p:sp>
      <p:sp>
        <p:nvSpPr>
          <p:cNvPr id="19" name="Text 6">
            <a:extLst>
              <a:ext uri="{FF2B5EF4-FFF2-40B4-BE49-F238E27FC236}">
                <a16:creationId xmlns:a16="http://schemas.microsoft.com/office/drawing/2014/main" id="{02C5DCD9-2360-BE51-752D-63CDFDB5FAAA}"/>
              </a:ext>
            </a:extLst>
          </p:cNvPr>
          <p:cNvSpPr/>
          <p:nvPr/>
        </p:nvSpPr>
        <p:spPr>
          <a:xfrm>
            <a:off x="9058697" y="4552773"/>
            <a:ext cx="1501333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GB" sz="1400" noProof="0" dirty="0">
                <a:solidFill>
                  <a:srgbClr val="5F6B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Compare the two feature distributions</a:t>
            </a:r>
            <a:endParaRPr lang="en-GB" sz="1400" noProof="0" dirty="0"/>
          </a:p>
        </p:txBody>
      </p:sp>
      <p:sp>
        <p:nvSpPr>
          <p:cNvPr id="20" name="Textfeld 19">
            <a:extLst>
              <a:ext uri="{FF2B5EF4-FFF2-40B4-BE49-F238E27FC236}">
                <a16:creationId xmlns:a16="http://schemas.microsoft.com/office/drawing/2014/main" id="{4126C48D-27A9-A357-0A92-1447A56F87B3}"/>
              </a:ext>
            </a:extLst>
          </p:cNvPr>
          <p:cNvSpPr txBox="1"/>
          <p:nvPr/>
        </p:nvSpPr>
        <p:spPr>
          <a:xfrm>
            <a:off x="2884280" y="4507053"/>
            <a:ext cx="606807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200" noProof="0" dirty="0">
                <a:sym typeface="Wingdings" panose="05000000000000000000" pitchFamily="2" charset="2"/>
              </a:rPr>
              <a:t></a:t>
            </a:r>
            <a:endParaRPr lang="en-GB" sz="3200" noProof="0" dirty="0"/>
          </a:p>
        </p:txBody>
      </p:sp>
      <p:sp>
        <p:nvSpPr>
          <p:cNvPr id="22" name="Textfeld 21">
            <a:extLst>
              <a:ext uri="{FF2B5EF4-FFF2-40B4-BE49-F238E27FC236}">
                <a16:creationId xmlns:a16="http://schemas.microsoft.com/office/drawing/2014/main" id="{D9F3F278-4F0A-9D91-FA54-343E5515F69B}"/>
              </a:ext>
            </a:extLst>
          </p:cNvPr>
          <p:cNvSpPr txBox="1"/>
          <p:nvPr/>
        </p:nvSpPr>
        <p:spPr>
          <a:xfrm>
            <a:off x="5532952" y="4516638"/>
            <a:ext cx="606807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200" noProof="0" dirty="0">
                <a:sym typeface="Wingdings" panose="05000000000000000000" pitchFamily="2" charset="2"/>
              </a:rPr>
              <a:t></a:t>
            </a:r>
            <a:endParaRPr lang="en-GB" sz="3200" noProof="0" dirty="0"/>
          </a:p>
        </p:txBody>
      </p:sp>
      <p:sp>
        <p:nvSpPr>
          <p:cNvPr id="23" name="Textfeld 22">
            <a:extLst>
              <a:ext uri="{FF2B5EF4-FFF2-40B4-BE49-F238E27FC236}">
                <a16:creationId xmlns:a16="http://schemas.microsoft.com/office/drawing/2014/main" id="{5110869B-30D4-8338-0D7C-662A8102E49D}"/>
              </a:ext>
            </a:extLst>
          </p:cNvPr>
          <p:cNvSpPr txBox="1"/>
          <p:nvPr/>
        </p:nvSpPr>
        <p:spPr>
          <a:xfrm>
            <a:off x="8164986" y="4507052"/>
            <a:ext cx="606807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200" noProof="0" dirty="0">
                <a:sym typeface="Wingdings" panose="05000000000000000000" pitchFamily="2" charset="2"/>
              </a:rPr>
              <a:t></a:t>
            </a:r>
            <a:endParaRPr lang="en-GB" sz="3200" noProof="0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2DEF1BF3-0B64-7727-A953-C92BCE21236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rtl="0"/>
            <a:r>
              <a:rPr lang="en-GB" noProof="0" dirty="0"/>
              <a:t>Jonas Himmetsberger | Practical Work presentation</a:t>
            </a:r>
          </a:p>
        </p:txBody>
      </p:sp>
      <p:sp>
        <p:nvSpPr>
          <p:cNvPr id="11" name="Foliennummernplatzhalter 10">
            <a:extLst>
              <a:ext uri="{FF2B5EF4-FFF2-40B4-BE49-F238E27FC236}">
                <a16:creationId xmlns:a16="http://schemas.microsoft.com/office/drawing/2014/main" id="{13A5AFB2-E4DA-49D9-109F-DFEA0C3A52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CB1E4CB7-CB13-4810-BF18-BE31AFC64F93}" type="slidenum">
              <a:rPr lang="en-GB" noProof="0" smtClean="0"/>
              <a:t>8</a:t>
            </a:fld>
            <a:endParaRPr lang="en-GB" noProof="0" dirty="0"/>
          </a:p>
        </p:txBody>
      </p:sp>
    </p:spTree>
    <p:extLst>
      <p:ext uri="{BB962C8B-B14F-4D97-AF65-F5344CB8AC3E}">
        <p14:creationId xmlns:p14="http://schemas.microsoft.com/office/powerpoint/2010/main" val="74366945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B8FAA8-F0BF-67DB-CE29-C361B79AC3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el 3">
            <a:extLst>
              <a:ext uri="{FF2B5EF4-FFF2-40B4-BE49-F238E27FC236}">
                <a16:creationId xmlns:a16="http://schemas.microsoft.com/office/drawing/2014/main" id="{CA30878C-8433-6D87-B66E-FE891A4BAE4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24000" y="2407278"/>
            <a:ext cx="9144000" cy="2043444"/>
          </a:xfrm>
        </p:spPr>
        <p:txBody>
          <a:bodyPr>
            <a:normAutofit/>
          </a:bodyPr>
          <a:lstStyle/>
          <a:p>
            <a:r>
              <a:rPr lang="en-GB" sz="6000" noProof="0" dirty="0"/>
              <a:t>Scientific questions </a:t>
            </a:r>
            <a:br>
              <a:rPr lang="en-GB" sz="6000" noProof="0" dirty="0"/>
            </a:br>
            <a:r>
              <a:rPr lang="en-GB" sz="6000" noProof="0" dirty="0"/>
              <a:t>&amp; contribution</a:t>
            </a:r>
          </a:p>
        </p:txBody>
      </p:sp>
      <p:sp>
        <p:nvSpPr>
          <p:cNvPr id="2" name="Fußzeilenplatzhalter 1">
            <a:extLst>
              <a:ext uri="{FF2B5EF4-FFF2-40B4-BE49-F238E27FC236}">
                <a16:creationId xmlns:a16="http://schemas.microsoft.com/office/drawing/2014/main" id="{4EF77E03-714C-06EF-B8EC-81DA6274CC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rtl="0"/>
            <a:r>
              <a:rPr lang="en-GB" noProof="0" dirty="0"/>
              <a:t>Jonas Himmetsberger | Practical Work presentation</a:t>
            </a:r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70F46DDA-8C8E-3593-4BE7-7F9E9A4647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CB1E4CB7-CB13-4810-BF18-BE31AFC64F93}" type="slidenum">
              <a:rPr lang="en-GB" noProof="0" smtClean="0"/>
              <a:pPr rtl="0"/>
              <a:t>9</a:t>
            </a:fld>
            <a:endParaRPr lang="en-GB" sz="1000" noProof="0" dirty="0"/>
          </a:p>
        </p:txBody>
      </p:sp>
    </p:spTree>
    <p:extLst>
      <p:ext uri="{BB962C8B-B14F-4D97-AF65-F5344CB8AC3E}">
        <p14:creationId xmlns:p14="http://schemas.microsoft.com/office/powerpoint/2010/main" val="81639518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el 3">
            <a:extLst>
              <a:ext uri="{FF2B5EF4-FFF2-40B4-BE49-F238E27FC236}">
                <a16:creationId xmlns:a16="http://schemas.microsoft.com/office/drawing/2014/main" id="{3583AE77-C827-8DD5-1444-09CB5B3EE3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Two questions</a:t>
            </a:r>
          </a:p>
        </p:txBody>
      </p:sp>
      <p:sp>
        <p:nvSpPr>
          <p:cNvPr id="5" name="Inhaltsplatzhalter 4">
            <a:extLst>
              <a:ext uri="{FF2B5EF4-FFF2-40B4-BE49-F238E27FC236}">
                <a16:creationId xmlns:a16="http://schemas.microsoft.com/office/drawing/2014/main" id="{C4B22EA2-B804-1EB8-DFD7-168D06078174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1517904" y="3108960"/>
            <a:ext cx="4334256" cy="1828800"/>
          </a:xfrm>
          <a:ln>
            <a:solidFill>
              <a:schemeClr val="tx2">
                <a:lumMod val="50000"/>
                <a:lumOff val="50000"/>
              </a:schemeClr>
            </a:solidFill>
          </a:ln>
        </p:spPr>
        <p:txBody>
          <a:bodyPr/>
          <a:lstStyle/>
          <a:p>
            <a:r>
              <a:rPr lang="en-GB" noProof="0" dirty="0"/>
              <a:t>Architecture</a:t>
            </a:r>
          </a:p>
          <a:p>
            <a:pPr lvl="1"/>
            <a:r>
              <a:rPr lang="en-GB" noProof="0" dirty="0"/>
              <a:t>How does </a:t>
            </a:r>
            <a:r>
              <a:rPr lang="en-GB" noProof="0" dirty="0" err="1"/>
              <a:t>SpikeGPT‘s</a:t>
            </a:r>
            <a:r>
              <a:rPr lang="en-GB" noProof="0" dirty="0"/>
              <a:t> design improve a standard GPT implementation? </a:t>
            </a:r>
          </a:p>
          <a:p>
            <a:pPr lvl="1"/>
            <a:r>
              <a:rPr lang="en-GB" noProof="0" dirty="0"/>
              <a:t>Does a plain, textbook GPT — sinusoidal positions, </a:t>
            </a:r>
            <a:r>
              <a:rPr lang="en-GB" noProof="0" dirty="0" err="1"/>
              <a:t>LayerNorm</a:t>
            </a:r>
            <a:r>
              <a:rPr lang="en-GB" noProof="0" dirty="0"/>
              <a:t>, vanilla attention — reach the same performance?</a:t>
            </a:r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EA0EEE8A-224E-96AA-D7E4-113F1707DD16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6336792" y="3108960"/>
            <a:ext cx="4334256" cy="1828800"/>
          </a:xfrm>
          <a:ln>
            <a:solidFill>
              <a:schemeClr val="tx2">
                <a:lumMod val="50000"/>
                <a:lumOff val="50000"/>
              </a:schemeClr>
            </a:solidFill>
          </a:ln>
        </p:spPr>
        <p:txBody>
          <a:bodyPr/>
          <a:lstStyle/>
          <a:p>
            <a:r>
              <a:rPr lang="en-GB" noProof="0" dirty="0"/>
              <a:t>Evaluation</a:t>
            </a:r>
          </a:p>
          <a:p>
            <a:pPr lvl="1"/>
            <a:r>
              <a:rPr lang="en-GB" noProof="0" dirty="0"/>
              <a:t>How can one measure whether a model is a good/realistic generative model of spiking activity? </a:t>
            </a:r>
          </a:p>
        </p:txBody>
      </p:sp>
      <p:sp>
        <p:nvSpPr>
          <p:cNvPr id="7" name="Text 11">
            <a:extLst>
              <a:ext uri="{FF2B5EF4-FFF2-40B4-BE49-F238E27FC236}">
                <a16:creationId xmlns:a16="http://schemas.microsoft.com/office/drawing/2014/main" id="{8C5B7C58-389E-1FA9-8394-B41AAFB251B9}"/>
              </a:ext>
            </a:extLst>
          </p:cNvPr>
          <p:cNvSpPr/>
          <p:nvPr/>
        </p:nvSpPr>
        <p:spPr>
          <a:xfrm>
            <a:off x="1591056" y="4937760"/>
            <a:ext cx="907084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GB" sz="1600" b="1" noProof="0" dirty="0">
                <a:ea typeface="Calibri" pitchFamily="34" charset="-122"/>
                <a:cs typeface="Calibri" pitchFamily="34" charset="-120"/>
              </a:rPr>
              <a:t>A motivates B:  </a:t>
            </a:r>
            <a:r>
              <a:rPr lang="en-GB" sz="1600" noProof="0" dirty="0">
                <a:ea typeface="Calibri" pitchFamily="34" charset="-122"/>
                <a:cs typeface="Calibri" pitchFamily="34" charset="-120"/>
              </a:rPr>
              <a:t>if both architectures score nearly the same on the usual metrics </a:t>
            </a:r>
            <a:r>
              <a:rPr lang="en-GB" sz="1600" noProof="0" dirty="0">
                <a:ea typeface="Calibri" pitchFamily="34" charset="-122"/>
                <a:cs typeface="Calibri" pitchFamily="34" charset="-120"/>
                <a:sym typeface="Wingdings" panose="05000000000000000000" pitchFamily="2" charset="2"/>
              </a:rPr>
              <a:t> better metrics needed</a:t>
            </a:r>
            <a:endParaRPr lang="en-GB" sz="1600" noProof="0" dirty="0"/>
          </a:p>
        </p:txBody>
      </p:sp>
      <p:sp>
        <p:nvSpPr>
          <p:cNvPr id="8" name="Text 3">
            <a:extLst>
              <a:ext uri="{FF2B5EF4-FFF2-40B4-BE49-F238E27FC236}">
                <a16:creationId xmlns:a16="http://schemas.microsoft.com/office/drawing/2014/main" id="{9929855C-4619-D1AC-4194-0AE58280CB76}"/>
              </a:ext>
            </a:extLst>
          </p:cNvPr>
          <p:cNvSpPr/>
          <p:nvPr/>
        </p:nvSpPr>
        <p:spPr>
          <a:xfrm>
            <a:off x="1568691" y="237744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GB" sz="4000" b="1" noProof="0" dirty="0">
                <a:solidFill>
                  <a:srgbClr val="378AD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</a:t>
            </a:r>
            <a:endParaRPr lang="en-GB" sz="4000" noProof="0" dirty="0"/>
          </a:p>
        </p:txBody>
      </p:sp>
      <p:sp>
        <p:nvSpPr>
          <p:cNvPr id="9" name="Text 7">
            <a:extLst>
              <a:ext uri="{FF2B5EF4-FFF2-40B4-BE49-F238E27FC236}">
                <a16:creationId xmlns:a16="http://schemas.microsoft.com/office/drawing/2014/main" id="{7AE9E203-D34F-EC8A-39DA-D4653AD96329}"/>
              </a:ext>
            </a:extLst>
          </p:cNvPr>
          <p:cNvSpPr/>
          <p:nvPr/>
        </p:nvSpPr>
        <p:spPr>
          <a:xfrm>
            <a:off x="6336792" y="237744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GB" sz="4000" b="1" noProof="0" dirty="0">
                <a:solidFill>
                  <a:srgbClr val="1D9E7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</a:t>
            </a:r>
            <a:endParaRPr lang="en-GB" sz="4000" noProof="0" dirty="0"/>
          </a:p>
        </p:txBody>
      </p:sp>
      <p:sp>
        <p:nvSpPr>
          <p:cNvPr id="2" name="Fußzeilenplatzhalter 1">
            <a:extLst>
              <a:ext uri="{FF2B5EF4-FFF2-40B4-BE49-F238E27FC236}">
                <a16:creationId xmlns:a16="http://schemas.microsoft.com/office/drawing/2014/main" id="{A10D4D93-B2CC-9F07-6A89-934D216B0A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rtl="0"/>
            <a:r>
              <a:rPr lang="en-GB" noProof="0" dirty="0"/>
              <a:t>Jonas Himmetsberger | Practical Work presentation</a:t>
            </a:r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0BA99E71-15EA-D578-F90C-319CE7FE2F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CB1E4CB7-CB13-4810-BF18-BE31AFC64F93}" type="slidenum">
              <a:rPr lang="en-GB" noProof="0" smtClean="0"/>
              <a:t>10</a:t>
            </a:fld>
            <a:endParaRPr lang="en-GB" noProof="0" dirty="0"/>
          </a:p>
        </p:txBody>
      </p:sp>
    </p:spTree>
    <p:extLst>
      <p:ext uri="{BB962C8B-B14F-4D97-AF65-F5344CB8AC3E}">
        <p14:creationId xmlns:p14="http://schemas.microsoft.com/office/powerpoint/2010/main" val="20229983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el 4">
            <a:extLst>
              <a:ext uri="{FF2B5EF4-FFF2-40B4-BE49-F238E27FC236}">
                <a16:creationId xmlns:a16="http://schemas.microsoft.com/office/drawing/2014/main" id="{8D0E7BA4-6CDE-22B6-4899-987F2304FF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58952" y="1517904"/>
            <a:ext cx="10549128" cy="928413"/>
          </a:xfrm>
        </p:spPr>
        <p:txBody>
          <a:bodyPr>
            <a:normAutofit/>
          </a:bodyPr>
          <a:lstStyle/>
          <a:p>
            <a:r>
              <a:rPr lang="en-GB" noProof="0" dirty="0" err="1"/>
              <a:t>SpikeGPT</a:t>
            </a:r>
            <a:r>
              <a:rPr lang="en-GB" noProof="0" dirty="0"/>
              <a:t> vs default GPT</a:t>
            </a:r>
            <a:br>
              <a:rPr lang="en-GB" noProof="0" dirty="0"/>
            </a:br>
            <a:r>
              <a:rPr lang="en-GB" sz="1800" noProof="0" dirty="0">
                <a:latin typeface="+mn-lt"/>
              </a:rPr>
              <a:t>Identical training setup/</a:t>
            </a:r>
            <a:r>
              <a:rPr lang="en-GB" sz="1800" noProof="0" dirty="0" err="1">
                <a:latin typeface="+mn-lt"/>
              </a:rPr>
              <a:t>hyperparams</a:t>
            </a:r>
            <a:endParaRPr lang="en-GB" noProof="0" dirty="0">
              <a:latin typeface="+mn-lt"/>
            </a:endParaRPr>
          </a:p>
        </p:txBody>
      </p:sp>
      <p:graphicFrame>
        <p:nvGraphicFramePr>
          <p:cNvPr id="7" name="Inhaltsplatzhalter 6">
            <a:extLst>
              <a:ext uri="{FF2B5EF4-FFF2-40B4-BE49-F238E27FC236}">
                <a16:creationId xmlns:a16="http://schemas.microsoft.com/office/drawing/2014/main" id="{1ED25965-6C14-6350-BAF6-48F25524BB2B}"/>
              </a:ext>
            </a:extLst>
          </p:cNvPr>
          <p:cNvGraphicFramePr>
            <a:graphicFrameLocks noGrp="1"/>
          </p:cNvGraphicFramePr>
          <p:nvPr>
            <p:ph sz="quarter" idx="13"/>
            <p:extLst>
              <p:ext uri="{D42A27DB-BD31-4B8C-83A1-F6EECF244321}">
                <p14:modId xmlns:p14="http://schemas.microsoft.com/office/powerpoint/2010/main" val="3761803727"/>
              </p:ext>
            </p:extLst>
          </p:nvPr>
        </p:nvGraphicFramePr>
        <p:xfrm>
          <a:off x="758952" y="2719449"/>
          <a:ext cx="10549128" cy="3325092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3516376">
                  <a:extLst>
                    <a:ext uri="{9D8B030D-6E8A-4147-A177-3AD203B41FA5}">
                      <a16:colId xmlns:a16="http://schemas.microsoft.com/office/drawing/2014/main" val="805815273"/>
                    </a:ext>
                  </a:extLst>
                </a:gridCol>
                <a:gridCol w="3516376">
                  <a:extLst>
                    <a:ext uri="{9D8B030D-6E8A-4147-A177-3AD203B41FA5}">
                      <a16:colId xmlns:a16="http://schemas.microsoft.com/office/drawing/2014/main" val="445929521"/>
                    </a:ext>
                  </a:extLst>
                </a:gridCol>
                <a:gridCol w="3516376">
                  <a:extLst>
                    <a:ext uri="{9D8B030D-6E8A-4147-A177-3AD203B41FA5}">
                      <a16:colId xmlns:a16="http://schemas.microsoft.com/office/drawing/2014/main" val="1910931594"/>
                    </a:ext>
                  </a:extLst>
                </a:gridCol>
              </a:tblGrid>
              <a:tr h="554182">
                <a:tc>
                  <a:txBody>
                    <a:bodyPr/>
                    <a:lstStyle/>
                    <a:p>
                      <a:endParaRPr lang="en-GB" noProof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noProof="0" dirty="0"/>
                        <a:t>Default GPT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noProof="0" dirty="0" err="1"/>
                        <a:t>SpikeGPT</a:t>
                      </a:r>
                      <a:endParaRPr lang="en-GB" noProof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91228178"/>
                  </a:ext>
                </a:extLst>
              </a:tr>
              <a:tr h="55418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GB" sz="1400" noProof="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Positional encoding</a:t>
                      </a:r>
                      <a:endParaRPr lang="en-GB" sz="1400" noProof="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GB" sz="1400" noProof="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Sinusoidal, added once</a:t>
                      </a:r>
                      <a:endParaRPr lang="en-GB" sz="1400" noProof="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GB" sz="1400" noProof="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Rotary (</a:t>
                      </a:r>
                      <a:r>
                        <a:rPr lang="en-GB" sz="1400" noProof="0" dirty="0" err="1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RoPE</a:t>
                      </a:r>
                      <a:r>
                        <a:rPr lang="en-GB" sz="1400" noProof="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), per layer</a:t>
                      </a:r>
                      <a:endParaRPr lang="en-GB" sz="1400" noProof="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27440642"/>
                  </a:ext>
                </a:extLst>
              </a:tr>
              <a:tr h="55418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GB" sz="1400" noProof="0" dirty="0">
                          <a:solidFill>
                            <a:srgbClr val="2C3A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Attention</a:t>
                      </a:r>
                      <a:endParaRPr lang="en-GB" sz="1400" noProof="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GB" sz="1400" noProof="0" dirty="0">
                          <a:solidFill>
                            <a:srgbClr val="2C3A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Scaled dot-product (</a:t>
                      </a:r>
                      <a:r>
                        <a:rPr lang="en-GB" sz="1400" noProof="0" dirty="0" err="1">
                          <a:solidFill>
                            <a:srgbClr val="2C3A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matmul</a:t>
                      </a:r>
                      <a:r>
                        <a:rPr lang="en-GB" sz="1400" noProof="0" dirty="0">
                          <a:solidFill>
                            <a:srgbClr val="2C3A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)</a:t>
                      </a:r>
                      <a:endParaRPr lang="en-GB" sz="1400" noProof="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GB" sz="1400" noProof="0" dirty="0" err="1">
                          <a:solidFill>
                            <a:srgbClr val="2C3A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FlexAttention</a:t>
                      </a:r>
                      <a:endParaRPr lang="en-GB" sz="1400" noProof="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871654538"/>
                  </a:ext>
                </a:extLst>
              </a:tr>
              <a:tr h="55418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GB" sz="1400" noProof="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Normalization</a:t>
                      </a:r>
                      <a:endParaRPr lang="en-GB" sz="1400" noProof="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GB" sz="1400" noProof="0" dirty="0" err="1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LayerNorm</a:t>
                      </a:r>
                      <a:endParaRPr lang="en-GB" sz="1400" noProof="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GB" sz="1400" noProof="0" dirty="0" err="1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RMSNorm</a:t>
                      </a:r>
                      <a:endParaRPr lang="en-GB" sz="1400" noProof="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723014468"/>
                  </a:ext>
                </a:extLst>
              </a:tr>
              <a:tr h="55418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GB" sz="1400" noProof="0" dirty="0">
                          <a:solidFill>
                            <a:srgbClr val="2C3A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QK normalization</a:t>
                      </a:r>
                      <a:endParaRPr lang="en-GB" sz="1400" noProof="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GB" sz="1400" noProof="0" dirty="0">
                          <a:solidFill>
                            <a:srgbClr val="2C3A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None</a:t>
                      </a:r>
                      <a:endParaRPr lang="en-GB" sz="1400" noProof="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GB" sz="1400" noProof="0" dirty="0">
                          <a:solidFill>
                            <a:srgbClr val="2C3A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QK-</a:t>
                      </a:r>
                      <a:r>
                        <a:rPr lang="en-GB" sz="1400" noProof="0" dirty="0" err="1">
                          <a:solidFill>
                            <a:srgbClr val="2C3A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RMSNorm</a:t>
                      </a:r>
                      <a:r>
                        <a:rPr lang="en-GB" sz="1400" noProof="0" dirty="0">
                          <a:solidFill>
                            <a:srgbClr val="2C3A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before </a:t>
                      </a:r>
                      <a:r>
                        <a:rPr lang="en-GB" sz="1400" noProof="0" dirty="0" err="1">
                          <a:solidFill>
                            <a:srgbClr val="2C3A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RoPE</a:t>
                      </a:r>
                      <a:endParaRPr lang="en-GB" sz="1400" noProof="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392961293"/>
                  </a:ext>
                </a:extLst>
              </a:tr>
              <a:tr h="55418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GB" sz="1400" noProof="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Output projection</a:t>
                      </a:r>
                      <a:endParaRPr lang="en-GB" sz="1400" noProof="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GB" sz="1400" noProof="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Standard </a:t>
                      </a:r>
                      <a:r>
                        <a:rPr lang="en-GB" sz="1400" noProof="0" dirty="0" err="1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init</a:t>
                      </a:r>
                      <a:endParaRPr lang="en-GB" sz="1400" noProof="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GB" sz="1400" noProof="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Zero-initialized</a:t>
                      </a:r>
                      <a:endParaRPr lang="en-GB" sz="1400" noProof="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536008991"/>
                  </a:ext>
                </a:extLst>
              </a:tr>
            </a:tbl>
          </a:graphicData>
        </a:graphic>
      </p:graphicFrame>
      <p:sp>
        <p:nvSpPr>
          <p:cNvPr id="2" name="Fußzeilenplatzhalter 1">
            <a:extLst>
              <a:ext uri="{FF2B5EF4-FFF2-40B4-BE49-F238E27FC236}">
                <a16:creationId xmlns:a16="http://schemas.microsoft.com/office/drawing/2014/main" id="{CE3D2F93-4954-292C-A0A0-912E7F3F50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rtl="0"/>
            <a:r>
              <a:rPr lang="en-GB" noProof="0" dirty="0"/>
              <a:t>Jonas Himmetsberger | Practical Work presentation</a:t>
            </a:r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F91AC429-89CB-E7AB-5801-9E9DC68E69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CB1E4CB7-CB13-4810-BF18-BE31AFC64F93}" type="slidenum">
              <a:rPr lang="en-GB" noProof="0" smtClean="0"/>
              <a:t>11</a:t>
            </a:fld>
            <a:endParaRPr lang="en-GB" noProof="0" dirty="0"/>
          </a:p>
        </p:txBody>
      </p:sp>
    </p:spTree>
    <p:extLst>
      <p:ext uri="{BB962C8B-B14F-4D97-AF65-F5344CB8AC3E}">
        <p14:creationId xmlns:p14="http://schemas.microsoft.com/office/powerpoint/2010/main" val="137106820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52EB17-8304-7AE7-269E-1B63F06F29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el 3">
            <a:extLst>
              <a:ext uri="{FF2B5EF4-FFF2-40B4-BE49-F238E27FC236}">
                <a16:creationId xmlns:a16="http://schemas.microsoft.com/office/drawing/2014/main" id="{FD073DBB-CD3F-BD16-20D9-EA97268E63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24000" y="2407278"/>
            <a:ext cx="9144000" cy="2043444"/>
          </a:xfrm>
        </p:spPr>
        <p:txBody>
          <a:bodyPr>
            <a:normAutofit/>
          </a:bodyPr>
          <a:lstStyle/>
          <a:p>
            <a:r>
              <a:rPr lang="en-GB" sz="6000" noProof="0" dirty="0"/>
              <a:t>Results</a:t>
            </a:r>
          </a:p>
        </p:txBody>
      </p:sp>
      <p:sp>
        <p:nvSpPr>
          <p:cNvPr id="2" name="Fußzeilenplatzhalter 1">
            <a:extLst>
              <a:ext uri="{FF2B5EF4-FFF2-40B4-BE49-F238E27FC236}">
                <a16:creationId xmlns:a16="http://schemas.microsoft.com/office/drawing/2014/main" id="{ABDD7103-DF6B-2743-8A5A-4CB2ECFFD7D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rtl="0"/>
            <a:r>
              <a:rPr lang="en-GB" noProof="0" dirty="0"/>
              <a:t>Jonas Himmetsberger | Practical Work presentation</a:t>
            </a:r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D09AEA90-04B3-DAF3-1B92-CA5648858F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CB1E4CB7-CB13-4810-BF18-BE31AFC64F93}" type="slidenum">
              <a:rPr lang="en-GB" noProof="0" smtClean="0"/>
              <a:pPr rtl="0"/>
              <a:t>12</a:t>
            </a:fld>
            <a:endParaRPr lang="en-GB" sz="1000" noProof="0" dirty="0"/>
          </a:p>
        </p:txBody>
      </p:sp>
    </p:spTree>
    <p:extLst>
      <p:ext uri="{BB962C8B-B14F-4D97-AF65-F5344CB8AC3E}">
        <p14:creationId xmlns:p14="http://schemas.microsoft.com/office/powerpoint/2010/main" val="263646252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el 3">
            <a:extLst>
              <a:ext uri="{FF2B5EF4-FFF2-40B4-BE49-F238E27FC236}">
                <a16:creationId xmlns:a16="http://schemas.microsoft.com/office/drawing/2014/main" id="{821EE98B-E02F-E857-B12E-3F15BF2397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58952" y="1517904"/>
            <a:ext cx="7755656" cy="1911096"/>
          </a:xfrm>
        </p:spPr>
        <p:txBody>
          <a:bodyPr/>
          <a:lstStyle/>
          <a:p>
            <a:r>
              <a:rPr lang="en-GB" noProof="0" dirty="0"/>
              <a:t>The two architectures  are close</a:t>
            </a:r>
            <a:br>
              <a:rPr lang="en-GB" noProof="0" dirty="0"/>
            </a:br>
            <a:r>
              <a:rPr lang="en-GB" sz="1600" noProof="0" dirty="0">
                <a:latin typeface="+mn-lt"/>
              </a:rPr>
              <a:t>RESULT A: DISCRIMINATIVE</a:t>
            </a:r>
            <a:endParaRPr lang="en-GB" noProof="0" dirty="0">
              <a:latin typeface="+mn-lt"/>
            </a:endParaRPr>
          </a:p>
        </p:txBody>
      </p:sp>
      <p:sp>
        <p:nvSpPr>
          <p:cNvPr id="5" name="Inhaltsplatzhalter 4">
            <a:extLst>
              <a:ext uri="{FF2B5EF4-FFF2-40B4-BE49-F238E27FC236}">
                <a16:creationId xmlns:a16="http://schemas.microsoft.com/office/drawing/2014/main" id="{8BB63FDF-33F8-973A-5EBA-380C3225D0F5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7547918" y="2737406"/>
            <a:ext cx="3231988" cy="1911096"/>
          </a:xfrm>
        </p:spPr>
        <p:txBody>
          <a:bodyPr>
            <a:normAutofit fontScale="92500" lnSpcReduction="10000"/>
          </a:bodyPr>
          <a:lstStyle/>
          <a:p>
            <a:r>
              <a:rPr lang="en-GB" noProof="0" dirty="0"/>
              <a:t>~ equal Spike F1 (0.27)</a:t>
            </a:r>
          </a:p>
          <a:p>
            <a:r>
              <a:rPr lang="en-GB" noProof="0" dirty="0"/>
              <a:t>~ equal Behaviour R</a:t>
            </a:r>
            <a:r>
              <a:rPr lang="en-GB" baseline="30000" noProof="0" dirty="0"/>
              <a:t>2</a:t>
            </a:r>
            <a:r>
              <a:rPr lang="en-GB" noProof="0" dirty="0"/>
              <a:t> (0.8/0.55)</a:t>
            </a:r>
          </a:p>
          <a:p>
            <a:r>
              <a:rPr lang="en-GB" noProof="0" dirty="0"/>
              <a:t>Classification accuracy (0.5 vs 0.4)</a:t>
            </a:r>
          </a:p>
          <a:p>
            <a:pPr lvl="1"/>
            <a:r>
              <a:rPr lang="en-GB" noProof="0" dirty="0" err="1"/>
              <a:t>SpikeGPT</a:t>
            </a:r>
            <a:r>
              <a:rPr lang="en-GB" noProof="0" dirty="0"/>
              <a:t> converges faster</a:t>
            </a:r>
          </a:p>
        </p:txBody>
      </p:sp>
      <p:pic>
        <p:nvPicPr>
          <p:cNvPr id="8" name="Grafik 7">
            <a:extLst>
              <a:ext uri="{FF2B5EF4-FFF2-40B4-BE49-F238E27FC236}">
                <a16:creationId xmlns:a16="http://schemas.microsoft.com/office/drawing/2014/main" id="{712B677F-4201-980B-6D44-834B4D6133C0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10778"/>
          <a:stretch>
            <a:fillRect/>
          </a:stretch>
        </p:blipFill>
        <p:spPr>
          <a:xfrm>
            <a:off x="432262" y="2519925"/>
            <a:ext cx="6645432" cy="4137891"/>
          </a:xfrm>
          <a:prstGeom prst="rect">
            <a:avLst/>
          </a:prstGeom>
        </p:spPr>
      </p:pic>
      <p:sp>
        <p:nvSpPr>
          <p:cNvPr id="9" name="Textfeld 8">
            <a:extLst>
              <a:ext uri="{FF2B5EF4-FFF2-40B4-BE49-F238E27FC236}">
                <a16:creationId xmlns:a16="http://schemas.microsoft.com/office/drawing/2014/main" id="{6AA141EB-EC63-36AC-CC62-824980F8B4E4}"/>
              </a:ext>
            </a:extLst>
          </p:cNvPr>
          <p:cNvSpPr txBox="1"/>
          <p:nvPr/>
        </p:nvSpPr>
        <p:spPr>
          <a:xfrm>
            <a:off x="7547918" y="4821382"/>
            <a:ext cx="3401131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noProof="0" dirty="0">
                <a:sym typeface="Wingdings" panose="05000000000000000000" pitchFamily="2" charset="2"/>
              </a:rPr>
              <a:t> Those metrics barely separate the two models =&gt; generative metric is needed</a:t>
            </a:r>
            <a:endParaRPr lang="en-GB" noProof="0" dirty="0"/>
          </a:p>
        </p:txBody>
      </p:sp>
      <p:sp>
        <p:nvSpPr>
          <p:cNvPr id="2" name="Fußzeilenplatzhalter 1">
            <a:extLst>
              <a:ext uri="{FF2B5EF4-FFF2-40B4-BE49-F238E27FC236}">
                <a16:creationId xmlns:a16="http://schemas.microsoft.com/office/drawing/2014/main" id="{77DAC185-C8ED-87E1-27B0-7FBF14354D1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rtl="0"/>
            <a:r>
              <a:rPr lang="en-GB" noProof="0" dirty="0"/>
              <a:t>Jonas Himmetsberger | Practical Work presentation</a:t>
            </a:r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53415064-845A-A633-9241-7151AD8F90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CB1E4CB7-CB13-4810-BF18-BE31AFC64F93}" type="slidenum">
              <a:rPr lang="en-GB" noProof="0" smtClean="0"/>
              <a:t>13</a:t>
            </a:fld>
            <a:endParaRPr lang="en-GB" noProof="0" dirty="0"/>
          </a:p>
        </p:txBody>
      </p:sp>
    </p:spTree>
    <p:extLst>
      <p:ext uri="{BB962C8B-B14F-4D97-AF65-F5344CB8AC3E}">
        <p14:creationId xmlns:p14="http://schemas.microsoft.com/office/powerpoint/2010/main" val="348240672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A9CE1A6-2CC8-0470-DA9C-8AD162AE46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Brain FID</a:t>
            </a:r>
            <a:br>
              <a:rPr lang="en-GB" noProof="0" dirty="0"/>
            </a:br>
            <a:r>
              <a:rPr lang="en-GB" sz="1800" noProof="0" dirty="0">
                <a:latin typeface="+mn-lt"/>
              </a:rPr>
              <a:t>RESULT B: GENERATIVE</a:t>
            </a:r>
            <a:br>
              <a:rPr lang="en-GB" noProof="0" dirty="0"/>
            </a:br>
            <a:endParaRPr lang="en-GB" noProof="0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7D4BB50D-3AA5-C8AD-19EC-9ADFC17E04DA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758952" y="3132948"/>
            <a:ext cx="10391978" cy="1911096"/>
          </a:xfrm>
        </p:spPr>
        <p:txBody>
          <a:bodyPr/>
          <a:lstStyle/>
          <a:p>
            <a:r>
              <a:rPr lang="en-GB" noProof="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Global FID between real and generated activity (44 brain areas, 1000 windows each, 25% context)</a:t>
            </a:r>
          </a:p>
          <a:p>
            <a:r>
              <a:rPr lang="en-GB" noProof="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Default GPT: 19.3</a:t>
            </a:r>
          </a:p>
          <a:p>
            <a:r>
              <a:rPr lang="en-GB" noProof="0" dirty="0" err="1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SpikeGPT</a:t>
            </a:r>
            <a:r>
              <a:rPr lang="en-GB" noProof="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24.6</a:t>
            </a:r>
          </a:p>
          <a:p>
            <a:r>
              <a:rPr lang="en-GB" noProof="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Similar to result A</a:t>
            </a:r>
            <a:endParaRPr lang="en-GB" noProof="0" dirty="0"/>
          </a:p>
          <a:p>
            <a:endParaRPr lang="en-GB" noProof="0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DBD905D7-855C-4108-8EA9-B46453A4A9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rtl="0"/>
            <a:r>
              <a:rPr lang="en-GB" noProof="0" dirty="0"/>
              <a:t>Jonas Himmetsberger | Practical Work presentation</a:t>
            </a:r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426B6F51-CB71-F4A7-0DAA-DADED3213C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CB1E4CB7-CB13-4810-BF18-BE31AFC64F93}" type="slidenum">
              <a:rPr lang="en-GB" noProof="0" smtClean="0"/>
              <a:t>14</a:t>
            </a:fld>
            <a:endParaRPr lang="en-GB" noProof="0" dirty="0"/>
          </a:p>
        </p:txBody>
      </p:sp>
    </p:spTree>
    <p:extLst>
      <p:ext uri="{BB962C8B-B14F-4D97-AF65-F5344CB8AC3E}">
        <p14:creationId xmlns:p14="http://schemas.microsoft.com/office/powerpoint/2010/main" val="190950613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788911B-013A-8BDD-5F51-CB9AFE94199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58952" y="1517904"/>
            <a:ext cx="10680192" cy="1911096"/>
          </a:xfrm>
        </p:spPr>
        <p:txBody>
          <a:bodyPr>
            <a:normAutofit/>
          </a:bodyPr>
          <a:lstStyle/>
          <a:p>
            <a:r>
              <a:rPr lang="en-GB" noProof="0" dirty="0"/>
              <a:t>Does the metric actually work?</a:t>
            </a:r>
            <a:br>
              <a:rPr lang="en-GB" noProof="0" dirty="0"/>
            </a:br>
            <a:r>
              <a:rPr lang="en-GB" sz="2000" noProof="0" dirty="0">
                <a:latin typeface="+mn-lt"/>
              </a:rPr>
              <a:t>Before trusting the comparison, I did a sanity check </a:t>
            </a:r>
            <a:br>
              <a:rPr lang="en-GB" sz="2000" noProof="0" dirty="0">
                <a:latin typeface="+mn-lt"/>
              </a:rPr>
            </a:br>
            <a:r>
              <a:rPr lang="en-GB" sz="2000" noProof="0" dirty="0">
                <a:latin typeface="+mn-lt"/>
              </a:rPr>
              <a:t>(destroying the structure in the real data and check how metrics react)</a:t>
            </a:r>
            <a:endParaRPr lang="en-GB" noProof="0" dirty="0">
              <a:latin typeface="+mn-lt"/>
            </a:endParaRP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79B24539-696C-8959-9D7D-F863ECE8F140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7552706" y="3123210"/>
            <a:ext cx="3758422" cy="3122142"/>
          </a:xfrm>
        </p:spPr>
        <p:txBody>
          <a:bodyPr/>
          <a:lstStyle/>
          <a:p>
            <a:r>
              <a:rPr lang="en-GB" noProof="0" dirty="0"/>
              <a:t>Metric detects population structure</a:t>
            </a:r>
          </a:p>
          <a:p>
            <a:pPr lvl="1"/>
            <a:r>
              <a:rPr lang="en-GB" noProof="0" dirty="0"/>
              <a:t>Shuffling Neurons across areas </a:t>
            </a:r>
            <a:r>
              <a:rPr lang="en-GB" noProof="0" dirty="0">
                <a:sym typeface="Wingdings" panose="05000000000000000000" pitchFamily="2" charset="2"/>
              </a:rPr>
              <a:t>=&gt; </a:t>
            </a:r>
            <a:br>
              <a:rPr lang="en-GB" noProof="0" dirty="0">
                <a:sym typeface="Wingdings" panose="05000000000000000000" pitchFamily="2" charset="2"/>
              </a:rPr>
            </a:br>
            <a:r>
              <a:rPr lang="en-GB" noProof="0" dirty="0">
                <a:sym typeface="Wingdings" panose="05000000000000000000" pitchFamily="2" charset="2"/>
              </a:rPr>
              <a:t>FID 7  49</a:t>
            </a:r>
          </a:p>
          <a:p>
            <a:r>
              <a:rPr lang="en-GB" noProof="0" dirty="0"/>
              <a:t>Metric does not detect temporal structure</a:t>
            </a:r>
          </a:p>
          <a:p>
            <a:pPr lvl="1"/>
            <a:r>
              <a:rPr lang="en-GB" noProof="0" dirty="0"/>
              <a:t>Time shuffling =&gt; FID 7 </a:t>
            </a:r>
            <a:r>
              <a:rPr lang="en-GB" noProof="0" dirty="0">
                <a:sym typeface="Wingdings" panose="05000000000000000000" pitchFamily="2" charset="2"/>
              </a:rPr>
              <a:t> 8</a:t>
            </a:r>
          </a:p>
          <a:p>
            <a:pPr lvl="1"/>
            <a:r>
              <a:rPr lang="en-GB" noProof="0" dirty="0">
                <a:sym typeface="Wingdings" panose="05000000000000000000" pitchFamily="2" charset="2"/>
              </a:rPr>
              <a:t>The frequency features, averaged over areas, are nearly invariant to temporal shuffle</a:t>
            </a:r>
            <a:endParaRPr lang="en-GB" noProof="0" dirty="0"/>
          </a:p>
        </p:txBody>
      </p:sp>
      <p:graphicFrame>
        <p:nvGraphicFramePr>
          <p:cNvPr id="6" name="Chart 0">
            <a:extLst>
              <a:ext uri="{FF2B5EF4-FFF2-40B4-BE49-F238E27FC236}">
                <a16:creationId xmlns:a16="http://schemas.microsoft.com/office/drawing/2014/main" id="{54EFCAB2-4BC9-C302-3589-A4D238258F72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002932658"/>
              </p:ext>
            </p:extLst>
          </p:nvPr>
        </p:nvGraphicFramePr>
        <p:xfrm>
          <a:off x="752856" y="2984269"/>
          <a:ext cx="6035040" cy="356616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2D9F5C7E-B561-2FEA-2A9F-F852EFEADE0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rtl="0"/>
            <a:r>
              <a:rPr lang="en-GB" noProof="0" dirty="0"/>
              <a:t>Jonas Himmetsberger | Practical Work presentation</a:t>
            </a:r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602292F7-DD0D-86D6-5D70-BF95193708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CB1E4CB7-CB13-4810-BF18-BE31AFC64F93}" type="slidenum">
              <a:rPr lang="en-GB" noProof="0" smtClean="0"/>
              <a:t>15</a:t>
            </a:fld>
            <a:endParaRPr lang="en-GB" noProof="0" dirty="0"/>
          </a:p>
        </p:txBody>
      </p:sp>
    </p:spTree>
    <p:extLst>
      <p:ext uri="{BB962C8B-B14F-4D97-AF65-F5344CB8AC3E}">
        <p14:creationId xmlns:p14="http://schemas.microsoft.com/office/powerpoint/2010/main" val="307497755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B713CD4-7135-5A8A-C44C-9C22078930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Distributions overlapped</a:t>
            </a:r>
            <a:br>
              <a:rPr lang="en-GB" noProof="0" dirty="0"/>
            </a:br>
            <a:r>
              <a:rPr lang="en-GB" sz="1800" noProof="0" dirty="0">
                <a:latin typeface="+mn-lt"/>
              </a:rPr>
              <a:t>VISUALIZATION</a:t>
            </a:r>
            <a:endParaRPr lang="en-GB" noProof="0" dirty="0">
              <a:latin typeface="+mn-lt"/>
            </a:endParaRP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9D79A53E-75A0-285E-D0B0-EBAAF075A205}"/>
              </a:ext>
            </a:extLst>
          </p:cNvPr>
          <p:cNvSpPr>
            <a:spLocks noGrp="1"/>
          </p:cNvSpPr>
          <p:nvPr>
            <p:ph sz="quarter" idx="14"/>
          </p:nvPr>
        </p:nvSpPr>
        <p:spPr/>
        <p:txBody>
          <a:bodyPr/>
          <a:lstStyle/>
          <a:p>
            <a:r>
              <a:rPr lang="en-GB" noProof="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(blue) vs generated (red) feature clouds, projected to 2D</a:t>
            </a:r>
          </a:p>
          <a:p>
            <a:r>
              <a:rPr lang="en-GB" noProof="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overlap = realistic</a:t>
            </a:r>
          </a:p>
          <a:p>
            <a:r>
              <a:rPr lang="en-GB" noProof="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separation or collapse = fail</a:t>
            </a:r>
            <a:endParaRPr lang="en-GB" noProof="0" dirty="0"/>
          </a:p>
        </p:txBody>
      </p:sp>
      <p:pic>
        <p:nvPicPr>
          <p:cNvPr id="6" name="Grafik 5">
            <a:extLst>
              <a:ext uri="{FF2B5EF4-FFF2-40B4-BE49-F238E27FC236}">
                <a16:creationId xmlns:a16="http://schemas.microsoft.com/office/drawing/2014/main" id="{2F2628CA-938E-CA51-B817-DE5378F4DDF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2856" y="3257402"/>
            <a:ext cx="4200698" cy="3600598"/>
          </a:xfrm>
          <a:prstGeom prst="rect">
            <a:avLst/>
          </a:prstGeom>
        </p:spPr>
      </p:pic>
      <p:pic>
        <p:nvPicPr>
          <p:cNvPr id="11" name="Grafik 10">
            <a:extLst>
              <a:ext uri="{FF2B5EF4-FFF2-40B4-BE49-F238E27FC236}">
                <a16:creationId xmlns:a16="http://schemas.microsoft.com/office/drawing/2014/main" id="{94530FB6-E189-6EA5-6021-993A00F5F0F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92951" y="3257401"/>
            <a:ext cx="4200698" cy="3600599"/>
          </a:xfrm>
          <a:prstGeom prst="rect">
            <a:avLst/>
          </a:prstGeom>
        </p:spPr>
      </p:pic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2159E217-C5DA-F221-5F95-C3FD6D3B7A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rtl="0"/>
            <a:r>
              <a:rPr lang="en-GB" noProof="0" dirty="0"/>
              <a:t>Jonas Himmetsberger | Practical Work presentation</a:t>
            </a:r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F4A4DE1F-DCE3-7C52-8793-8EF6971C19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CB1E4CB7-CB13-4810-BF18-BE31AFC64F93}" type="slidenum">
              <a:rPr lang="en-GB" noProof="0" smtClean="0"/>
              <a:t>16</a:t>
            </a:fld>
            <a:endParaRPr lang="en-GB" noProof="0" dirty="0"/>
          </a:p>
        </p:txBody>
      </p:sp>
    </p:spTree>
    <p:extLst>
      <p:ext uri="{BB962C8B-B14F-4D97-AF65-F5344CB8AC3E}">
        <p14:creationId xmlns:p14="http://schemas.microsoft.com/office/powerpoint/2010/main" val="140254176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5E25B4C-F1EA-DC53-1ECC-98A4352CC1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58952" y="1517904"/>
            <a:ext cx="8268670" cy="1911096"/>
          </a:xfrm>
        </p:spPr>
        <p:txBody>
          <a:bodyPr>
            <a:normAutofit/>
          </a:bodyPr>
          <a:lstStyle/>
          <a:p>
            <a:r>
              <a:rPr lang="en-GB" noProof="0" dirty="0"/>
              <a:t>Big </a:t>
            </a:r>
            <a:r>
              <a:rPr lang="en-GB" noProof="0" dirty="0" err="1"/>
              <a:t>variaity</a:t>
            </a:r>
            <a:r>
              <a:rPr lang="en-GB" noProof="0" dirty="0"/>
              <a:t> between sessions</a:t>
            </a:r>
            <a:br>
              <a:rPr lang="en-GB" noProof="0" dirty="0"/>
            </a:br>
            <a:r>
              <a:rPr lang="en-GB" sz="1800" noProof="0" dirty="0">
                <a:latin typeface="+mn-lt"/>
              </a:rPr>
              <a:t>PER SESSION COMPARISON</a:t>
            </a:r>
            <a:endParaRPr lang="en-GB" noProof="0" dirty="0">
              <a:latin typeface="+mn-lt"/>
            </a:endParaRP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67EB32B7-9FE9-B9C8-F1D0-30BC4009DA2F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8362604" y="3230326"/>
            <a:ext cx="3070444" cy="3037470"/>
          </a:xfrm>
        </p:spPr>
        <p:txBody>
          <a:bodyPr/>
          <a:lstStyle/>
          <a:p>
            <a:r>
              <a:rPr lang="en-GB" noProof="0" dirty="0"/>
              <a:t>Easiest sessions for both models: Session 5&amp;20</a:t>
            </a:r>
          </a:p>
          <a:p>
            <a:r>
              <a:rPr lang="en-GB" noProof="0" dirty="0"/>
              <a:t>Hardest Session: S16</a:t>
            </a:r>
          </a:p>
          <a:p>
            <a:r>
              <a:rPr lang="en-GB" noProof="0" dirty="0"/>
              <a:t>Why values so much higher than global FID? (~20)</a:t>
            </a:r>
          </a:p>
          <a:p>
            <a:r>
              <a:rPr lang="en-GB" noProof="0" dirty="0"/>
              <a:t>Why huge discrepancy?</a:t>
            </a:r>
          </a:p>
          <a:p>
            <a:endParaRPr lang="en-GB" noProof="0" dirty="0"/>
          </a:p>
        </p:txBody>
      </p:sp>
      <p:graphicFrame>
        <p:nvGraphicFramePr>
          <p:cNvPr id="7" name="Diagramm 6">
            <a:extLst>
              <a:ext uri="{FF2B5EF4-FFF2-40B4-BE49-F238E27FC236}">
                <a16:creationId xmlns:a16="http://schemas.microsoft.com/office/drawing/2014/main" id="{0AA38EF4-8F52-8BD7-3869-B98B21DEA5B6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369751638"/>
              </p:ext>
            </p:extLst>
          </p:nvPr>
        </p:nvGraphicFramePr>
        <p:xfrm>
          <a:off x="580822" y="2603665"/>
          <a:ext cx="7623048" cy="396339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5E43E9A4-2D5C-234C-00D0-A63CEF49E0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rtl="0"/>
            <a:r>
              <a:rPr lang="en-GB" noProof="0" dirty="0"/>
              <a:t>Jonas Himmetsberger | Practical Work presentation</a:t>
            </a:r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1BECCB8D-7DA6-A15E-085F-C274796DB5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CB1E4CB7-CB13-4810-BF18-BE31AFC64F93}" type="slidenum">
              <a:rPr lang="en-GB" noProof="0" smtClean="0"/>
              <a:t>17</a:t>
            </a:fld>
            <a:endParaRPr lang="en-GB" noProof="0" dirty="0"/>
          </a:p>
        </p:txBody>
      </p:sp>
    </p:spTree>
    <p:extLst>
      <p:ext uri="{BB962C8B-B14F-4D97-AF65-F5344CB8AC3E}">
        <p14:creationId xmlns:p14="http://schemas.microsoft.com/office/powerpoint/2010/main" val="258279770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554428C-F47F-928C-A7D4-3B4FCB20A8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What this thesis contributes</a:t>
            </a:r>
            <a:br>
              <a:rPr lang="en-GB" noProof="0" dirty="0"/>
            </a:br>
            <a:r>
              <a:rPr lang="en-GB" sz="1800" noProof="0" dirty="0">
                <a:latin typeface="+mn-lt"/>
              </a:rPr>
              <a:t>SUMMARY</a:t>
            </a:r>
            <a:endParaRPr lang="en-GB" noProof="0" dirty="0">
              <a:latin typeface="+mn-lt"/>
            </a:endParaRPr>
          </a:p>
        </p:txBody>
      </p:sp>
      <p:sp>
        <p:nvSpPr>
          <p:cNvPr id="7" name="Inhaltsplatzhalter 6">
            <a:extLst>
              <a:ext uri="{FF2B5EF4-FFF2-40B4-BE49-F238E27FC236}">
                <a16:creationId xmlns:a16="http://schemas.microsoft.com/office/drawing/2014/main" id="{F9B90310-E7FF-EB48-2909-B74FAD60C28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GB" noProof="0" dirty="0"/>
              <a:t>A controlled architecture comparison</a:t>
            </a:r>
          </a:p>
          <a:p>
            <a:pPr lvl="1"/>
            <a:r>
              <a:rPr lang="en-GB" noProof="0" dirty="0" err="1"/>
              <a:t>SpikeGPT</a:t>
            </a:r>
            <a:r>
              <a:rPr lang="en-GB" noProof="0" dirty="0"/>
              <a:t> speeds up classification and training</a:t>
            </a:r>
          </a:p>
          <a:p>
            <a:r>
              <a:rPr lang="en-GB" noProof="0" dirty="0"/>
              <a:t>A generative metric for </a:t>
            </a:r>
            <a:r>
              <a:rPr lang="en-GB" noProof="0" dirty="0" err="1"/>
              <a:t>SpikeGPT</a:t>
            </a:r>
            <a:endParaRPr lang="en-GB" noProof="0" dirty="0"/>
          </a:p>
          <a:p>
            <a:pPr lvl="1"/>
            <a:r>
              <a:rPr lang="en-GB" noProof="0" dirty="0"/>
              <a:t>Brain FID adapts image FID to spikes via area-pooled frequency features</a:t>
            </a:r>
          </a:p>
          <a:p>
            <a:r>
              <a:rPr lang="en-GB" noProof="0" dirty="0"/>
              <a:t>Validation of the metric</a:t>
            </a:r>
          </a:p>
          <a:p>
            <a:pPr lvl="1"/>
            <a:r>
              <a:rPr lang="en-GB" noProof="0" dirty="0"/>
              <a:t>Shuffling of tests shows that the metric captures population structure but not temporal structure</a:t>
            </a:r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3A817E6F-BC3C-F482-22C7-213CF067882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rtl="0"/>
            <a:r>
              <a:rPr lang="en-GB" noProof="0" dirty="0"/>
              <a:t>Jonas Himmetsberger | Practical Work presentation</a:t>
            </a:r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5079C320-B50A-6E93-6D4C-A9FE71FD21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CB1E4CB7-CB13-4810-BF18-BE31AFC64F93}" type="slidenum">
              <a:rPr lang="en-GB" noProof="0" smtClean="0"/>
              <a:t>18</a:t>
            </a:fld>
            <a:endParaRPr lang="en-GB" noProof="0" dirty="0"/>
          </a:p>
        </p:txBody>
      </p:sp>
    </p:spTree>
    <p:extLst>
      <p:ext uri="{BB962C8B-B14F-4D97-AF65-F5344CB8AC3E}">
        <p14:creationId xmlns:p14="http://schemas.microsoft.com/office/powerpoint/2010/main" val="280347613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17F7C8E-3178-C810-2640-28DEB91D19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Future Work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B32645E7-07A4-1141-33D0-64AC68063F4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GB" noProof="0" dirty="0"/>
              <a:t>Fix temporal sensitivity/Make Brain FID react to temporal shuffling</a:t>
            </a:r>
          </a:p>
          <a:p>
            <a:pPr lvl="1"/>
            <a:r>
              <a:rPr lang="en-GB" noProof="0" dirty="0"/>
              <a:t>Higher frequency bands or time-resolved features?</a:t>
            </a:r>
          </a:p>
          <a:p>
            <a:r>
              <a:rPr lang="en-GB" noProof="0" dirty="0"/>
              <a:t>Pretrained generative transformer</a:t>
            </a:r>
          </a:p>
          <a:p>
            <a:pPr lvl="1"/>
            <a:r>
              <a:rPr lang="en-GB" noProof="0" dirty="0"/>
              <a:t>Evaluate a pretrained transformer generatively with FID, starting from the Allen data</a:t>
            </a:r>
          </a:p>
          <a:p>
            <a:r>
              <a:rPr lang="en-GB" noProof="0" dirty="0"/>
              <a:t>Trial-matched R</a:t>
            </a:r>
            <a:r>
              <a:rPr lang="en-GB" baseline="30000" noProof="0" dirty="0"/>
              <a:t>2</a:t>
            </a:r>
          </a:p>
          <a:p>
            <a:pPr lvl="1"/>
            <a:r>
              <a:rPr lang="en-GB" noProof="0" dirty="0"/>
              <a:t>Add optimal-transport  metric (</a:t>
            </a:r>
            <a:r>
              <a:rPr lang="en-GB" noProof="0" dirty="0" err="1"/>
              <a:t>Sourmpis</a:t>
            </a:r>
            <a:r>
              <a:rPr lang="en-GB" noProof="0" dirty="0"/>
              <a:t> et al. 2023) to eval metric</a:t>
            </a:r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29B0B428-233E-970F-6C22-4EABC3F2BF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rtl="0"/>
            <a:r>
              <a:rPr lang="en-GB" noProof="0" dirty="0"/>
              <a:t>Jonas Himmetsberger | Practical Work presentation</a:t>
            </a:r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AA47F315-0DF7-DAC7-82DE-E0CBEE9D5E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CB1E4CB7-CB13-4810-BF18-BE31AFC64F93}" type="slidenum">
              <a:rPr lang="en-GB" noProof="0" smtClean="0"/>
              <a:pPr rtl="0"/>
              <a:t>19</a:t>
            </a:fld>
            <a:endParaRPr lang="en-GB" sz="1000" noProof="0" dirty="0"/>
          </a:p>
        </p:txBody>
      </p:sp>
    </p:spTree>
    <p:extLst>
      <p:ext uri="{BB962C8B-B14F-4D97-AF65-F5344CB8AC3E}">
        <p14:creationId xmlns:p14="http://schemas.microsoft.com/office/powerpoint/2010/main" val="35334319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el 5">
            <a:extLst>
              <a:ext uri="{FF2B5EF4-FFF2-40B4-BE49-F238E27FC236}">
                <a16:creationId xmlns:a16="http://schemas.microsoft.com/office/drawing/2014/main" id="{5D669FF8-EE0B-337B-5CC0-035D4FF788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Thank you</a:t>
            </a:r>
          </a:p>
        </p:txBody>
      </p:sp>
      <p:sp>
        <p:nvSpPr>
          <p:cNvPr id="8" name="Bildplatzhalter 7">
            <a:extLst>
              <a:ext uri="{FF2B5EF4-FFF2-40B4-BE49-F238E27FC236}">
                <a16:creationId xmlns:a16="http://schemas.microsoft.com/office/drawing/2014/main" id="{F3416817-4ADB-CCBE-69EC-26D09C9E2B95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solidFill>
            <a:schemeClr val="bg1"/>
          </a:solidFill>
        </p:spPr>
        <p:txBody>
          <a:bodyPr/>
          <a:lstStyle/>
          <a:p>
            <a:endParaRPr lang="en-GB" noProof="0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A10CC3DF-4290-2DF8-4F0F-7658F830B2C1}"/>
              </a:ext>
            </a:extLst>
          </p:cNvPr>
          <p:cNvSpPr>
            <a:spLocks noGrp="1"/>
          </p:cNvSpPr>
          <p:nvPr>
            <p:ph type="ftr" sz="quarter" idx="4294967295"/>
          </p:nvPr>
        </p:nvSpPr>
        <p:spPr>
          <a:xfrm>
            <a:off x="0" y="6400800"/>
            <a:ext cx="6099175" cy="365125"/>
          </a:xfrm>
        </p:spPr>
        <p:txBody>
          <a:bodyPr/>
          <a:lstStyle/>
          <a:p>
            <a:pPr rtl="0"/>
            <a:r>
              <a:rPr lang="en-GB" noProof="0" dirty="0"/>
              <a:t>Jonas Himmetsberger | Practical Work presentation</a:t>
            </a:r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92709AD1-CE24-9BFF-40E7-89884B11E995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11661775" y="6400800"/>
            <a:ext cx="530225" cy="365125"/>
          </a:xfrm>
        </p:spPr>
        <p:txBody>
          <a:bodyPr/>
          <a:lstStyle/>
          <a:p>
            <a:pPr rtl="0"/>
            <a:fld id="{CB1E4CB7-CB13-4810-BF18-BE31AFC64F93}" type="slidenum">
              <a:rPr lang="en-GB" noProof="0" smtClean="0"/>
              <a:pPr rtl="0"/>
              <a:t>20</a:t>
            </a:fld>
            <a:endParaRPr lang="en-GB" sz="1000" noProof="0" dirty="0"/>
          </a:p>
        </p:txBody>
      </p:sp>
      <p:sp>
        <p:nvSpPr>
          <p:cNvPr id="7" name="Untertitel 6">
            <a:extLst>
              <a:ext uri="{FF2B5EF4-FFF2-40B4-BE49-F238E27FC236}">
                <a16:creationId xmlns:a16="http://schemas.microsoft.com/office/drawing/2014/main" id="{FFB6EF58-7B84-01A9-7E83-BEBF3E4959D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62000" y="3429000"/>
            <a:ext cx="10412681" cy="2665807"/>
          </a:xfrm>
        </p:spPr>
        <p:txBody>
          <a:bodyPr>
            <a:normAutofit fontScale="47500" lnSpcReduction="20000"/>
          </a:bodyPr>
          <a:lstStyle/>
          <a:p>
            <a:r>
              <a:rPr lang="en-GB" noProof="0" dirty="0"/>
              <a:t>References</a:t>
            </a:r>
          </a:p>
          <a:p>
            <a:r>
              <a:rPr lang="en-GB" noProof="0" dirty="0"/>
              <a:t>G. Bellec, S. Wang, A. </a:t>
            </a:r>
            <a:r>
              <a:rPr lang="en-GB" noProof="0" dirty="0" err="1"/>
              <a:t>Modirshanechi</a:t>
            </a:r>
            <a:r>
              <a:rPr lang="en-GB" noProof="0" dirty="0"/>
              <a:t>, J. Brea, and W. Gerstner, "Fitting summary statistics of neural data with a differentiable spiking network simulator," Advances in Neural Information Processing Systems (</a:t>
            </a:r>
            <a:r>
              <a:rPr lang="en-GB" noProof="0" dirty="0" err="1"/>
              <a:t>NeurIPS</a:t>
            </a:r>
            <a:r>
              <a:rPr lang="en-GB" noProof="0" dirty="0"/>
              <a:t>), vol. 34, pp. 18552–18563, 2021.</a:t>
            </a:r>
          </a:p>
          <a:p>
            <a:r>
              <a:rPr lang="en-GB" noProof="0" dirty="0"/>
              <a:t>C. </a:t>
            </a:r>
            <a:r>
              <a:rPr lang="en-GB" noProof="0" dirty="0" err="1"/>
              <a:t>Sourmpis</a:t>
            </a:r>
            <a:r>
              <a:rPr lang="en-GB" noProof="0" dirty="0"/>
              <a:t>, C. Petersen, W. Gerstner, and G. Bellec, "Trial matching: capturing variability with data-constrained spiking neural networks," Advances in Neural Information Processing Systems (</a:t>
            </a:r>
            <a:r>
              <a:rPr lang="en-GB" noProof="0" dirty="0" err="1"/>
              <a:t>NeurIPS</a:t>
            </a:r>
            <a:r>
              <a:rPr lang="en-GB" noProof="0" dirty="0"/>
              <a:t>), vol. 36, 2023.</a:t>
            </a:r>
          </a:p>
          <a:p>
            <a:r>
              <a:rPr lang="en-GB" noProof="0" dirty="0"/>
              <a:t>C. </a:t>
            </a:r>
            <a:r>
              <a:rPr lang="en-GB" noProof="0" dirty="0" err="1"/>
              <a:t>Sourmpis</a:t>
            </a:r>
            <a:r>
              <a:rPr lang="en-GB" noProof="0" dirty="0"/>
              <a:t>, C. C. H. Petersen, W. Gerstner, and G. Bellec, "Biologically informed cortical models predict optogenetic perturbations," </a:t>
            </a:r>
            <a:r>
              <a:rPr lang="en-GB" noProof="0" dirty="0" err="1"/>
              <a:t>eLife</a:t>
            </a:r>
            <a:r>
              <a:rPr lang="en-GB" noProof="0" dirty="0"/>
              <a:t>, 2025, reviewed preprint.</a:t>
            </a:r>
          </a:p>
          <a:p>
            <a:r>
              <a:rPr lang="en-GB" noProof="0" dirty="0"/>
              <a:t>J. Ye, F. </a:t>
            </a:r>
            <a:r>
              <a:rPr lang="en-GB" noProof="0" dirty="0" err="1"/>
              <a:t>Rizzoglio</a:t>
            </a:r>
            <a:r>
              <a:rPr lang="en-GB" noProof="0" dirty="0"/>
              <a:t>, X. Ma, A. Smoulder, H. Mao, G. H. Blumenthal, et al., "A generalist intracortical motor decoder (NDT3)," International Conference on Learning Representations (ICLR), 2025.</a:t>
            </a:r>
          </a:p>
          <a:p>
            <a:r>
              <a:rPr lang="en-GB" noProof="0" dirty="0"/>
              <a:t>M. Heusel, H. Ramsauer, T. </a:t>
            </a:r>
            <a:r>
              <a:rPr lang="en-GB" noProof="0" dirty="0" err="1"/>
              <a:t>Unterthiner</a:t>
            </a:r>
            <a:r>
              <a:rPr lang="en-GB" noProof="0" dirty="0"/>
              <a:t>, B. Nessler, and S. Hochreiter, "GANs trained by a two time-scale update rule converge to a local Nash equilibrium," Advances in Neural Information Processing Systems (</a:t>
            </a:r>
            <a:r>
              <a:rPr lang="en-GB" noProof="0" dirty="0" err="1"/>
              <a:t>NeurIPS</a:t>
            </a:r>
            <a:r>
              <a:rPr lang="en-GB" noProof="0" dirty="0"/>
              <a:t>), vol. 30, 2017.</a:t>
            </a:r>
          </a:p>
          <a:p>
            <a:r>
              <a:rPr lang="en-GB" noProof="0" dirty="0"/>
              <a:t>Allen Institute for Brain Science, "Visual Coding – </a:t>
            </a:r>
            <a:r>
              <a:rPr lang="en-GB" noProof="0" dirty="0" err="1"/>
              <a:t>Neuropixels</a:t>
            </a:r>
            <a:r>
              <a:rPr lang="en-GB" noProof="0" dirty="0"/>
              <a:t> dataset," 2019. [Online]. Available: https://portal.brain-map.org/circuits-behavior/visual-coding-neuropixels</a:t>
            </a:r>
          </a:p>
        </p:txBody>
      </p:sp>
    </p:spTree>
    <p:extLst>
      <p:ext uri="{BB962C8B-B14F-4D97-AF65-F5344CB8AC3E}">
        <p14:creationId xmlns:p14="http://schemas.microsoft.com/office/powerpoint/2010/main" val="358734088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560DD04B-72D2-31F0-35D5-82B0B7A18416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950026" y="1517904"/>
            <a:ext cx="10358054" cy="4572000"/>
          </a:xfrm>
        </p:spPr>
        <p:txBody>
          <a:bodyPr>
            <a:normAutofit fontScale="85000" lnSpcReduction="20000"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de-DE" dirty="0"/>
              <a:t>Wieso 2-30Hz </a:t>
            </a:r>
            <a:r>
              <a:rPr lang="en-US" dirty="0"/>
              <a:t>(2–30 Hz, grouped into 3 bands) </a:t>
            </a:r>
            <a:r>
              <a:rPr lang="en-US" dirty="0" err="1"/>
              <a:t>bzw</a:t>
            </a:r>
            <a:r>
              <a:rPr lang="en-US" dirty="0"/>
              <a:t> was </a:t>
            </a:r>
            <a:r>
              <a:rPr lang="en-US" dirty="0" err="1"/>
              <a:t>ist</a:t>
            </a:r>
            <a:r>
              <a:rPr lang="en-US" dirty="0"/>
              <a:t> der dc component</a:t>
            </a:r>
            <a:r>
              <a:rPr lang="de-DE" dirty="0"/>
              <a:t>?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de-DE" dirty="0"/>
              <a:t>Was ist das </a:t>
            </a:r>
            <a:r>
              <a:rPr lang="de-DE" dirty="0" err="1"/>
              <a:t>problem</a:t>
            </a:r>
            <a:r>
              <a:rPr lang="de-DE" dirty="0"/>
              <a:t> warum der temporal </a:t>
            </a:r>
            <a:r>
              <a:rPr lang="de-DE" dirty="0" err="1"/>
              <a:t>shuffle</a:t>
            </a:r>
            <a:r>
              <a:rPr lang="de-DE" dirty="0"/>
              <a:t> nicht genau funktioniert hat?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de-DE" dirty="0"/>
              <a:t>Wieso ist der globale FID score so viel niedriger wie der per </a:t>
            </a:r>
            <a:r>
              <a:rPr lang="de-DE" dirty="0" err="1"/>
              <a:t>session</a:t>
            </a:r>
            <a:r>
              <a:rPr lang="de-DE" dirty="0"/>
              <a:t>?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de-DE" dirty="0"/>
              <a:t>Was sagen die quellen aus?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de-DE" dirty="0"/>
              <a:t>Wieso hat das </a:t>
            </a:r>
            <a:r>
              <a:rPr lang="de-DE" dirty="0" err="1"/>
              <a:t>notebook</a:t>
            </a:r>
            <a:r>
              <a:rPr lang="de-DE" dirty="0"/>
              <a:t> hier 24*4: </a:t>
            </a:r>
            <a:r>
              <a:rPr lang="en-US" dirty="0" err="1"/>
              <a:t>feature_oscillation_frequency</a:t>
            </a:r>
            <a:r>
              <a:rPr lang="en-US" dirty="0"/>
              <a:t>(X, </a:t>
            </a:r>
            <a:r>
              <a:rPr lang="en-US" dirty="0" err="1"/>
              <a:t>f_min</a:t>
            </a:r>
            <a:r>
              <a:rPr lang="en-US" b="1" dirty="0"/>
              <a:t>=</a:t>
            </a:r>
            <a:r>
              <a:rPr lang="en-US" dirty="0"/>
              <a:t>2, </a:t>
            </a:r>
            <a:r>
              <a:rPr lang="en-US" dirty="0" err="1"/>
              <a:t>f_max</a:t>
            </a:r>
            <a:r>
              <a:rPr lang="en-US" b="1" dirty="0"/>
              <a:t>=</a:t>
            </a:r>
            <a:r>
              <a:rPr lang="en-US" dirty="0"/>
              <a:t>30, </a:t>
            </a:r>
            <a:r>
              <a:rPr lang="en-US" dirty="0" err="1"/>
              <a:t>num_f</a:t>
            </a:r>
            <a:r>
              <a:rPr lang="en-US" b="1" dirty="0"/>
              <a:t>=</a:t>
            </a:r>
            <a:r>
              <a:rPr lang="en-US" dirty="0"/>
              <a:t>24 </a:t>
            </a:r>
            <a:r>
              <a:rPr lang="en-US" b="1" dirty="0"/>
              <a:t>*</a:t>
            </a:r>
            <a:r>
              <a:rPr lang="en-US" dirty="0"/>
              <a:t> 4, </a:t>
            </a:r>
            <a:r>
              <a:rPr lang="en-US" dirty="0" err="1"/>
              <a:t>n_group</a:t>
            </a:r>
            <a:r>
              <a:rPr lang="en-US" b="1" dirty="0"/>
              <a:t>=</a:t>
            </a:r>
            <a:r>
              <a:rPr lang="en-US" dirty="0"/>
              <a:t>3)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de-DE" dirty="0"/>
              <a:t>How </a:t>
            </a:r>
            <a:r>
              <a:rPr lang="de-DE" dirty="0" err="1"/>
              <a:t>does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FID </a:t>
            </a:r>
            <a:r>
              <a:rPr lang="de-DE" dirty="0" err="1"/>
              <a:t>differ</a:t>
            </a:r>
            <a:r>
              <a:rPr lang="de-DE" dirty="0"/>
              <a:t> </a:t>
            </a:r>
            <a:r>
              <a:rPr lang="de-DE" dirty="0" err="1"/>
              <a:t>from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FID in </a:t>
            </a:r>
            <a:r>
              <a:rPr lang="de-DE" dirty="0" err="1"/>
              <a:t>the</a:t>
            </a:r>
            <a:r>
              <a:rPr lang="de-DE" dirty="0"/>
              <a:t> Notebook2?</a:t>
            </a:r>
          </a:p>
          <a:p>
            <a:pPr marL="708660" lvl="1" indent="-342900">
              <a:buFont typeface="Arial" panose="020B0604020202020204" pitchFamily="34" charset="0"/>
              <a:buChar char="•"/>
            </a:pPr>
            <a:r>
              <a:rPr lang="de-DE" dirty="0"/>
              <a:t>Notebook2 </a:t>
            </a:r>
            <a:r>
              <a:rPr lang="de-DE" dirty="0" err="1"/>
              <a:t>is</a:t>
            </a:r>
            <a:r>
              <a:rPr lang="de-DE" dirty="0"/>
              <a:t> a </a:t>
            </a:r>
            <a:r>
              <a:rPr lang="de-DE" dirty="0" err="1"/>
              <a:t>standalone</a:t>
            </a:r>
            <a:r>
              <a:rPr lang="de-DE" dirty="0"/>
              <a:t> </a:t>
            </a:r>
            <a:r>
              <a:rPr lang="de-DE" dirty="0" err="1"/>
              <a:t>analysis</a:t>
            </a:r>
            <a:r>
              <a:rPr lang="de-DE" dirty="0"/>
              <a:t> code </a:t>
            </a:r>
            <a:r>
              <a:rPr lang="de-DE" dirty="0" err="1"/>
              <a:t>for</a:t>
            </a:r>
            <a:r>
              <a:rPr lang="de-DE" dirty="0"/>
              <a:t> RNN. My code </a:t>
            </a:r>
            <a:r>
              <a:rPr lang="de-DE" dirty="0" err="1"/>
              <a:t>is</a:t>
            </a:r>
            <a:r>
              <a:rPr lang="de-DE" dirty="0"/>
              <a:t> </a:t>
            </a:r>
            <a:r>
              <a:rPr lang="de-DE" dirty="0" err="1"/>
              <a:t>easily</a:t>
            </a:r>
            <a:r>
              <a:rPr lang="de-DE" dirty="0"/>
              <a:t> </a:t>
            </a:r>
            <a:r>
              <a:rPr lang="de-DE" dirty="0" err="1"/>
              <a:t>fuseable</a:t>
            </a:r>
            <a:r>
              <a:rPr lang="de-DE" dirty="0"/>
              <a:t> </a:t>
            </a:r>
            <a:r>
              <a:rPr lang="de-DE" dirty="0" err="1"/>
              <a:t>with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trainings</a:t>
            </a:r>
            <a:r>
              <a:rPr lang="de-DE" dirty="0"/>
              <a:t>/</a:t>
            </a:r>
            <a:r>
              <a:rPr lang="de-DE" dirty="0" err="1"/>
              <a:t>eval</a:t>
            </a:r>
            <a:r>
              <a:rPr lang="de-DE" dirty="0"/>
              <a:t> loop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GPT-</a:t>
            </a:r>
            <a:r>
              <a:rPr lang="de-DE" dirty="0" err="1"/>
              <a:t>codebase</a:t>
            </a:r>
            <a:r>
              <a:rPr lang="de-DE" dirty="0"/>
              <a:t>. (Adapter, SOS-Tokens, Block-Masks, Session-Handling all </a:t>
            </a:r>
            <a:r>
              <a:rPr lang="de-DE" dirty="0" err="1"/>
              <a:t>has</a:t>
            </a:r>
            <a:r>
              <a:rPr lang="de-DE" dirty="0"/>
              <a:t> </a:t>
            </a:r>
            <a:r>
              <a:rPr lang="de-DE" dirty="0" err="1"/>
              <a:t>to</a:t>
            </a:r>
            <a:r>
              <a:rPr lang="de-DE" dirty="0"/>
              <a:t> fit </a:t>
            </a:r>
            <a:r>
              <a:rPr lang="de-DE" dirty="0" err="1"/>
              <a:t>with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transformer</a:t>
            </a:r>
            <a:r>
              <a:rPr lang="de-DE" dirty="0"/>
              <a:t> </a:t>
            </a:r>
            <a:r>
              <a:rPr lang="de-DE" dirty="0" err="1"/>
              <a:t>architecture</a:t>
            </a:r>
            <a:r>
              <a:rPr lang="de-DE" dirty="0"/>
              <a:t>)</a:t>
            </a:r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8DAF99C8-3664-FF3C-E664-48D35D050C3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rtl="0"/>
            <a:r>
              <a:rPr lang="en-US"/>
              <a:t>Jonas Himmetsberger | Practical Work presentation</a:t>
            </a:r>
            <a:endParaRPr lang="en-US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6AFDB41B-FF65-07D5-10C3-B58EA3C511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CB1E4CB7-CB13-4810-BF18-BE31AFC64F93}" type="slidenum">
              <a:rPr lang="en-US" smtClean="0"/>
              <a:t>21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85718935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0C9B74CB-A3C6-78EE-2608-A7C604409654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1223158" y="1517904"/>
            <a:ext cx="10084922" cy="4572000"/>
          </a:xfrm>
        </p:spPr>
        <p:txBody>
          <a:bodyPr/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de-DE" dirty="0"/>
              <a:t>Was ist nochmal Hebel 3</a:t>
            </a:r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E44ECC3B-C92F-951C-621A-685AEE4B33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rtl="0"/>
            <a:r>
              <a:rPr lang="en-US" dirty="0"/>
              <a:t>Jonas Himmetsberger | Practical Work presentation</a:t>
            </a:r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1F2F1CD9-C62E-C97C-9586-D250D63FFC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CB1E4CB7-CB13-4810-BF18-BE31AFC64F93}" type="slidenum">
              <a:rPr lang="en-US" smtClean="0"/>
              <a:t>22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86655666"/>
      </p:ext>
    </p:extLst>
  </p:cSld>
  <p:clrMapOvr>
    <a:masterClrMapping/>
  </p:clrMapOvr>
</p:sld>
</file>

<file path=ppt/theme/theme1.xml><?xml version="1.0" encoding="utf-8"?>
<a:theme xmlns:a="http://schemas.openxmlformats.org/drawingml/2006/main" name="PrismaticVTI">
  <a:themeElements>
    <a:clrScheme name="Prismatic">
      <a:dk1>
        <a:sysClr val="windowText" lastClr="000000"/>
      </a:dk1>
      <a:lt1>
        <a:sysClr val="window" lastClr="FFFFFF"/>
      </a:lt1>
      <a:dk2>
        <a:srgbClr val="131523"/>
      </a:dk2>
      <a:lt2>
        <a:srgbClr val="E7E6E6"/>
      </a:lt2>
      <a:accent1>
        <a:srgbClr val="42B3BD"/>
      </a:accent1>
      <a:accent2>
        <a:srgbClr val="51B851"/>
      </a:accent2>
      <a:accent3>
        <a:srgbClr val="B5A603"/>
      </a:accent3>
      <a:accent4>
        <a:srgbClr val="F58505"/>
      </a:accent4>
      <a:accent5>
        <a:srgbClr val="FA2481"/>
      </a:accent5>
      <a:accent6>
        <a:srgbClr val="9CA2AB"/>
      </a:accent6>
      <a:hlink>
        <a:srgbClr val="FA2481"/>
      </a:hlink>
      <a:folHlink>
        <a:srgbClr val="57618E"/>
      </a:folHlink>
    </a:clrScheme>
    <a:fontScheme name="Custom 14">
      <a:majorFont>
        <a:latin typeface="Aharoni"/>
        <a:ea typeface=""/>
        <a:cs typeface=""/>
      </a:majorFont>
      <a:minorFont>
        <a:latin typeface="Avenir Next LT Pro Light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rismatic design_win32_EF_v4.potx" id="{2F35A8D2-2794-49E9-8A0C-100147B6AC9C}" vid="{55693A51-CC17-4AC7-B6BD-D840FAE3791F}"/>
    </a:ext>
  </a:extLst>
</a:theme>
</file>

<file path=ppt/theme/theme2.xml><?xml version="1.0" encoding="utf-8"?>
<a:theme xmlns:a="http://schemas.openxmlformats.org/drawingml/2006/main" name="Office-Design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-Design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Status xmlns="71af3243-3dd4-4a8d-8c0d-dd76da1f02a5">Not started</Status>
    <_ip_UnifiedCompliancePolicyUIAction xmlns="http://schemas.microsoft.com/sharepoint/v3" xsi:nil="true"/>
    <Image xmlns="71af3243-3dd4-4a8d-8c0d-dd76da1f02a5">
      <Url xsi:nil="true"/>
      <Description xsi:nil="true"/>
    </Image>
    <_ip_UnifiedCompliancePolicyProperties xmlns="http://schemas.microsoft.com/sharepoint/v3" xsi:nil="true"/>
    <TaxCatchAll xmlns="230e9df3-be65-4c73-a93b-d1236ebd677e" xsi:nil="true"/>
    <MediaServiceKeyPoints xmlns="71af3243-3dd4-4a8d-8c0d-dd76da1f02a5" xsi:nil="true"/>
    <Background xmlns="71af3243-3dd4-4a8d-8c0d-dd76da1f02a5">false</Background>
    <ImageTagsTaxHTField xmlns="71af3243-3dd4-4a8d-8c0d-dd76da1f02a5">
      <Terms xmlns="http://schemas.microsoft.com/office/infopath/2007/PartnerControls"/>
    </ImageTagsTaxHTField>
  </documentManagement>
</p:properti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28" ma:contentTypeDescription="Create a new document." ma:contentTypeScope="" ma:versionID="60f5a4f2d2b0abadcf532d48ebf9cb71">
  <xsd:schema xmlns:xsd="http://www.w3.org/2001/XMLSchema" xmlns:xs="http://www.w3.org/2001/XMLSchema" xmlns:p="http://schemas.microsoft.com/office/2006/metadata/properties" xmlns:ns1="http://schemas.microsoft.com/sharepoint/v3" xmlns:ns2="71af3243-3dd4-4a8d-8c0d-dd76da1f02a5" xmlns:ns3="16c05727-aa75-4e4a-9b5f-8a80a1165891" xmlns:ns4="230e9df3-be65-4c73-a93b-d1236ebd677e" targetNamespace="http://schemas.microsoft.com/office/2006/metadata/properties" ma:root="true" ma:fieldsID="7dd78129e6a1811f84807ad11c651531" ns1:_="" ns2:_="" ns3:_="" ns4:_="">
    <xsd:import namespace="http://schemas.microsoft.com/sharepoint/v3"/>
    <xsd:import namespace="71af3243-3dd4-4a8d-8c0d-dd76da1f02a5"/>
    <xsd:import namespace="16c05727-aa75-4e4a-9b5f-8a80a1165891"/>
    <xsd:import namespace="230e9df3-be65-4c73-a93b-d1236ebd677e"/>
    <xsd:element name="properties">
      <xsd:complexType>
        <xsd:sequence>
          <xsd:element name="documentManagement">
            <xsd:complexType>
              <xsd:all>
                <xsd:element ref="ns2:Status" minOccurs="0"/>
                <xsd:element ref="ns2:Image" minOccurs="0"/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1:_ip_UnifiedCompliancePolicyProperties" minOccurs="0"/>
                <xsd:element ref="ns1:_ip_UnifiedCompliancePolicyUIAction" minOccurs="0"/>
                <xsd:element ref="ns4:TaxCatchAll" minOccurs="0"/>
                <xsd:element ref="ns2:ImageTagsTaxHTField" minOccurs="0"/>
                <xsd:element ref="ns2:MediaServiceLocation" minOccurs="0"/>
                <xsd:element ref="ns2:MediaLengthInSeconds" minOccurs="0"/>
                <xsd:element ref="ns2:Background" minOccurs="0"/>
                <xsd:element ref="ns2:MediaServiceSearchProperties" minOccurs="0"/>
                <xsd:element ref="ns2:MediaServiceDocTags" minOccurs="0"/>
                <xsd:element ref="ns2:MediaServiceObjectDetectorVersions" minOccurs="0"/>
                <xsd:element ref="ns2:MediaServiceSystemTag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_ip_UnifiedCompliancePolicyProperties" ma:index="20" nillable="true" ma:displayName="Unified Compliance Policy Properties" ma:hidden="true" ma:internalName="_ip_UnifiedCompliancePolicyProperties" ma:readOnly="false">
      <xsd:simpleType>
        <xsd:restriction base="dms:Note"/>
      </xsd:simpleType>
    </xsd:element>
    <xsd:element name="_ip_UnifiedCompliancePolicyUIAction" ma:index="21" nillable="true" ma:displayName="Unified Compliance Policy UI Action" ma:hidden="true" ma:internalName="_ip_UnifiedCompliancePolicyUIAction" ma:readOnly="fals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Status" ma:index="2" nillable="true" ma:displayName="Status" ma:default="Not started" ma:format="Dropdown" ma:internalName="Status" ma:readOnly="false">
      <xsd:simpleType>
        <xsd:restriction base="dms:Choice">
          <xsd:enumeration value="Not started"/>
          <xsd:enumeration value="In Progress"/>
          <xsd:enumeration value="Completed"/>
        </xsd:restriction>
      </xsd:simpleType>
    </xsd:element>
    <xsd:element name="Image" ma:index="3" nillable="true" ma:displayName="Image" ma:format="Image" ma:internalName="Image" ma:readOnly="false">
      <xsd:complexType>
        <xsd:complexContent>
          <xsd:extension base="dms:URL">
            <xsd:sequence>
              <xsd:element name="Url" type="dms:ValidUrl" minOccurs="0" nillable="true"/>
              <xsd:element name="Description" type="xsd:string" nillable="true"/>
            </xsd:sequence>
          </xsd:extension>
        </xsd:complexContent>
      </xsd:complexType>
    </xsd:element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hidden="true" ma:internalName="MediaServiceOCR" ma:readOnly="true">
      <xsd:simpleType>
        <xsd:restriction base="dms:Note"/>
      </xsd:simpleType>
    </xsd:element>
    <xsd:element name="MediaServiceAutoTags" ma:index="11" nillable="true" ma:displayName="MediaServiceAutoTags" ma:hidden="true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hidden="true" ma:internalName="MediaServiceKeyPoints" ma:readOnly="false">
      <xsd:simpleType>
        <xsd:restriction base="dms:Note"/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ImageTagsTaxHTField" ma:index="25" nillable="true" ma:taxonomy="true" ma:internalName="ImageTagsTaxHTField" ma:taxonomyFieldName="MediaServiceImageTags" ma:displayName="Image Tags" ma:readOnly="false" ma:fieldId="{5cf76f15-5ced-4ddc-b409-7134ff3c332f}" ma:taxonomyMulti="true" ma:sspId="e385fb40-52d4-4fae-9c5b-3e8ff8a5878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Location" ma:index="26" nillable="true" ma:displayName="Location" ma:hidden="true" ma:internalName="MediaServiceLocation" ma:readOnly="true">
      <xsd:simpleType>
        <xsd:restriction base="dms:Text"/>
      </xsd:simpleType>
    </xsd:element>
    <xsd:element name="MediaLengthInSeconds" ma:index="27" nillable="true" ma:displayName="MediaLengthInSeconds" ma:hidden="true" ma:internalName="MediaLengthInSeconds" ma:readOnly="true">
      <xsd:simpleType>
        <xsd:restriction base="dms:Unknown"/>
      </xsd:simpleType>
    </xsd:element>
    <xsd:element name="Background" ma:index="28" nillable="true" ma:displayName="Background" ma:default="0" ma:format="Dropdown" ma:internalName="Background">
      <xsd:simpleType>
        <xsd:restriction base="dms:Boolean"/>
      </xsd:simpleType>
    </xsd:element>
    <xsd:element name="MediaServiceSearchProperties" ma:index="29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ocTags" ma:index="30" nillable="true" ma:displayName="MediaServiceDocTags" ma:hidden="true" ma:internalName="MediaServiceDocTags" ma:readOnly="true">
      <xsd:simpleType>
        <xsd:restriction base="dms:Note"/>
      </xsd:simpleType>
    </xsd:element>
    <xsd:element name="MediaServiceObjectDetectorVersions" ma:index="31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SystemTags" ma:index="32" nillable="true" ma:displayName="MediaServiceSystemTags" ma:hidden="true" ma:internalName="MediaServiceSystemTag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hidden="true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hidden="true" ma:internalName="SharedWithDetail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30e9df3-be65-4c73-a93b-d1236ebd677e" elementFormDefault="qualified">
    <xsd:import namespace="http://schemas.microsoft.com/office/2006/documentManagement/types"/>
    <xsd:import namespace="http://schemas.microsoft.com/office/infopath/2007/PartnerControls"/>
    <xsd:element name="TaxCatchAll" ma:index="23" nillable="true" ma:displayName="Taxonomy Catch All Column" ma:hidden="true" ma:list="{3f6bfcbc-3db3-4ae6-bd76-326f0798ad28}" ma:internalName="TaxCatchAll" ma:readOnly="false" ma:showField="CatchAllData" ma:web="16c05727-aa75-4e4a-9b5f-8a80a1165891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displayName="Content Type"/>
        <xsd:element ref="dc:title" minOccurs="0" maxOccurs="1" ma:index="1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16D4D9BD-AE11-4F3A-9185-74D1F42CA599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B2B7AAFC-BA46-4192-9EDD-FC31D26BDA5D}">
  <ds:schemaRefs>
    <ds:schemaRef ds:uri="http://schemas.microsoft.com/office/2006/metadata/properties"/>
    <ds:schemaRef ds:uri="http://schemas.microsoft.com/office/infopath/2007/PartnerControls"/>
    <ds:schemaRef ds:uri="71af3243-3dd4-4a8d-8c0d-dd76da1f02a5"/>
    <ds:schemaRef ds:uri="http://schemas.microsoft.com/sharepoint/v3"/>
    <ds:schemaRef ds:uri="230e9df3-be65-4c73-a93b-d1236ebd677e"/>
  </ds:schemaRefs>
</ds:datastoreItem>
</file>

<file path=customXml/itemProps3.xml><?xml version="1.0" encoding="utf-8"?>
<ds:datastoreItem xmlns:ds="http://schemas.openxmlformats.org/officeDocument/2006/customXml" ds:itemID="{4CA8F0A8-0272-4870-9FED-50919032B813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microsoft.com/sharepoint/v3"/>
    <ds:schemaRef ds:uri="71af3243-3dd4-4a8d-8c0d-dd76da1f02a5"/>
    <ds:schemaRef ds:uri="16c05727-aa75-4e4a-9b5f-8a80a1165891"/>
    <ds:schemaRef ds:uri="230e9df3-be65-4c73-a93b-d1236ebd677e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Metadata/LabelInfo.xml><?xml version="1.0" encoding="utf-8"?>
<clbl:labelList xmlns:clbl="http://schemas.microsoft.com/office/2020/mipLabelMetadata"/>
</file>

<file path=docProps/app.xml><?xml version="1.0" encoding="utf-8"?>
<Properties xmlns="http://schemas.openxmlformats.org/officeDocument/2006/extended-properties" xmlns:vt="http://schemas.openxmlformats.org/officeDocument/2006/docPropsVTypes">
  <Template>{3692510C-0482-44E1-AAA3-DB05BF7A8E84}tf56076705_win32</Template>
  <TotalTime>0</TotalTime>
  <Words>2858</Words>
  <Application>Microsoft Office PowerPoint</Application>
  <PresentationFormat>Breitbild</PresentationFormat>
  <Paragraphs>260</Paragraphs>
  <Slides>22</Slides>
  <Notes>10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9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22</vt:i4>
      </vt:variant>
    </vt:vector>
  </HeadingPairs>
  <TitlesOfParts>
    <vt:vector size="32" baseType="lpstr">
      <vt:lpstr>Aharoni</vt:lpstr>
      <vt:lpstr>Aptos</vt:lpstr>
      <vt:lpstr>Arial</vt:lpstr>
      <vt:lpstr>Avenir Next LT Pro</vt:lpstr>
      <vt:lpstr>Avenir Next LT Pro Light</vt:lpstr>
      <vt:lpstr>Calibri</vt:lpstr>
      <vt:lpstr>Cambria Math</vt:lpstr>
      <vt:lpstr>Georgia</vt:lpstr>
      <vt:lpstr>Wingdings</vt:lpstr>
      <vt:lpstr>PrismaticVTI</vt:lpstr>
      <vt:lpstr>Transformers as generative models for neural activity</vt:lpstr>
      <vt:lpstr>Agenda OUTLINE</vt:lpstr>
      <vt:lpstr>Scientific context  &amp; state of the art</vt:lpstr>
      <vt:lpstr>CONTEXT Transformers in neuroscience Short recap of Bellec Guillaumes’ talk</vt:lpstr>
      <vt:lpstr>STATE OF THE ART Prior work</vt:lpstr>
      <vt:lpstr>Is the model good?</vt:lpstr>
      <vt:lpstr>Borrowing from image generation</vt:lpstr>
      <vt:lpstr>From image FID to “Brain FID” Image FID feeds pictures through a NN (Inception-v3) that extracts features There is no Inception v3 for brains  Features must be hand crafted from the spikes themselves</vt:lpstr>
      <vt:lpstr>Scientific questions  &amp; contribution</vt:lpstr>
      <vt:lpstr>Two questions</vt:lpstr>
      <vt:lpstr>SpikeGPT vs default GPT Identical training setup/hyperparams</vt:lpstr>
      <vt:lpstr>Results</vt:lpstr>
      <vt:lpstr>The two architectures  are close RESULT A: DISCRIMINATIVE</vt:lpstr>
      <vt:lpstr>Brain FID RESULT B: GENERATIVE </vt:lpstr>
      <vt:lpstr>Does the metric actually work? Before trusting the comparison, I did a sanity check  (destroying the structure in the real data and check how metrics react)</vt:lpstr>
      <vt:lpstr>Distributions overlapped VISUALIZATION</vt:lpstr>
      <vt:lpstr>Big variaity between sessions PER SESSION COMPARISON</vt:lpstr>
      <vt:lpstr>What this thesis contributes SUMMARY</vt:lpstr>
      <vt:lpstr>Future Work</vt:lpstr>
      <vt:lpstr>Thank you</vt:lpstr>
      <vt:lpstr>PowerPoint-Präsentation</vt:lpstr>
      <vt:lpstr>PowerPoint-Präsentation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Himmetsberger, Jonas</dc:creator>
  <cp:lastModifiedBy>Himmetsberger, Jonas</cp:lastModifiedBy>
  <cp:revision>131</cp:revision>
  <dcterms:created xsi:type="dcterms:W3CDTF">2026-05-22T15:19:59Z</dcterms:created>
  <dcterms:modified xsi:type="dcterms:W3CDTF">2026-05-25T12:50:42Z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  <property fmtid="{D5CDD505-2E9C-101B-9397-08002B2CF9AE}" pid="3" name="MediaServiceImageTags">
    <vt:lpwstr/>
  </property>
</Properties>
</file>