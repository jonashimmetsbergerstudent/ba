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1" r:id="rId4"/>
  </p:sldMasterIdLst>
  <p:notesMasterIdLst>
    <p:notesMasterId r:id="rId22"/>
  </p:notesMasterIdLst>
  <p:handoutMasterIdLst>
    <p:handoutMasterId r:id="rId23"/>
  </p:handoutMasterIdLst>
  <p:sldIdLst>
    <p:sldId id="539" r:id="rId5"/>
    <p:sldId id="257" r:id="rId6"/>
    <p:sldId id="566" r:id="rId7"/>
    <p:sldId id="567" r:id="rId8"/>
    <p:sldId id="568" r:id="rId9"/>
    <p:sldId id="569" r:id="rId10"/>
    <p:sldId id="570" r:id="rId11"/>
    <p:sldId id="571" r:id="rId12"/>
    <p:sldId id="573" r:id="rId13"/>
    <p:sldId id="572" r:id="rId14"/>
    <p:sldId id="574" r:id="rId15"/>
    <p:sldId id="575" r:id="rId16"/>
    <p:sldId id="576" r:id="rId17"/>
    <p:sldId id="577" r:id="rId18"/>
    <p:sldId id="578" r:id="rId19"/>
    <p:sldId id="579" r:id="rId20"/>
    <p:sldId id="580" r:id="rId21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60" autoAdjust="0"/>
  </p:normalViewPr>
  <p:slideViewPr>
    <p:cSldViewPr snapToGrid="0">
      <p:cViewPr varScale="1">
        <p:scale>
          <a:sx n="81" d="100"/>
          <a:sy n="81" d="100"/>
        </p:scale>
        <p:origin x="114" y="588"/>
      </p:cViewPr>
      <p:guideLst/>
    </p:cSldViewPr>
  </p:slideViewPr>
  <p:outlineViewPr>
    <p:cViewPr>
      <p:scale>
        <a:sx n="33" d="100"/>
        <a:sy n="33" d="100"/>
      </p:scale>
      <p:origin x="0" y="-144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Mappe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FID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F38-40B8-B901-0E5C5399C21C}"/>
              </c:ext>
            </c:extLst>
          </c:dPt>
          <c:dPt>
            <c:idx val="1"/>
            <c:invertIfNegative val="0"/>
            <c:bubble3D val="0"/>
            <c:spPr>
              <a:solidFill>
                <a:srgbClr val="D85A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CF38-40B8-B901-0E5C5399C21C}"/>
              </c:ext>
            </c:extLst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CF38-40B8-B901-0E5C5399C21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real vs real</c:v>
                </c:pt>
                <c:pt idx="1">
                  <c:v>real vs
time-shuffled</c:v>
                </c:pt>
                <c:pt idx="2">
                  <c:v>real vs
neuron-shuffled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7.15</c:v>
                </c:pt>
                <c:pt idx="1">
                  <c:v>8.42</c:v>
                </c:pt>
                <c:pt idx="2">
                  <c:v>48.81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F38-40B8-B901-0E5C5399C2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FID(Session)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Tabelle1!$A$1</c:f>
              <c:strCache>
                <c:ptCount val="1"/>
                <c:pt idx="0">
                  <c:v>SpikeGPT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Tabelle1!$A$2:$A$21</c:f>
              <c:numCache>
                <c:formatCode>0.00</c:formatCode>
                <c:ptCount val="20"/>
                <c:pt idx="0">
                  <c:v>115.80159826173799</c:v>
                </c:pt>
                <c:pt idx="1">
                  <c:v>140.98283096215499</c:v>
                </c:pt>
                <c:pt idx="2">
                  <c:v>163.94749427290699</c:v>
                </c:pt>
                <c:pt idx="3">
                  <c:v>87.395449217404305</c:v>
                </c:pt>
                <c:pt idx="4">
                  <c:v>34.132776978600702</c:v>
                </c:pt>
                <c:pt idx="5">
                  <c:v>134.85841465793999</c:v>
                </c:pt>
                <c:pt idx="6">
                  <c:v>112.458987445649</c:v>
                </c:pt>
                <c:pt idx="7">
                  <c:v>75.776767349337106</c:v>
                </c:pt>
                <c:pt idx="8">
                  <c:v>80.870030453772898</c:v>
                </c:pt>
                <c:pt idx="9">
                  <c:v>74.589120194249901</c:v>
                </c:pt>
                <c:pt idx="10">
                  <c:v>123.905044472329</c:v>
                </c:pt>
                <c:pt idx="11">
                  <c:v>149.433366998666</c:v>
                </c:pt>
                <c:pt idx="12">
                  <c:v>142.800068796197</c:v>
                </c:pt>
                <c:pt idx="13">
                  <c:v>114.886627811881</c:v>
                </c:pt>
                <c:pt idx="14">
                  <c:v>159.03191453720399</c:v>
                </c:pt>
                <c:pt idx="15">
                  <c:v>251.218213516692</c:v>
                </c:pt>
                <c:pt idx="16">
                  <c:v>86.180617943038001</c:v>
                </c:pt>
                <c:pt idx="17">
                  <c:v>125.817996633579</c:v>
                </c:pt>
                <c:pt idx="18">
                  <c:v>117.63688794338699</c:v>
                </c:pt>
                <c:pt idx="19">
                  <c:v>34.947667953377298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4B-4787-B608-DBA4A8B8E060}"/>
            </c:ext>
          </c:extLst>
        </c:ser>
        <c:ser>
          <c:idx val="1"/>
          <c:order val="1"/>
          <c:tx>
            <c:strRef>
              <c:f>Tabelle1!$B$1</c:f>
              <c:strCache>
                <c:ptCount val="1"/>
                <c:pt idx="0">
                  <c:v>Default GPT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Tabelle1!$B$2:$B$21</c:f>
              <c:numCache>
                <c:formatCode>General</c:formatCode>
                <c:ptCount val="20"/>
                <c:pt idx="0">
                  <c:v>95.285280726780996</c:v>
                </c:pt>
                <c:pt idx="1">
                  <c:v>79.848675671320095</c:v>
                </c:pt>
                <c:pt idx="2">
                  <c:v>100.799316748107</c:v>
                </c:pt>
                <c:pt idx="3">
                  <c:v>63.239802105157203</c:v>
                </c:pt>
                <c:pt idx="4">
                  <c:v>28.862679730516799</c:v>
                </c:pt>
                <c:pt idx="5">
                  <c:v>83.294896822567694</c:v>
                </c:pt>
                <c:pt idx="6">
                  <c:v>71.5093880551441</c:v>
                </c:pt>
                <c:pt idx="7">
                  <c:v>38.244261472697303</c:v>
                </c:pt>
                <c:pt idx="8">
                  <c:v>53.300204183050603</c:v>
                </c:pt>
                <c:pt idx="9">
                  <c:v>57.960550094334799</c:v>
                </c:pt>
                <c:pt idx="10">
                  <c:v>95.152690785550206</c:v>
                </c:pt>
                <c:pt idx="11">
                  <c:v>92.089500420596096</c:v>
                </c:pt>
                <c:pt idx="12">
                  <c:v>100.48883975078201</c:v>
                </c:pt>
                <c:pt idx="13">
                  <c:v>85.4553343006787</c:v>
                </c:pt>
                <c:pt idx="14">
                  <c:v>123.509516014521</c:v>
                </c:pt>
                <c:pt idx="15">
                  <c:v>137.49507578928899</c:v>
                </c:pt>
                <c:pt idx="16">
                  <c:v>78.829032305566002</c:v>
                </c:pt>
                <c:pt idx="17">
                  <c:v>105.77916990756999</c:v>
                </c:pt>
                <c:pt idx="18">
                  <c:v>80.374756016872993</c:v>
                </c:pt>
                <c:pt idx="19">
                  <c:v>30.999548471296201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4B-4787-B608-DBA4A8B8E0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3047568"/>
        <c:axId val="2053035088"/>
      </c:barChart>
      <c:catAx>
        <c:axId val="205304756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53035088"/>
        <c:crosses val="autoZero"/>
        <c:auto val="1"/>
        <c:lblAlgn val="ctr"/>
        <c:lblOffset val="100"/>
        <c:noMultiLvlLbl val="0"/>
      </c:catAx>
      <c:valAx>
        <c:axId val="2053035088"/>
        <c:scaling>
          <c:orientation val="minMax"/>
          <c:max val="252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53047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4D0B883-0A39-E05B-61ED-5FE94E7E6C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71B2735-0E3E-EB93-68DA-1402951418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4DA340-CA88-40FE-8D9F-FB95A67E2AC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1912F7-468D-0E8D-7580-A7ADE9D11B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45DA9A4-3BA2-3E7F-4048-A9EB25D5A2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4C7120-FABF-42CA-85D1-839480B5B48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99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90BC4F2-6A87-450D-AD53-D2188421BC53}" type="datetimeFigureOut">
              <a:rPr lang="en-US" smtClean="0"/>
              <a:t>5/24/2026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C3B2649-7BD8-4005-A99E-30D13769A8BD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8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03401A8-3220-413E-B964-4A8659985FD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8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751A4182-6276-41ED-8EAF-0C6A4D8FF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7" name="Rechteck 6">
            <a:extLst>
              <a:ext uri="{FF2B5EF4-FFF2-40B4-BE49-F238E27FC236}">
                <a16:creationId xmlns:a16="http://schemas.microsoft.com/office/drawing/2014/main" id="{EF4B644F-A23D-409C-9540-B41AC18DB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0AF812-9F51-0D2C-2EA5-A8D6DA66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4114800" cy="3474720"/>
          </a:xfrm>
        </p:spPr>
        <p:txBody>
          <a:bodyPr rtlCol="0" anchor="ctr">
            <a:normAutofit/>
          </a:bodyPr>
          <a:lstStyle>
            <a:lvl1pPr>
              <a:defRPr sz="4400"/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9" name="Untertitel 19">
            <a:extLst>
              <a:ext uri="{FF2B5EF4-FFF2-40B4-BE49-F238E27FC236}">
                <a16:creationId xmlns:a16="http://schemas.microsoft.com/office/drawing/2014/main" id="{E8F46CAD-D4FF-4BBC-937E-CBBD034A18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2000" y="4570807"/>
            <a:ext cx="4123899" cy="15240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</a:lstStyle>
          <a:p>
            <a:pPr algn="l" rtl="0"/>
            <a:r>
              <a:rPr lang="de"/>
              <a:t>Untertitel durch Klicken hinzufügen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A2750E7C-D01B-4533-A0B8-2E7EF2B168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30952" y="754711"/>
            <a:ext cx="6099048" cy="5340096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73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hteck 4">
            <a:extLst>
              <a:ext uri="{FF2B5EF4-FFF2-40B4-BE49-F238E27FC236}">
                <a16:creationId xmlns:a16="http://schemas.microsoft.com/office/drawing/2014/main" id="{FAC5ABB9-3EAC-446C-B128-CFDB09B24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0DED2D7-7BC9-473D-8241-8289B5821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7" name="Rechteck 6">
            <a:extLst>
              <a:ext uri="{FF2B5EF4-FFF2-40B4-BE49-F238E27FC236}">
                <a16:creationId xmlns:a16="http://schemas.microsoft.com/office/drawing/2014/main" id="{19C2616F-4436-4A60-BB08-54EC762C5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1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2A5B690-D47A-166B-0BEE-8CDC1BB5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4114800" cy="457200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D99B7A4E-1E73-5148-8EF4-5232DBEAFE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517904"/>
            <a:ext cx="5212080" cy="4572000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01.03.20XX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1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umbruch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751A4182-6276-41ED-8EAF-0C6A4D8FF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7" name="Rechteck 6">
            <a:extLst>
              <a:ext uri="{FF2B5EF4-FFF2-40B4-BE49-F238E27FC236}">
                <a16:creationId xmlns:a16="http://schemas.microsoft.com/office/drawing/2014/main" id="{EF4B644F-A23D-409C-9540-B41AC18DB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7997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C320B4-1D6E-D480-A44F-13517DFF7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0" y="841248"/>
            <a:ext cx="4114800" cy="3474720"/>
          </a:xfrm>
        </p:spPr>
        <p:txBody>
          <a:bodyPr rtlCol="0" anchor="ctr">
            <a:normAutofit/>
          </a:bodyPr>
          <a:lstStyle>
            <a:lvl1pPr>
              <a:defRPr sz="4400"/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9" name="Untertitel 19">
            <a:extLst>
              <a:ext uri="{FF2B5EF4-FFF2-40B4-BE49-F238E27FC236}">
                <a16:creationId xmlns:a16="http://schemas.microsoft.com/office/drawing/2014/main" id="{E8F46CAD-D4FF-4BBC-937E-CBBD034A18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06641" y="4570807"/>
            <a:ext cx="4114800" cy="15240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</a:lstStyle>
          <a:p>
            <a:pPr algn="l" rtl="0"/>
            <a:r>
              <a:rPr lang="de"/>
              <a:t>Untertitel durch Klicken hinzufügen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A2750E7C-D01B-4533-A0B8-2E7EF2B168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" y="758952"/>
            <a:ext cx="6099048" cy="5340096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027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umbruch mit Untertit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ihandform: Form 7">
            <a:extLst>
              <a:ext uri="{FF2B5EF4-FFF2-40B4-BE49-F238E27FC236}">
                <a16:creationId xmlns:a16="http://schemas.microsoft.com/office/drawing/2014/main" id="{1D03AAFC-F6FA-4A24-BE1D-34AE6AD64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5" name="Titel 16">
            <a:extLst>
              <a:ext uri="{FF2B5EF4-FFF2-40B4-BE49-F238E27FC236}">
                <a16:creationId xmlns:a16="http://schemas.microsoft.com/office/drawing/2014/main" id="{8950CCE3-163E-46A1-B489-395F3F75F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5212080" cy="2788920"/>
          </a:xfrm>
        </p:spPr>
        <p:txBody>
          <a:bodyPr rtlCol="0" anchor="b">
            <a:normAutofit/>
          </a:bodyPr>
          <a:lstStyle>
            <a:lvl1pPr>
              <a:defRPr sz="4400"/>
            </a:lvl1pPr>
          </a:lstStyle>
          <a:p>
            <a:pPr algn="l"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6" name="Untertitel 17">
            <a:extLst>
              <a:ext uri="{FF2B5EF4-FFF2-40B4-BE49-F238E27FC236}">
                <a16:creationId xmlns:a16="http://schemas.microsoft.com/office/drawing/2014/main" id="{81E38157-454C-44D5-8D2B-A220A53D7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1999"/>
            <a:ext cx="5212080" cy="164592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</a:lstStyle>
          <a:p>
            <a:pPr algn="l" rtl="0"/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82190B39-D040-425A-9AD6-58A7533FEA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3448" y="756284"/>
            <a:ext cx="4434840" cy="5349240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06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hteck 9">
            <a:extLst>
              <a:ext uri="{FF2B5EF4-FFF2-40B4-BE49-F238E27FC236}">
                <a16:creationId xmlns:a16="http://schemas.microsoft.com/office/drawing/2014/main" id="{924A1CC7-4419-4A64-9DC9-AE157407A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A2F8EC6-DD66-475C-B129-22B374F49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12" name="Freihandform: Form 11">
            <a:extLst>
              <a:ext uri="{FF2B5EF4-FFF2-40B4-BE49-F238E27FC236}">
                <a16:creationId xmlns:a16="http://schemas.microsoft.com/office/drawing/2014/main" id="{86FA963F-8B94-469B-B1A5-890D9134F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61999" y="0"/>
            <a:ext cx="11430001" cy="6168789"/>
          </a:xfrm>
          <a:custGeom>
            <a:avLst/>
            <a:gdLst>
              <a:gd name="connsiteX0" fmla="*/ 0 w 11430001"/>
              <a:gd name="connsiteY0" fmla="*/ 0 h 6168789"/>
              <a:gd name="connsiteX1" fmla="*/ 5334002 w 11430001"/>
              <a:gd name="connsiteY1" fmla="*/ 0 h 6168789"/>
              <a:gd name="connsiteX2" fmla="*/ 5334002 w 11430001"/>
              <a:gd name="connsiteY2" fmla="*/ 771523 h 6168789"/>
              <a:gd name="connsiteX3" fmla="*/ 11430001 w 11430001"/>
              <a:gd name="connsiteY3" fmla="*/ 771523 h 6168789"/>
              <a:gd name="connsiteX4" fmla="*/ 11430001 w 11430001"/>
              <a:gd name="connsiteY4" fmla="*/ 6168789 h 6168789"/>
              <a:gd name="connsiteX5" fmla="*/ 0 w 11430001"/>
              <a:gd name="connsiteY5" fmla="*/ 6168789 h 616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30001" h="6168789">
                <a:moveTo>
                  <a:pt x="0" y="0"/>
                </a:moveTo>
                <a:lnTo>
                  <a:pt x="5334002" y="0"/>
                </a:lnTo>
                <a:lnTo>
                  <a:pt x="5334002" y="771523"/>
                </a:lnTo>
                <a:lnTo>
                  <a:pt x="11430001" y="771523"/>
                </a:lnTo>
                <a:lnTo>
                  <a:pt x="11430001" y="6168789"/>
                </a:lnTo>
                <a:lnTo>
                  <a:pt x="0" y="6168789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4CD44A43-6E39-4FE6-87BB-C65CE8FC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649"/>
            <a:ext cx="4754880" cy="164592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5" name="Inhaltsplatzhalter 5">
            <a:extLst>
              <a:ext uri="{FF2B5EF4-FFF2-40B4-BE49-F238E27FC236}">
                <a16:creationId xmlns:a16="http://schemas.microsoft.com/office/drawing/2014/main" id="{0C795068-4EB8-AD75-B4FA-E0676D8235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17904" y="3291840"/>
            <a:ext cx="4754880" cy="2743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5229EB0D-B986-4E26-BDF3-305AE3233E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00954" y="883486"/>
            <a:ext cx="4562856" cy="5212513"/>
          </a:xfrm>
          <a:solidFill>
            <a:schemeClr val="accent6"/>
          </a:solidFill>
        </p:spPr>
        <p:txBody>
          <a:bodyPr rtlCol="0"/>
          <a:lstStyle/>
          <a:p>
            <a:pPr rtl="0"/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01.03.20XX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907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56DDD407-AEC1-3D37-ADE9-45D0416B208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17904" y="3108960"/>
            <a:ext cx="4334256" cy="301752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6200E1C4-7A2D-07AE-8DB0-52CEF088A1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36792" y="3108960"/>
            <a:ext cx="4334256" cy="301752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01.03.20XX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02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ei Inhalte">
    <p:bg>
      <p:bgPr>
        <a:gradFill>
          <a:gsLst>
            <a:gs pos="10000">
              <a:schemeClr val="accent5"/>
            </a:gs>
            <a:gs pos="90000">
              <a:schemeClr val="accent1"/>
            </a:gs>
            <a:gs pos="70000">
              <a:schemeClr val="accent2"/>
            </a:gs>
            <a:gs pos="30000">
              <a:schemeClr val="accent4"/>
            </a:gs>
            <a:gs pos="50000">
              <a:schemeClr val="accent3">
                <a:lumMod val="60000"/>
                <a:lumOff val="40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47E0814-6B26-FB38-93C1-BA5A000B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1"/>
            <a:ext cx="12192000" cy="6095999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5340096" cy="1911096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56DDD407-AEC1-3D37-ADE9-45D0416B208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9048" y="1517904"/>
            <a:ext cx="5340096" cy="1911096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6200E1C4-7A2D-07AE-8DB0-52CEF088A1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86968" y="3867912"/>
            <a:ext cx="10424160" cy="23774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01.03.20XX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51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hteck 4">
            <a:extLst>
              <a:ext uri="{FF2B5EF4-FFF2-40B4-BE49-F238E27FC236}">
                <a16:creationId xmlns:a16="http://schemas.microsoft.com/office/drawing/2014/main" id="{FAC5ABB9-3EAC-446C-B128-CFDB09B24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0DED2D7-7BC9-473D-8241-8289B5821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7" name="Rechteck 6">
            <a:extLst>
              <a:ext uri="{FF2B5EF4-FFF2-40B4-BE49-F238E27FC236}">
                <a16:creationId xmlns:a16="http://schemas.microsoft.com/office/drawing/2014/main" id="{19C2616F-4436-4A60-BB08-54EC762C5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1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1" name="Titel 9">
            <a:extLst>
              <a:ext uri="{FF2B5EF4-FFF2-40B4-BE49-F238E27FC236}">
                <a16:creationId xmlns:a16="http://schemas.microsoft.com/office/drawing/2014/main" id="{DF86B59D-D895-19E7-B742-EE199B718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10424160" cy="128016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9" name="Inhaltsplatzhalter 5">
            <a:extLst>
              <a:ext uri="{FF2B5EF4-FFF2-40B4-BE49-F238E27FC236}">
                <a16:creationId xmlns:a16="http://schemas.microsoft.com/office/drawing/2014/main" id="{A7544B75-76FD-A2AD-3444-313EF1771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8952" y="3200400"/>
            <a:ext cx="6400800" cy="2926080"/>
          </a:xfrm>
        </p:spPr>
        <p:txBody>
          <a:bodyPr rtlCol="0">
            <a:normAutofit/>
          </a:bodyPr>
          <a:lstStyle>
            <a:lvl1pPr>
              <a:spcBef>
                <a:spcPts val="500"/>
              </a:spcBef>
              <a:defRPr sz="1800" b="1"/>
            </a:lvl1pPr>
            <a:lvl2pPr>
              <a:spcBef>
                <a:spcPts val="0"/>
              </a:spcBef>
              <a:spcAft>
                <a:spcPts val="500"/>
              </a:spcAft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0F9EB1B3-9B21-0E61-FC8A-659EDC63DA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598664" y="3108960"/>
            <a:ext cx="3739896" cy="29260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e"/>
              <a:t>01.03.20XX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538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de-DE"/>
              <a:t>Mastertitelformat bearbeiten</a:t>
            </a:r>
            <a:endParaRPr lang="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3108960"/>
            <a:ext cx="9144000" cy="2926080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algn="r" rtl="0"/>
            <a:r>
              <a:rPr lang="de"/>
              <a:t>01.03.20XX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9054356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"/>
              <a:t>Textmasterformat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 rtl="0"/>
            <a:r>
              <a:rPr lang="de"/>
              <a:t>01.03.20XX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 rtl="0"/>
            <a:endParaRPr lang="en-US" sz="100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pPr rtl="0"/>
            <a:fld id="{CB1E4CB7-CB13-4810-BF18-BE31AFC64F93}" type="slidenum">
              <a:rPr lang="en-US" smtClean="0"/>
              <a:pPr/>
              <a:t>‹Nr.›</a:t>
            </a:fld>
            <a:endParaRPr lang="en-US" sz="1000" dirty="0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51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6" r:id="rId2"/>
    <p:sldLayoutId id="2147483694" r:id="rId3"/>
    <p:sldLayoutId id="2147483697" r:id="rId4"/>
    <p:sldLayoutId id="2147483695" r:id="rId5"/>
    <p:sldLayoutId id="2147483688" r:id="rId6"/>
    <p:sldLayoutId id="2147483698" r:id="rId7"/>
    <p:sldLayoutId id="2147483684" r:id="rId8"/>
    <p:sldLayoutId id="2147483673" r:id="rId9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neurips.cc/paper_files/paper/2023/hash/ec702dd6e83b2113a43614685a7e2ac6-Abstract-Conference.html" TargetMode="External"/><Relationship Id="rId2" Type="http://schemas.openxmlformats.org/officeDocument/2006/relationships/hyperlink" Target="https://proceedings.neurips.cc/paper_files/paper/2021/hash/9a32ff36c65e8ba30915a21b7bd76506-Abstract.html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openreview.net/forum?id=ONOe6cAE9I" TargetMode="External"/><Relationship Id="rId4" Type="http://schemas.openxmlformats.org/officeDocument/2006/relationships/hyperlink" Target="https://elifesciences.org/reviewed-preprints/106827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79A4E83-20AF-0BE7-D02D-BAC5898F5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chemeClr val="bg1"/>
          </a:solidFill>
        </p:spPr>
        <p:txBody>
          <a:bodyPr/>
          <a:lstStyle/>
          <a:p>
            <a:endParaRPr lang="en-GB" noProof="0" dirty="0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C60B4E40-ED59-4DFA-97D2-04570E28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1" y="841248"/>
            <a:ext cx="8876661" cy="3474720"/>
          </a:xfrm>
        </p:spPr>
        <p:txBody>
          <a:bodyPr rtlCol="0" anchor="ctr">
            <a:normAutofit/>
          </a:bodyPr>
          <a:lstStyle/>
          <a:p>
            <a:pPr rtl="0"/>
            <a:r>
              <a:rPr lang="en-GB" noProof="0" dirty="0"/>
              <a:t>Transformers as generative models for neural activity</a:t>
            </a:r>
          </a:p>
        </p:txBody>
      </p:sp>
      <p:sp>
        <p:nvSpPr>
          <p:cNvPr id="20" name="Untertitel 19">
            <a:extLst>
              <a:ext uri="{FF2B5EF4-FFF2-40B4-BE49-F238E27FC236}">
                <a16:creationId xmlns:a16="http://schemas.microsoft.com/office/drawing/2014/main" id="{35E6FB68-BA70-4F6F-9874-1F349422D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0807"/>
            <a:ext cx="4123899" cy="1524000"/>
          </a:xfrm>
        </p:spPr>
        <p:txBody>
          <a:bodyPr rtlCol="0">
            <a:normAutofit/>
          </a:bodyPr>
          <a:lstStyle/>
          <a:p>
            <a:pPr rtl="0"/>
            <a:r>
              <a:rPr lang="en-GB" sz="1800" noProof="0" dirty="0"/>
              <a:t>Jonas Himmetsberger</a:t>
            </a:r>
          </a:p>
          <a:p>
            <a:pPr rtl="0"/>
            <a:r>
              <a:rPr lang="en-GB" sz="1800" noProof="0" dirty="0"/>
              <a:t>TU Wien </a:t>
            </a:r>
          </a:p>
          <a:p>
            <a:pPr rtl="0"/>
            <a:r>
              <a:rPr lang="en-GB" sz="1800" noProof="0" dirty="0"/>
              <a:t>e12315363@student.tuwien.ac.at</a:t>
            </a:r>
          </a:p>
        </p:txBody>
      </p:sp>
    </p:spTree>
    <p:extLst>
      <p:ext uri="{BB962C8B-B14F-4D97-AF65-F5344CB8AC3E}">
        <p14:creationId xmlns:p14="http://schemas.microsoft.com/office/powerpoint/2010/main" val="90140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4CF172-3947-42CE-B33F-43FB799FD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4114800" cy="4572000"/>
          </a:xfrm>
        </p:spPr>
        <p:txBody>
          <a:bodyPr rtlCol="0"/>
          <a:lstStyle/>
          <a:p>
            <a:pPr rtl="0"/>
            <a:r>
              <a:rPr lang="en-GB" sz="4400" noProof="0" dirty="0"/>
              <a:t>Agenda</a:t>
            </a:r>
            <a:br>
              <a:rPr lang="en-GB" noProof="0" dirty="0"/>
            </a:br>
            <a:r>
              <a:rPr lang="en-GB" sz="1800" noProof="0" dirty="0">
                <a:latin typeface="+mn-lt"/>
              </a:rPr>
              <a:t>OUTLINE</a:t>
            </a:r>
            <a:endParaRPr lang="en-GB" noProof="0" dirty="0">
              <a:latin typeface="+mn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F14772-A1EE-4EA8-8C5D-46383706A5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53853" y="1517904"/>
            <a:ext cx="7554227" cy="4572000"/>
          </a:xfrm>
        </p:spPr>
        <p:txBody>
          <a:bodyPr rtlCol="0">
            <a:normAutofit/>
          </a:bodyPr>
          <a:lstStyle/>
          <a:p>
            <a:pPr marL="457200" indent="-457200" rtl="0">
              <a:buAutoNum type="arabicPeriod"/>
            </a:pPr>
            <a:r>
              <a:rPr lang="en-GB" noProof="0" dirty="0"/>
              <a:t>Context &amp; state of the art</a:t>
            </a:r>
            <a:br>
              <a:rPr lang="en-GB" noProof="0" dirty="0"/>
            </a:br>
            <a:r>
              <a:rPr lang="en-GB" sz="1600" noProof="0" dirty="0"/>
              <a:t>Transformers for neural spiking activity; why evaluation is hard</a:t>
            </a:r>
          </a:p>
          <a:p>
            <a:pPr marL="457200" indent="-457200" rtl="0">
              <a:buAutoNum type="arabicPeriod"/>
            </a:pPr>
            <a:r>
              <a:rPr lang="en-GB" noProof="0" dirty="0"/>
              <a:t>Two </a:t>
            </a:r>
            <a:r>
              <a:rPr lang="en-GB" noProof="0" dirty="0" err="1"/>
              <a:t>scirentific</a:t>
            </a:r>
            <a:r>
              <a:rPr lang="en-GB" noProof="0" dirty="0"/>
              <a:t> questions</a:t>
            </a:r>
            <a:br>
              <a:rPr lang="en-GB" noProof="0" dirty="0"/>
            </a:br>
            <a:r>
              <a:rPr lang="en-GB" sz="1600" noProof="0" dirty="0"/>
              <a:t>Architecture: What did </a:t>
            </a:r>
            <a:r>
              <a:rPr lang="en-GB" sz="1600" noProof="0" dirty="0" err="1"/>
              <a:t>SpikeGPT</a:t>
            </a:r>
            <a:r>
              <a:rPr lang="en-GB" sz="1600" noProof="0" dirty="0"/>
              <a:t> improve?  </a:t>
            </a:r>
            <a:br>
              <a:rPr lang="en-GB" sz="1600" noProof="0" dirty="0"/>
            </a:br>
            <a:r>
              <a:rPr lang="en-GB" sz="1600" noProof="0" dirty="0"/>
              <a:t>Evaluation: how to score generation?</a:t>
            </a:r>
          </a:p>
          <a:p>
            <a:pPr marL="457200" indent="-457200" rtl="0">
              <a:buAutoNum type="arabicPeriod"/>
            </a:pPr>
            <a:r>
              <a:rPr lang="en-GB" noProof="0" dirty="0"/>
              <a:t>Results</a:t>
            </a:r>
            <a:br>
              <a:rPr lang="en-GB" noProof="0" dirty="0"/>
            </a:br>
            <a:r>
              <a:rPr lang="en-GB" sz="1600" noProof="0" dirty="0"/>
              <a:t>Architecture comparison, Brain FID, metric validation, limitations</a:t>
            </a:r>
          </a:p>
        </p:txBody>
      </p:sp>
    </p:spTree>
    <p:extLst>
      <p:ext uri="{BB962C8B-B14F-4D97-AF65-F5344CB8AC3E}">
        <p14:creationId xmlns:p14="http://schemas.microsoft.com/office/powerpoint/2010/main" val="3260502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420E8BD-3489-B16C-1BFA-C0D3D0795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407278"/>
            <a:ext cx="9144000" cy="2043444"/>
          </a:xfrm>
        </p:spPr>
        <p:txBody>
          <a:bodyPr>
            <a:normAutofit/>
          </a:bodyPr>
          <a:lstStyle/>
          <a:p>
            <a:r>
              <a:rPr lang="en-GB" sz="6000" noProof="0" dirty="0"/>
              <a:t>Scientific context </a:t>
            </a:r>
            <a:br>
              <a:rPr lang="en-GB" sz="6000" noProof="0" dirty="0"/>
            </a:br>
            <a:r>
              <a:rPr lang="en-GB" sz="6000" noProof="0" dirty="0"/>
              <a:t>&amp; state of the art</a:t>
            </a:r>
          </a:p>
        </p:txBody>
      </p:sp>
    </p:spTree>
    <p:extLst>
      <p:ext uri="{BB962C8B-B14F-4D97-AF65-F5344CB8AC3E}">
        <p14:creationId xmlns:p14="http://schemas.microsoft.com/office/powerpoint/2010/main" val="3072677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2866FCF-DEFC-0D7D-F7F3-5E50927A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" y="1642130"/>
            <a:ext cx="10424160" cy="1280160"/>
          </a:xfrm>
        </p:spPr>
        <p:txBody>
          <a:bodyPr>
            <a:normAutofit/>
          </a:bodyPr>
          <a:lstStyle/>
          <a:p>
            <a:r>
              <a:rPr lang="en-GB" sz="2000" noProof="0" dirty="0">
                <a:latin typeface="+mn-lt"/>
              </a:rPr>
              <a:t>CONTEXT</a:t>
            </a:r>
            <a:br>
              <a:rPr lang="en-GB" noProof="0" dirty="0"/>
            </a:br>
            <a:r>
              <a:rPr lang="en-GB" noProof="0" dirty="0"/>
              <a:t>Transformers in neuroscience</a:t>
            </a:r>
            <a:br>
              <a:rPr lang="en-GB" noProof="0" dirty="0"/>
            </a:br>
            <a:r>
              <a:rPr lang="en-GB" sz="2400" noProof="0" dirty="0">
                <a:latin typeface="+mn-lt"/>
              </a:rPr>
              <a:t>Short recap of Bellec </a:t>
            </a:r>
            <a:r>
              <a:rPr lang="en-GB" sz="2400" noProof="0" dirty="0" err="1">
                <a:latin typeface="+mn-lt"/>
              </a:rPr>
              <a:t>Guillaumes</a:t>
            </a:r>
            <a:r>
              <a:rPr lang="en-GB" sz="2400" noProof="0" dirty="0">
                <a:latin typeface="+mn-lt"/>
              </a:rPr>
              <a:t>’ talk</a:t>
            </a:r>
            <a:endParaRPr lang="en-GB" noProof="0" dirty="0">
              <a:latin typeface="+mn-lt"/>
            </a:endParaRP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EA34DBA-FDF7-594E-503C-EECD6BBEAD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2480" y="2922290"/>
            <a:ext cx="6400800" cy="2926080"/>
          </a:xfrm>
        </p:spPr>
        <p:txBody>
          <a:bodyPr/>
          <a:lstStyle/>
          <a:p>
            <a:r>
              <a:rPr lang="en-GB" noProof="0" dirty="0"/>
              <a:t>The architecture behind LLMs applied to neural spike activity (see: spike_gpt.py, notebook 2)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CEB4D211-7DEB-9C40-E790-97A24EDC735E}"/>
              </a:ext>
            </a:extLst>
          </p:cNvPr>
          <p:cNvSpPr/>
          <p:nvPr/>
        </p:nvSpPr>
        <p:spPr>
          <a:xfrm>
            <a:off x="518160" y="3947059"/>
            <a:ext cx="3566160" cy="19013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744C683-06D0-B029-FB56-C2B8BB77F18B}"/>
              </a:ext>
            </a:extLst>
          </p:cNvPr>
          <p:cNvSpPr/>
          <p:nvPr/>
        </p:nvSpPr>
        <p:spPr>
          <a:xfrm>
            <a:off x="838200" y="4156731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b="1" noProof="0" dirty="0"/>
              <a:t>Spikes as sequences</a:t>
            </a: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6559FAA-148C-BBBA-8FD0-49A2CC02E3F8}"/>
              </a:ext>
            </a:extLst>
          </p:cNvPr>
          <p:cNvSpPr/>
          <p:nvPr/>
        </p:nvSpPr>
        <p:spPr>
          <a:xfrm>
            <a:off x="838200" y="4659651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noProof="0" dirty="0">
                <a:solidFill>
                  <a:srgbClr val="5F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recording is a binary raster: neurons x time bins. Naturally a sequence-modelling problem.</a:t>
            </a:r>
            <a:endParaRPr lang="en-GB" sz="1400" noProof="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A2D22FF4-0C77-407D-068E-488998DC9DB4}"/>
              </a:ext>
            </a:extLst>
          </p:cNvPr>
          <p:cNvSpPr/>
          <p:nvPr/>
        </p:nvSpPr>
        <p:spPr>
          <a:xfrm>
            <a:off x="4312920" y="3947059"/>
            <a:ext cx="3566160" cy="19013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AB3B7B2-642E-19A4-4BD9-6A546BADC712}"/>
              </a:ext>
            </a:extLst>
          </p:cNvPr>
          <p:cNvSpPr/>
          <p:nvPr/>
        </p:nvSpPr>
        <p:spPr>
          <a:xfrm>
            <a:off x="4632960" y="4156731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b="1" noProof="0" dirty="0"/>
              <a:t>Why transformers</a:t>
            </a: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740637EB-E0A3-7A92-DDC4-8251F90A72C4}"/>
              </a:ext>
            </a:extLst>
          </p:cNvPr>
          <p:cNvSpPr/>
          <p:nvPr/>
        </p:nvSpPr>
        <p:spPr>
          <a:xfrm>
            <a:off x="4632960" y="4659651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noProof="0" dirty="0">
                <a:solidFill>
                  <a:srgbClr val="5F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Parallel, scalable, capture long-range structure + no recurrence bottleneck like RNNs.</a:t>
            </a:r>
            <a:endParaRPr lang="en-GB" sz="1400" noProof="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C8742530-AA0D-5D36-1DE4-8DE8035EDD69}"/>
              </a:ext>
            </a:extLst>
          </p:cNvPr>
          <p:cNvSpPr/>
          <p:nvPr/>
        </p:nvSpPr>
        <p:spPr>
          <a:xfrm>
            <a:off x="8107680" y="3947059"/>
            <a:ext cx="3566160" cy="19013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EB0D8CBB-CA33-D907-8989-D8687B3202A3}"/>
              </a:ext>
            </a:extLst>
          </p:cNvPr>
          <p:cNvSpPr/>
          <p:nvPr/>
        </p:nvSpPr>
        <p:spPr>
          <a:xfrm>
            <a:off x="8427720" y="4156731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b="1" noProof="0" dirty="0"/>
              <a:t>The</a:t>
            </a:r>
            <a:r>
              <a:rPr lang="en-GB" sz="1800" b="1" noProof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b="1" noProof="0" dirty="0"/>
              <a:t>promise</a:t>
            </a: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B6C020CB-D475-4584-2B14-F26C0A9FBA48}"/>
              </a:ext>
            </a:extLst>
          </p:cNvPr>
          <p:cNvSpPr/>
          <p:nvPr/>
        </p:nvSpPr>
        <p:spPr>
          <a:xfrm>
            <a:off x="8427720" y="4659651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noProof="0" dirty="0">
                <a:solidFill>
                  <a:srgbClr val="5F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across sessions, animals, brain regions (a “foundation model” for neural data)</a:t>
            </a:r>
            <a:endParaRPr lang="en-GB" sz="1400" noProof="0" dirty="0"/>
          </a:p>
        </p:txBody>
      </p:sp>
    </p:spTree>
    <p:extLst>
      <p:ext uri="{BB962C8B-B14F-4D97-AF65-F5344CB8AC3E}">
        <p14:creationId xmlns:p14="http://schemas.microsoft.com/office/powerpoint/2010/main" val="1454161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CB6E2-687B-FD6E-B433-8D8B7A25C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162160"/>
            <a:ext cx="10424160" cy="1280160"/>
          </a:xfrm>
        </p:spPr>
        <p:txBody>
          <a:bodyPr/>
          <a:lstStyle/>
          <a:p>
            <a:r>
              <a:rPr lang="en-GB" sz="2000" noProof="0" dirty="0">
                <a:latin typeface="+mn-lt"/>
              </a:rPr>
              <a:t>STATE OF THE ART</a:t>
            </a:r>
            <a:br>
              <a:rPr lang="en-GB" noProof="0" dirty="0"/>
            </a:br>
            <a:r>
              <a:rPr lang="en-GB" noProof="0" dirty="0"/>
              <a:t>Prior work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D4448B1-E3E4-9B0C-A403-F81E7CF45C6E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758952" y="2317671"/>
            <a:ext cx="8608575" cy="41960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ts val="1600"/>
              </a:lnSpc>
              <a:buNone/>
            </a:pPr>
            <a:r>
              <a:rPr lang="en-GB" sz="1200" noProof="0" dirty="0">
                <a:solidFill>
                  <a:srgbClr val="1D9E75"/>
                </a:solidFill>
                <a:latin typeface="Calibri" pitchFamily="34" charset="0"/>
                <a:cs typeface="Calibri" pitchFamily="34" charset="-120"/>
              </a:rPr>
              <a:t>Bellec et al.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GB" sz="1200" noProof="0" dirty="0">
                <a:solidFill>
                  <a:srgbClr val="1D9E75"/>
                </a:solidFill>
                <a:latin typeface="Calibri" pitchFamily="34" charset="0"/>
                <a:cs typeface="Calibri" pitchFamily="34" charset="-120"/>
              </a:rPr>
              <a:t>2021 · </a:t>
            </a:r>
            <a:r>
              <a:rPr lang="en-GB" sz="1200" noProof="0" dirty="0" err="1">
                <a:solidFill>
                  <a:srgbClr val="1D9E75"/>
                </a:solidFill>
                <a:latin typeface="Calibri" pitchFamily="34" charset="0"/>
                <a:cs typeface="Calibri" pitchFamily="34" charset="-120"/>
              </a:rPr>
              <a:t>NeurIPS</a:t>
            </a:r>
            <a:endParaRPr lang="en-GB" sz="1200" noProof="0" dirty="0">
              <a:solidFill>
                <a:srgbClr val="1D9E75"/>
              </a:solidFill>
              <a:latin typeface="Calibri" pitchFamily="34" charset="0"/>
              <a:cs typeface="Calibri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Fitting summary statistics of neural data with a differentiable spiking network simulator</a:t>
            </a:r>
          </a:p>
          <a:p>
            <a:pPr marL="0" indent="0">
              <a:lnSpc>
                <a:spcPct val="100000"/>
              </a:lnSpc>
              <a:buClrTx/>
              <a:buNone/>
            </a:pPr>
            <a:r>
              <a:rPr lang="en-GB" sz="1200" noProof="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spiking nets by likelihood alone yields unrealistic activity; add summary-statistic dissimilarity terms to fix it.</a:t>
            </a:r>
            <a:endParaRPr kumimoji="0" lang="en-GB" sz="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noProof="0" dirty="0">
                <a:ln>
                  <a:noFill/>
                </a:ln>
                <a:solidFill>
                  <a:srgbClr val="1155C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https://proceedings.neurips.cc/paper_files/paper/2021/hash/9a32ff36c65e8ba30915a21b7bd76506-Abstract.html</a:t>
            </a:r>
            <a:br>
              <a:rPr kumimoji="0" lang="en-GB" sz="1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kumimoji="0" lang="en-GB" sz="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GB" sz="1200" noProof="0" dirty="0" err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Sourmpis</a:t>
            </a:r>
            <a:r>
              <a:rPr lang="en-GB" sz="1200" noProof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</a:t>
            </a:r>
            <a:endParaRPr lang="en-GB" sz="1200" noProof="0" dirty="0"/>
          </a:p>
          <a:p>
            <a:pPr marL="0" indent="0">
              <a:lnSpc>
                <a:spcPts val="1600"/>
              </a:lnSpc>
              <a:buNone/>
            </a:pPr>
            <a:r>
              <a:rPr lang="en-GB" sz="1200" noProof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· </a:t>
            </a:r>
            <a:r>
              <a:rPr lang="en-GB" sz="1200" noProof="0" dirty="0" err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</a:t>
            </a:r>
            <a:endParaRPr lang="en-GB" sz="1200" noProof="0" dirty="0"/>
          </a:p>
          <a:p>
            <a:pPr marL="0" indent="0">
              <a:lnSpc>
                <a:spcPct val="100000"/>
              </a:lnSpc>
              <a:buClrTx/>
              <a:buNone/>
            </a:pPr>
            <a:r>
              <a:rPr lang="en-GB" sz="1200" noProof="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matching: optimal-transport distance between generated and recorded trial distributions captures variability.</a:t>
            </a:r>
            <a:br>
              <a:rPr kumimoji="0" lang="en-GB" sz="1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GB" sz="1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Trial matching: capturing variability with data-constrained spiking neural networks</a:t>
            </a:r>
            <a:endParaRPr kumimoji="0" lang="en-GB" sz="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noProof="0" dirty="0">
                <a:ln>
                  <a:noFill/>
                </a:ln>
                <a:solidFill>
                  <a:srgbClr val="1155C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https://proceedings.neurips.cc/paper_files/paper/2023/hash/ec702dd6e83b2113a43614685a7e2ac6-Abstract-Conference.html</a:t>
            </a:r>
            <a:endParaRPr lang="en-GB" sz="1200" b="0" noProof="0" dirty="0">
              <a:solidFill>
                <a:srgbClr val="1155C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0" i="0" u="none" strike="noStrike" cap="none" normalizeH="0" baseline="0" noProof="0" dirty="0">
              <a:ln>
                <a:noFill/>
              </a:ln>
              <a:solidFill>
                <a:srgbClr val="1155CC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GB" sz="1200" noProof="0" dirty="0" err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Sourmpis</a:t>
            </a:r>
            <a:r>
              <a:rPr lang="en-GB" sz="1200" noProof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Bellec et al.</a:t>
            </a:r>
            <a:endParaRPr lang="en-GB" sz="1200" noProof="0" dirty="0"/>
          </a:p>
          <a:p>
            <a:pPr marL="0" indent="0">
              <a:lnSpc>
                <a:spcPts val="1600"/>
              </a:lnSpc>
              <a:buNone/>
            </a:pPr>
            <a:r>
              <a:rPr lang="en-GB" sz="1200" noProof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· </a:t>
            </a:r>
            <a:r>
              <a:rPr lang="en-GB" sz="1200" noProof="0" dirty="0" err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eLife</a:t>
            </a:r>
            <a:endParaRPr lang="en-GB" sz="1200" noProof="0" dirty="0"/>
          </a:p>
          <a:p>
            <a:pPr marL="0" indent="0">
              <a:lnSpc>
                <a:spcPct val="100000"/>
              </a:lnSpc>
              <a:buClrTx/>
              <a:buNone/>
            </a:pPr>
            <a:r>
              <a:rPr lang="en-GB" sz="1200" noProof="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test: biologically informed cortical models (RNNs) predict optogenetic effects — even when they fit worse on test data.</a:t>
            </a:r>
            <a:endParaRPr lang="en-GB" sz="1200" noProof="0" dirty="0"/>
          </a:p>
          <a:p>
            <a:pPr marL="0" lvl="0" indent="0">
              <a:lnSpc>
                <a:spcPct val="100000"/>
              </a:lnSpc>
              <a:buClrTx/>
              <a:buNone/>
            </a:pPr>
            <a:r>
              <a:rPr lang="en-GB" sz="1200" b="0" noProof="0" dirty="0">
                <a:solidFill>
                  <a:srgbClr val="1155CC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https://elifesciences.org/reviewed-preprints/106827</a:t>
            </a:r>
            <a:br>
              <a:rPr kumimoji="0" lang="en-GB" sz="1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kumimoji="0" lang="en-GB" sz="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GB" sz="1200" noProof="0" dirty="0">
                <a:solidFill>
                  <a:srgbClr val="1D9E75"/>
                </a:solidFill>
                <a:latin typeface="Calibri" pitchFamily="34" charset="0"/>
                <a:cs typeface="Calibri" pitchFamily="34" charset="-120"/>
              </a:rPr>
              <a:t>Ye et al.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GB" sz="1200" noProof="0" dirty="0">
                <a:solidFill>
                  <a:srgbClr val="1D9E75"/>
                </a:solidFill>
                <a:latin typeface="Calibri" pitchFamily="34" charset="0"/>
                <a:cs typeface="Calibri" pitchFamily="34" charset="-120"/>
              </a:rPr>
              <a:t>2025 · ICLR (NDT3)</a:t>
            </a:r>
          </a:p>
          <a:p>
            <a:pPr marL="0" indent="0">
              <a:lnSpc>
                <a:spcPct val="100000"/>
              </a:lnSpc>
              <a:buClrTx/>
              <a:buNone/>
            </a:pPr>
            <a:r>
              <a:rPr lang="en-GB" sz="1200" noProof="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foundation model for motor decoding, 2000h data; finds scaling saturates — more data isn't enough.</a:t>
            </a:r>
            <a:endParaRPr lang="en-GB" sz="1200" noProof="0" dirty="0">
              <a:ea typeface="Calibri" pitchFamily="34" charset="-122"/>
            </a:endParaRPr>
          </a:p>
          <a:p>
            <a:pPr marL="0" indent="0">
              <a:lnSpc>
                <a:spcPct val="100000"/>
              </a:lnSpc>
              <a:buClrTx/>
              <a:buNone/>
            </a:pPr>
            <a:r>
              <a:rPr kumimoji="0" lang="en-GB" sz="1200" b="0" i="0" u="none" strike="noStrike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Generalist Intracortical Motor Decoder</a:t>
            </a:r>
            <a:endParaRPr kumimoji="0" lang="en-GB" sz="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noProof="0" dirty="0">
                <a:ln>
                  <a:noFill/>
                </a:ln>
                <a:solidFill>
                  <a:srgbClr val="1155C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https://openreview.net/forum?id=ONOe6cAE9I</a:t>
            </a:r>
            <a:endParaRPr kumimoji="0" lang="en-GB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026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572EBC-8E11-5CDB-1505-C636B6EF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Is the model good?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2EC3CB7-3959-7566-BBC6-0C1C0F9883D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GB" noProof="0" dirty="0"/>
              <a:t>Discriminative</a:t>
            </a:r>
          </a:p>
          <a:p>
            <a:pPr lvl="1"/>
            <a:r>
              <a:rPr lang="en-GB" noProof="0" dirty="0"/>
              <a:t>Given Input, predict target.</a:t>
            </a:r>
          </a:p>
          <a:p>
            <a:pPr lvl="1"/>
            <a:r>
              <a:rPr lang="en-GB" noProof="0" dirty="0"/>
              <a:t>Spike F1, behaviour R</a:t>
            </a:r>
            <a:r>
              <a:rPr lang="en-GB" baseline="30000" noProof="0" dirty="0"/>
              <a:t>2</a:t>
            </a:r>
            <a:r>
              <a:rPr lang="en-GB" noProof="0" dirty="0"/>
              <a:t>, stimulus accuracy</a:t>
            </a:r>
          </a:p>
          <a:p>
            <a:pPr lvl="1"/>
            <a:endParaRPr lang="en-GB" noProof="0" dirty="0"/>
          </a:p>
          <a:p>
            <a:pPr lvl="1"/>
            <a:r>
              <a:rPr lang="en-GB" noProof="0" dirty="0"/>
              <a:t>Tests whether the model can read out information from neural activity</a:t>
            </a:r>
          </a:p>
          <a:p>
            <a:pPr lvl="1"/>
            <a:r>
              <a:rPr lang="en-GB" noProof="0" dirty="0"/>
              <a:t>spike_gpt.py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13F5514-011D-B7A8-098F-4D89B14BBD9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noProof="0" dirty="0"/>
              <a:t>Generative</a:t>
            </a:r>
          </a:p>
          <a:p>
            <a:pPr lvl="1"/>
            <a:r>
              <a:rPr lang="en-GB" noProof="0" dirty="0"/>
              <a:t>Generate activity </a:t>
            </a:r>
            <a:r>
              <a:rPr lang="en-GB" noProof="0" dirty="0">
                <a:sym typeface="Wingdings" panose="05000000000000000000" pitchFamily="2" charset="2"/>
              </a:rPr>
              <a:t> judge realism</a:t>
            </a:r>
          </a:p>
          <a:p>
            <a:pPr lvl="1"/>
            <a:r>
              <a:rPr lang="en-GB" noProof="0" dirty="0">
                <a:sym typeface="Wingdings" panose="05000000000000000000" pitchFamily="2" charset="2"/>
              </a:rPr>
              <a:t>Does generated activity look like real brain data?</a:t>
            </a:r>
          </a:p>
          <a:p>
            <a:pPr lvl="1"/>
            <a:endParaRPr lang="en-GB" noProof="0" dirty="0">
              <a:sym typeface="Wingdings" panose="05000000000000000000" pitchFamily="2" charset="2"/>
            </a:endParaRPr>
          </a:p>
          <a:p>
            <a:pPr lvl="1"/>
            <a:r>
              <a:rPr lang="en-GB" noProof="0" dirty="0"/>
              <a:t>“Evaluating generative models of neural activity is an open question” </a:t>
            </a: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~G. Bellec</a:t>
            </a:r>
          </a:p>
        </p:txBody>
      </p:sp>
    </p:spTree>
    <p:extLst>
      <p:ext uri="{BB962C8B-B14F-4D97-AF65-F5344CB8AC3E}">
        <p14:creationId xmlns:p14="http://schemas.microsoft.com/office/powerpoint/2010/main" val="2147015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104B7-2CAA-9E56-20CD-3B7C60AD0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Borrowing from image generation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FA161EF-B8A2-6E0C-56CA-F20615C5E5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3054096"/>
            <a:ext cx="5212080" cy="4572000"/>
          </a:xfrm>
        </p:spPr>
        <p:txBody>
          <a:bodyPr/>
          <a:lstStyle/>
          <a:p>
            <a:r>
              <a:rPr lang="en-GB" noProof="0" dirty="0"/>
              <a:t>Fréchet Inception Distance (FID) </a:t>
            </a:r>
          </a:p>
          <a:p>
            <a:r>
              <a:rPr lang="en-GB" sz="1600" noProof="0" dirty="0"/>
              <a:t>(Heusel et al. 2017) is the standard way to score GANs and diffusion models. It compares the distribution of real vs generated samples, not individual outputs.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89479F6-BA04-73FE-5B1E-76299E29C6AF}"/>
                  </a:ext>
                </a:extLst>
              </p:cNvPr>
              <p:cNvSpPr txBox="1"/>
              <p:nvPr/>
            </p:nvSpPr>
            <p:spPr>
              <a:xfrm>
                <a:off x="426720" y="5375221"/>
                <a:ext cx="5212080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noProof="0" smtClean="0">
                          <a:latin typeface="Cambria Math" panose="02040503050406030204" pitchFamily="18" charset="0"/>
                        </a:rPr>
                        <m:t>FID</m:t>
                      </m:r>
                      <m:r>
                        <a:rPr lang="en-GB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 noProof="0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i="1" noProof="0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GB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 noProof="0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i="1" noProof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GB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GB" b="0" i="0" noProof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GB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i="0" noProof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i="1" noProof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GB" i="1" noProof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i="0" noProof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i="1" noProof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GB" i="1" noProof="0">
                              <a:latin typeface="Cambria Math" panose="02040503050406030204" pitchFamily="18" charset="0"/>
                            </a:rPr>
                            <m:t>−2</m:t>
                          </m:r>
                          <m:rad>
                            <m:radPr>
                              <m:degHide m:val="on"/>
                              <m:ctrlPr>
                                <a:rPr lang="en-GB" i="1" noProof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GB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i="0" noProof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GB" i="1" noProof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i="0" noProof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GB" i="1" noProof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rad>
                        </m:e>
                      </m:d>
                    </m:oMath>
                  </m:oMathPara>
                </a14:m>
                <a:endParaRPr lang="en-GB" noProof="0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89479F6-BA04-73FE-5B1E-76299E29C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" y="5375221"/>
                <a:ext cx="5212080" cy="714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feld 9">
            <a:extLst>
              <a:ext uri="{FF2B5EF4-FFF2-40B4-BE49-F238E27FC236}">
                <a16:creationId xmlns:a16="http://schemas.microsoft.com/office/drawing/2014/main" id="{77343B2B-9030-93D4-E616-9E68CFBDC436}"/>
              </a:ext>
            </a:extLst>
          </p:cNvPr>
          <p:cNvSpPr txBox="1"/>
          <p:nvPr/>
        </p:nvSpPr>
        <p:spPr>
          <a:xfrm>
            <a:off x="6598920" y="3124200"/>
            <a:ext cx="48341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Mean term: </a:t>
            </a:r>
          </a:p>
          <a:p>
            <a:r>
              <a:rPr lang="en-GB" noProof="0" dirty="0"/>
              <a:t>Are the two clouds </a:t>
            </a:r>
            <a:r>
              <a:rPr lang="en-GB" noProof="0" dirty="0" err="1"/>
              <a:t>centered</a:t>
            </a:r>
            <a:r>
              <a:rPr lang="en-GB" noProof="0" dirty="0"/>
              <a:t> in the same place?</a:t>
            </a:r>
          </a:p>
          <a:p>
            <a:endParaRPr lang="en-GB" noProof="0" dirty="0"/>
          </a:p>
          <a:p>
            <a:r>
              <a:rPr lang="en-GB" noProof="0" dirty="0"/>
              <a:t>Covariance term: </a:t>
            </a:r>
          </a:p>
          <a:p>
            <a:r>
              <a:rPr lang="en-GB" noProof="0" dirty="0"/>
              <a:t>Do they have the same shape and spread?</a:t>
            </a:r>
          </a:p>
          <a:p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Lower = more realistic, 0 = identical distributions</a:t>
            </a:r>
          </a:p>
        </p:txBody>
      </p:sp>
    </p:spTree>
    <p:extLst>
      <p:ext uri="{BB962C8B-B14F-4D97-AF65-F5344CB8AC3E}">
        <p14:creationId xmlns:p14="http://schemas.microsoft.com/office/powerpoint/2010/main" val="224469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35431A-378A-270A-9800-54D7B080A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10549128" cy="813816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From image FID to “Brain FID”</a:t>
            </a:r>
            <a:br>
              <a:rPr lang="en-GB" sz="2200" noProof="0" dirty="0">
                <a:latin typeface="+mn-lt"/>
              </a:rPr>
            </a:br>
            <a:r>
              <a:rPr lang="en-GB" sz="2200" noProof="0" dirty="0">
                <a:latin typeface="+mn-lt"/>
              </a:rPr>
              <a:t>Image FID feeds pictures through a NN (Inception-v3) that extracts features</a:t>
            </a:r>
            <a:br>
              <a:rPr lang="en-GB" sz="2200" noProof="0" dirty="0">
                <a:latin typeface="+mn-lt"/>
              </a:rPr>
            </a:br>
            <a:r>
              <a:rPr lang="en-GB" sz="2200" noProof="0" dirty="0">
                <a:latin typeface="+mn-lt"/>
              </a:rPr>
              <a:t>There is no Inception v3 for brains </a:t>
            </a:r>
            <a:r>
              <a:rPr lang="en-GB" sz="2200" noProof="0" dirty="0">
                <a:latin typeface="+mn-lt"/>
                <a:sym typeface="Wingdings" panose="05000000000000000000" pitchFamily="2" charset="2"/>
              </a:rPr>
              <a:t> Features must be hand crafted from the spikes themselves</a:t>
            </a:r>
            <a:endParaRPr lang="en-GB" sz="2200" noProof="0" dirty="0">
              <a:latin typeface="+mn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04D382-8BD8-C86A-786C-F847DDB4D3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8952" y="2834640"/>
            <a:ext cx="10549128" cy="3255264"/>
          </a:xfrm>
        </p:spPr>
        <p:txBody>
          <a:bodyPr>
            <a:normAutofit/>
          </a:bodyPr>
          <a:lstStyle/>
          <a:p>
            <a:r>
              <a:rPr lang="en-GB" sz="1400" noProof="0" dirty="0"/>
              <a:t>According to Notebook2 and trial-matching framework (</a:t>
            </a:r>
            <a:r>
              <a:rPr lang="en-GB" sz="1400" noProof="0" dirty="0" err="1"/>
              <a:t>Sourmpis</a:t>
            </a:r>
            <a:r>
              <a:rPr lang="en-GB" sz="1400" noProof="0" dirty="0"/>
              <a:t> et al. 2023)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9D39EA-E7D1-D83D-82CE-0D1CFE9FEEB5}"/>
              </a:ext>
            </a:extLst>
          </p:cNvPr>
          <p:cNvSpPr/>
          <p:nvPr/>
        </p:nvSpPr>
        <p:spPr>
          <a:xfrm>
            <a:off x="792640" y="3840181"/>
            <a:ext cx="2091640" cy="19013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994F78E0-99EC-1C86-3F5B-82A7D386DE1A}"/>
              </a:ext>
            </a:extLst>
          </p:cNvPr>
          <p:cNvSpPr/>
          <p:nvPr/>
        </p:nvSpPr>
        <p:spPr>
          <a:xfrm>
            <a:off x="1112681" y="4049853"/>
            <a:ext cx="14782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b="1" noProof="0" dirty="0"/>
              <a:t>Spikes</a:t>
            </a: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9FC81C41-8A67-F9F8-777A-030828199417}"/>
              </a:ext>
            </a:extLst>
          </p:cNvPr>
          <p:cNvSpPr/>
          <p:nvPr/>
        </p:nvSpPr>
        <p:spPr>
          <a:xfrm>
            <a:off x="1112681" y="4552773"/>
            <a:ext cx="150133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noProof="0" dirty="0">
                <a:solidFill>
                  <a:srgbClr val="5F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vs real raster windows</a:t>
            </a:r>
            <a:endParaRPr lang="en-GB" sz="1400" noProof="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1523533B-1A7E-707C-4F9E-745C67229A51}"/>
              </a:ext>
            </a:extLst>
          </p:cNvPr>
          <p:cNvSpPr/>
          <p:nvPr/>
        </p:nvSpPr>
        <p:spPr>
          <a:xfrm>
            <a:off x="3441312" y="3840181"/>
            <a:ext cx="2091640" cy="19013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473B6F6-069F-AA36-4B62-C2DD4DB0DF83}"/>
              </a:ext>
            </a:extLst>
          </p:cNvPr>
          <p:cNvSpPr/>
          <p:nvPr/>
        </p:nvSpPr>
        <p:spPr>
          <a:xfrm>
            <a:off x="3761353" y="4049853"/>
            <a:ext cx="14782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b="1" noProof="0" dirty="0"/>
              <a:t>Pool by area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F7DEA5D-8270-BE37-51EE-1BA9F060E2B8}"/>
              </a:ext>
            </a:extLst>
          </p:cNvPr>
          <p:cNvSpPr/>
          <p:nvPr/>
        </p:nvSpPr>
        <p:spPr>
          <a:xfrm>
            <a:off x="3761353" y="4552773"/>
            <a:ext cx="150133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noProof="0" dirty="0">
                <a:solidFill>
                  <a:srgbClr val="5F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brain region (</a:t>
            </a:r>
            <a:r>
              <a:rPr lang="en-GB" sz="1400" noProof="0" dirty="0" err="1">
                <a:solidFill>
                  <a:srgbClr val="5F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VISp</a:t>
            </a:r>
            <a:r>
              <a:rPr lang="en-GB" sz="1400" noProof="0" dirty="0">
                <a:solidFill>
                  <a:srgbClr val="5F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CA1, …)</a:t>
            </a:r>
            <a:endParaRPr lang="en-GB" sz="1400" noProof="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3CF90751-6480-9BA7-8AE6-5D7B7BA1293D}"/>
              </a:ext>
            </a:extLst>
          </p:cNvPr>
          <p:cNvSpPr/>
          <p:nvPr/>
        </p:nvSpPr>
        <p:spPr>
          <a:xfrm>
            <a:off x="6089984" y="3840181"/>
            <a:ext cx="2091640" cy="19013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3503E6D-6B1C-B45E-8A28-3B9C2FCA7F14}"/>
              </a:ext>
            </a:extLst>
          </p:cNvPr>
          <p:cNvSpPr/>
          <p:nvPr/>
        </p:nvSpPr>
        <p:spPr>
          <a:xfrm>
            <a:off x="6410025" y="4049853"/>
            <a:ext cx="14782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b="1" noProof="0" dirty="0"/>
              <a:t>Frequency features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1716CE67-739D-CC06-66C4-F325D7016217}"/>
              </a:ext>
            </a:extLst>
          </p:cNvPr>
          <p:cNvSpPr/>
          <p:nvPr/>
        </p:nvSpPr>
        <p:spPr>
          <a:xfrm>
            <a:off x="6410025" y="4552773"/>
            <a:ext cx="150133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noProof="0" dirty="0">
                <a:solidFill>
                  <a:srgbClr val="5F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 power per band, 2-30 Hz</a:t>
            </a:r>
            <a:endParaRPr lang="en-GB" sz="1400" noProof="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EFE0B7E6-EDF4-38E6-63C7-69E078D17543}"/>
              </a:ext>
            </a:extLst>
          </p:cNvPr>
          <p:cNvSpPr/>
          <p:nvPr/>
        </p:nvSpPr>
        <p:spPr>
          <a:xfrm>
            <a:off x="8738656" y="3840181"/>
            <a:ext cx="2091640" cy="19013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noProof="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4678DC7F-0CE7-8D40-920E-09EFCB18A5BE}"/>
              </a:ext>
            </a:extLst>
          </p:cNvPr>
          <p:cNvSpPr/>
          <p:nvPr/>
        </p:nvSpPr>
        <p:spPr>
          <a:xfrm>
            <a:off x="9058697" y="4049853"/>
            <a:ext cx="14782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b="1" noProof="0" dirty="0"/>
              <a:t>Fréchet distance</a:t>
            </a: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02C5DCD9-2360-BE51-752D-63CDFDB5FAAA}"/>
              </a:ext>
            </a:extLst>
          </p:cNvPr>
          <p:cNvSpPr/>
          <p:nvPr/>
        </p:nvSpPr>
        <p:spPr>
          <a:xfrm>
            <a:off x="9058697" y="4552773"/>
            <a:ext cx="150133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00" noProof="0" dirty="0">
                <a:solidFill>
                  <a:srgbClr val="5F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 feature distributions</a:t>
            </a:r>
            <a:endParaRPr lang="en-GB" sz="1400" noProof="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126C48D-27A9-A357-0A92-1447A56F87B3}"/>
              </a:ext>
            </a:extLst>
          </p:cNvPr>
          <p:cNvSpPr txBox="1"/>
          <p:nvPr/>
        </p:nvSpPr>
        <p:spPr>
          <a:xfrm>
            <a:off x="2884280" y="4507053"/>
            <a:ext cx="606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noProof="0" dirty="0">
                <a:sym typeface="Wingdings" panose="05000000000000000000" pitchFamily="2" charset="2"/>
              </a:rPr>
              <a:t></a:t>
            </a:r>
            <a:endParaRPr lang="en-GB" sz="3200" noProof="0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9F3F278-4F0A-9D91-FA54-343E5515F69B}"/>
              </a:ext>
            </a:extLst>
          </p:cNvPr>
          <p:cNvSpPr txBox="1"/>
          <p:nvPr/>
        </p:nvSpPr>
        <p:spPr>
          <a:xfrm>
            <a:off x="5532952" y="4516638"/>
            <a:ext cx="606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noProof="0" dirty="0">
                <a:sym typeface="Wingdings" panose="05000000000000000000" pitchFamily="2" charset="2"/>
              </a:rPr>
              <a:t></a:t>
            </a:r>
            <a:endParaRPr lang="en-GB" sz="3200" noProof="0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110869B-30D4-8338-0D7C-662A8102E49D}"/>
              </a:ext>
            </a:extLst>
          </p:cNvPr>
          <p:cNvSpPr txBox="1"/>
          <p:nvPr/>
        </p:nvSpPr>
        <p:spPr>
          <a:xfrm>
            <a:off x="8164986" y="4507052"/>
            <a:ext cx="606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noProof="0" dirty="0">
                <a:sym typeface="Wingdings" panose="05000000000000000000" pitchFamily="2" charset="2"/>
              </a:rPr>
              <a:t></a:t>
            </a:r>
            <a:endParaRPr lang="en-GB" sz="3200" noProof="0" dirty="0"/>
          </a:p>
        </p:txBody>
      </p:sp>
    </p:spTree>
    <p:extLst>
      <p:ext uri="{BB962C8B-B14F-4D97-AF65-F5344CB8AC3E}">
        <p14:creationId xmlns:p14="http://schemas.microsoft.com/office/powerpoint/2010/main" val="743669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FAA8-F0BF-67DB-CE29-C361B79A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A30878C-8433-6D87-B66E-FE891A4B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407278"/>
            <a:ext cx="9144000" cy="2043444"/>
          </a:xfrm>
        </p:spPr>
        <p:txBody>
          <a:bodyPr>
            <a:normAutofit/>
          </a:bodyPr>
          <a:lstStyle/>
          <a:p>
            <a:r>
              <a:rPr lang="en-GB" sz="6000" noProof="0" dirty="0"/>
              <a:t>Scientific questions </a:t>
            </a:r>
            <a:br>
              <a:rPr lang="en-GB" sz="6000" noProof="0" dirty="0"/>
            </a:br>
            <a:r>
              <a:rPr lang="en-GB" sz="6000" noProof="0" dirty="0"/>
              <a:t>&amp; contribution</a:t>
            </a:r>
          </a:p>
        </p:txBody>
      </p:sp>
    </p:spTree>
    <p:extLst>
      <p:ext uri="{BB962C8B-B14F-4D97-AF65-F5344CB8AC3E}">
        <p14:creationId xmlns:p14="http://schemas.microsoft.com/office/powerpoint/2010/main" val="816395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583AE77-C827-8DD5-1444-09CB5B3EE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Two questions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4B22EA2-B804-1EB8-DFD7-168D060781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17904" y="3108960"/>
            <a:ext cx="4334256" cy="1828800"/>
          </a:xfrm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/>
          <a:lstStyle/>
          <a:p>
            <a:r>
              <a:rPr lang="en-GB" noProof="0" dirty="0"/>
              <a:t>Architecture</a:t>
            </a:r>
          </a:p>
          <a:p>
            <a:pPr lvl="1"/>
            <a:r>
              <a:rPr lang="en-GB" noProof="0" dirty="0"/>
              <a:t>How does </a:t>
            </a:r>
            <a:r>
              <a:rPr lang="en-GB" noProof="0" dirty="0" err="1"/>
              <a:t>SpikeGPT‘s</a:t>
            </a:r>
            <a:r>
              <a:rPr lang="en-GB" noProof="0" dirty="0"/>
              <a:t> design improve a standard GPT implementation? </a:t>
            </a:r>
          </a:p>
          <a:p>
            <a:pPr lvl="1"/>
            <a:r>
              <a:rPr lang="en-GB" noProof="0" dirty="0"/>
              <a:t>Does a plain, textbook GPT — sinusoidal positions, </a:t>
            </a:r>
            <a:r>
              <a:rPr lang="en-GB" noProof="0" dirty="0" err="1"/>
              <a:t>LayerNorm</a:t>
            </a:r>
            <a:r>
              <a:rPr lang="en-GB" noProof="0" dirty="0"/>
              <a:t>, vanilla attention — reach the same performance?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A0EEE8A-224E-96AA-D7E4-113F1707DD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36792" y="3108960"/>
            <a:ext cx="4334256" cy="1828800"/>
          </a:xfrm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/>
          <a:lstStyle/>
          <a:p>
            <a:r>
              <a:rPr lang="en-GB" noProof="0" dirty="0"/>
              <a:t>Evaluation</a:t>
            </a:r>
          </a:p>
          <a:p>
            <a:pPr lvl="1"/>
            <a:r>
              <a:rPr lang="en-GB" noProof="0" dirty="0"/>
              <a:t>How can one measure whether a model is a good/realistic generative model of spiking activity? </a:t>
            </a: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8C5B7C58-389E-1FA9-8394-B41AAFB251B9}"/>
              </a:ext>
            </a:extLst>
          </p:cNvPr>
          <p:cNvSpPr/>
          <p:nvPr/>
        </p:nvSpPr>
        <p:spPr>
          <a:xfrm>
            <a:off x="1591056" y="4937760"/>
            <a:ext cx="9070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motivates B:  </a:t>
            </a:r>
            <a:r>
              <a:rPr lang="en-GB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if both architectures score nearly the same on the usual metrics </a:t>
            </a:r>
            <a:r>
              <a:rPr lang="en-GB" sz="1600" noProof="0" dirty="0"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better metrics needed</a:t>
            </a:r>
            <a:endParaRPr lang="en-GB" sz="1600" noProof="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929855C-4619-D1AC-4194-0AE58280CB76}"/>
              </a:ext>
            </a:extLst>
          </p:cNvPr>
          <p:cNvSpPr/>
          <p:nvPr/>
        </p:nvSpPr>
        <p:spPr>
          <a:xfrm>
            <a:off x="1568691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4000" b="1" noProof="0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GB" sz="4000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AE9E203-D34F-EC8A-39DA-D4653AD96329}"/>
              </a:ext>
            </a:extLst>
          </p:cNvPr>
          <p:cNvSpPr/>
          <p:nvPr/>
        </p:nvSpPr>
        <p:spPr>
          <a:xfrm>
            <a:off x="6336792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4000" b="1" noProof="0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GB" sz="4000" noProof="0" dirty="0"/>
          </a:p>
        </p:txBody>
      </p:sp>
    </p:spTree>
    <p:extLst>
      <p:ext uri="{BB962C8B-B14F-4D97-AF65-F5344CB8AC3E}">
        <p14:creationId xmlns:p14="http://schemas.microsoft.com/office/powerpoint/2010/main" val="202299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8D0E7BA4-6CDE-22B6-4899-987F2304F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10549128" cy="928413"/>
          </a:xfrm>
        </p:spPr>
        <p:txBody>
          <a:bodyPr>
            <a:normAutofit/>
          </a:bodyPr>
          <a:lstStyle/>
          <a:p>
            <a:r>
              <a:rPr lang="en-GB" noProof="0" dirty="0" err="1"/>
              <a:t>SpikeGPT</a:t>
            </a:r>
            <a:r>
              <a:rPr lang="en-GB" noProof="0" dirty="0"/>
              <a:t> vs default GPT</a:t>
            </a:r>
            <a:br>
              <a:rPr lang="en-GB" noProof="0" dirty="0"/>
            </a:br>
            <a:r>
              <a:rPr lang="en-GB" sz="1800" noProof="0" dirty="0">
                <a:latin typeface="+mn-lt"/>
              </a:rPr>
              <a:t>Identical training setup/</a:t>
            </a:r>
            <a:r>
              <a:rPr lang="en-GB" sz="1800" noProof="0" dirty="0" err="1">
                <a:latin typeface="+mn-lt"/>
              </a:rPr>
              <a:t>hyperparams</a:t>
            </a:r>
            <a:endParaRPr lang="en-GB" noProof="0" dirty="0">
              <a:latin typeface="+mn-lt"/>
            </a:endParaRP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1ED25965-6C14-6350-BAF6-48F25524BB2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8146408"/>
              </p:ext>
            </p:extLst>
          </p:nvPr>
        </p:nvGraphicFramePr>
        <p:xfrm>
          <a:off x="758952" y="2719449"/>
          <a:ext cx="10549128" cy="332509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16376">
                  <a:extLst>
                    <a:ext uri="{9D8B030D-6E8A-4147-A177-3AD203B41FA5}">
                      <a16:colId xmlns:a16="http://schemas.microsoft.com/office/drawing/2014/main" val="805815273"/>
                    </a:ext>
                  </a:extLst>
                </a:gridCol>
                <a:gridCol w="3516376">
                  <a:extLst>
                    <a:ext uri="{9D8B030D-6E8A-4147-A177-3AD203B41FA5}">
                      <a16:colId xmlns:a16="http://schemas.microsoft.com/office/drawing/2014/main" val="445929521"/>
                    </a:ext>
                  </a:extLst>
                </a:gridCol>
                <a:gridCol w="3516376">
                  <a:extLst>
                    <a:ext uri="{9D8B030D-6E8A-4147-A177-3AD203B41FA5}">
                      <a16:colId xmlns:a16="http://schemas.microsoft.com/office/drawing/2014/main" val="1910931594"/>
                    </a:ext>
                  </a:extLst>
                </a:gridCol>
              </a:tblGrid>
              <a:tr h="554182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Default 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 err="1"/>
                        <a:t>SpikeGPT</a:t>
                      </a:r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228178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400" noProof="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Positional encoding</a:t>
                      </a:r>
                      <a:endParaRPr lang="en-GB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400" noProof="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Sinusoidal, added once</a:t>
                      </a:r>
                      <a:endParaRPr lang="en-GB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400" noProof="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Rotary (</a:t>
                      </a:r>
                      <a:r>
                        <a:rPr lang="en-GB" sz="1400" noProof="0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</a:t>
                      </a:r>
                      <a:r>
                        <a:rPr lang="en-GB" sz="1400" noProof="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), per layer</a:t>
                      </a:r>
                      <a:endParaRPr lang="en-GB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40642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400" noProof="0" dirty="0">
                          <a:solidFill>
                            <a:srgbClr val="2C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</a:t>
                      </a:r>
                      <a:endParaRPr lang="en-GB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400" noProof="0" dirty="0">
                          <a:solidFill>
                            <a:srgbClr val="2C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Scaled dot-product (</a:t>
                      </a:r>
                      <a:r>
                        <a:rPr lang="en-GB" sz="1400" noProof="0" dirty="0" err="1">
                          <a:solidFill>
                            <a:srgbClr val="2C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matmul</a:t>
                      </a:r>
                      <a:r>
                        <a:rPr lang="en-GB" sz="1400" noProof="0" dirty="0">
                          <a:solidFill>
                            <a:srgbClr val="2C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GB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400" noProof="0" dirty="0" err="1">
                          <a:solidFill>
                            <a:srgbClr val="2C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FlexAttention</a:t>
                      </a:r>
                      <a:endParaRPr lang="en-GB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654538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400" noProof="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</a:t>
                      </a:r>
                      <a:endParaRPr lang="en-GB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400" noProof="0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LayerNorm</a:t>
                      </a:r>
                      <a:endParaRPr lang="en-GB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400" noProof="0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RMSNorm</a:t>
                      </a:r>
                      <a:endParaRPr lang="en-GB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3014468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400" noProof="0" dirty="0">
                          <a:solidFill>
                            <a:srgbClr val="2C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QK normalization</a:t>
                      </a:r>
                      <a:endParaRPr lang="en-GB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400" noProof="0" dirty="0">
                          <a:solidFill>
                            <a:srgbClr val="2C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GB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400" noProof="0" dirty="0">
                          <a:solidFill>
                            <a:srgbClr val="2C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QK-</a:t>
                      </a:r>
                      <a:r>
                        <a:rPr lang="en-GB" sz="1400" noProof="0" dirty="0" err="1">
                          <a:solidFill>
                            <a:srgbClr val="2C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RMSNorm</a:t>
                      </a:r>
                      <a:r>
                        <a:rPr lang="en-GB" sz="1400" noProof="0" dirty="0">
                          <a:solidFill>
                            <a:srgbClr val="2C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before </a:t>
                      </a:r>
                      <a:r>
                        <a:rPr lang="en-GB" sz="1400" noProof="0" dirty="0" err="1">
                          <a:solidFill>
                            <a:srgbClr val="2C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</a:t>
                      </a:r>
                      <a:endParaRPr lang="en-GB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961293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400" noProof="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projection</a:t>
                      </a:r>
                      <a:endParaRPr lang="en-GB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400" noProof="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</a:t>
                      </a:r>
                      <a:r>
                        <a:rPr lang="en-GB" sz="1400" noProof="0" dirty="0" err="1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</a:t>
                      </a:r>
                      <a:endParaRPr lang="en-GB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400" noProof="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Zero-initialized</a:t>
                      </a:r>
                      <a:endParaRPr lang="en-GB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6008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068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2EB17-8304-7AE7-269E-1B63F06F2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D073DBB-CD3F-BD16-20D9-EA97268E6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407278"/>
            <a:ext cx="9144000" cy="2043444"/>
          </a:xfrm>
        </p:spPr>
        <p:txBody>
          <a:bodyPr>
            <a:normAutofit/>
          </a:bodyPr>
          <a:lstStyle/>
          <a:p>
            <a:r>
              <a:rPr lang="en-GB" sz="6000" noProof="0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636462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21EE98B-E02F-E857-B12E-3F15BF239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7755656" cy="1911096"/>
          </a:xfrm>
        </p:spPr>
        <p:txBody>
          <a:bodyPr/>
          <a:lstStyle/>
          <a:p>
            <a:r>
              <a:rPr lang="en-GB" noProof="0" dirty="0"/>
              <a:t>The two architectures  are close</a:t>
            </a:r>
            <a:br>
              <a:rPr lang="en-GB" noProof="0" dirty="0"/>
            </a:br>
            <a:r>
              <a:rPr lang="en-GB" sz="1600" noProof="0" dirty="0">
                <a:latin typeface="+mn-lt"/>
              </a:rPr>
              <a:t>RESULT A: DISCRIMINATIVE</a:t>
            </a:r>
            <a:endParaRPr lang="en-GB" noProof="0" dirty="0">
              <a:latin typeface="+mn-lt"/>
            </a:endParaRP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BB63FDF-33F8-973A-5EBA-380C3225D0F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47918" y="2737406"/>
            <a:ext cx="3231988" cy="1911096"/>
          </a:xfrm>
        </p:spPr>
        <p:txBody>
          <a:bodyPr>
            <a:normAutofit fontScale="92500" lnSpcReduction="10000"/>
          </a:bodyPr>
          <a:lstStyle/>
          <a:p>
            <a:r>
              <a:rPr lang="en-GB" noProof="0" dirty="0"/>
              <a:t>~ equal Spike F1 (0.27)</a:t>
            </a:r>
          </a:p>
          <a:p>
            <a:r>
              <a:rPr lang="en-GB" noProof="0" dirty="0"/>
              <a:t>~ equal Behaviour R2 (0.8/0.55)</a:t>
            </a:r>
          </a:p>
          <a:p>
            <a:r>
              <a:rPr lang="en-GB" noProof="0" dirty="0"/>
              <a:t>Classification accuracy (0.5 vs 0.4)</a:t>
            </a:r>
          </a:p>
          <a:p>
            <a:pPr lvl="1"/>
            <a:r>
              <a:rPr lang="en-GB" noProof="0" dirty="0" err="1"/>
              <a:t>SpikeGPT</a:t>
            </a:r>
            <a:r>
              <a:rPr lang="en-GB" noProof="0" dirty="0"/>
              <a:t> converges faster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12B677F-4201-980B-6D44-834B4D6133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778"/>
          <a:stretch>
            <a:fillRect/>
          </a:stretch>
        </p:blipFill>
        <p:spPr>
          <a:xfrm>
            <a:off x="432262" y="2519925"/>
            <a:ext cx="6645432" cy="4137891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6AA141EB-EC63-36AC-CC62-824980F8B4E4}"/>
              </a:ext>
            </a:extLst>
          </p:cNvPr>
          <p:cNvSpPr txBox="1"/>
          <p:nvPr/>
        </p:nvSpPr>
        <p:spPr>
          <a:xfrm>
            <a:off x="7547918" y="4821382"/>
            <a:ext cx="34011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ym typeface="Wingdings" panose="05000000000000000000" pitchFamily="2" charset="2"/>
              </a:rPr>
              <a:t> Those metrics barely separate the two models =&gt; generative metric is needed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82406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9CE1A6-2CC8-0470-DA9C-8AD162AE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Brain FID</a:t>
            </a:r>
            <a:br>
              <a:rPr lang="de-DE" dirty="0"/>
            </a:br>
            <a:r>
              <a:rPr lang="en-GB" sz="1800" dirty="0">
                <a:latin typeface="+mn-lt"/>
              </a:rPr>
              <a:t>RESULT B: GENERATIVE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4BB50D-3AA5-C8AD-19EC-9ADFC17E04D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8952" y="3132948"/>
            <a:ext cx="10391978" cy="1911096"/>
          </a:xfrm>
        </p:spPr>
        <p:txBody>
          <a:bodyPr/>
          <a:lstStyle/>
          <a:p>
            <a:r>
              <a:rPr lang="en-US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FID between real and generated activity (44 brain areas, 1000 windows each, 25% context)</a:t>
            </a:r>
          </a:p>
          <a:p>
            <a:r>
              <a:rPr lang="en-US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GPT: 19.3</a:t>
            </a:r>
          </a:p>
          <a:p>
            <a:r>
              <a:rPr lang="en-US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SpikeGPT</a:t>
            </a:r>
            <a:r>
              <a:rPr lang="en-US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24.6</a:t>
            </a:r>
          </a:p>
          <a:p>
            <a:r>
              <a:rPr lang="en-US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result A</a:t>
            </a:r>
            <a:endParaRPr lang="en-US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09506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88911B-013A-8BDD-5F51-CB9AFE941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10680192" cy="1911096"/>
          </a:xfrm>
        </p:spPr>
        <p:txBody>
          <a:bodyPr>
            <a:normAutofit/>
          </a:bodyPr>
          <a:lstStyle/>
          <a:p>
            <a:r>
              <a:rPr lang="en-GB" noProof="0" dirty="0"/>
              <a:t>Does the metric actually work?</a:t>
            </a:r>
            <a:br>
              <a:rPr lang="en-GB" noProof="0" dirty="0"/>
            </a:br>
            <a:r>
              <a:rPr lang="en-GB" sz="2000" noProof="0" dirty="0">
                <a:latin typeface="+mn-lt"/>
              </a:rPr>
              <a:t>Before trusting the comparison, I did a sanity check </a:t>
            </a:r>
            <a:br>
              <a:rPr lang="en-GB" sz="2000" noProof="0" dirty="0">
                <a:latin typeface="+mn-lt"/>
              </a:rPr>
            </a:br>
            <a:r>
              <a:rPr lang="en-GB" sz="2000" noProof="0" dirty="0">
                <a:latin typeface="+mn-lt"/>
              </a:rPr>
              <a:t>(destroying the </a:t>
            </a:r>
            <a:r>
              <a:rPr lang="en-GB" sz="2000" noProof="0" dirty="0" err="1">
                <a:latin typeface="+mn-lt"/>
              </a:rPr>
              <a:t>strucutre</a:t>
            </a:r>
            <a:r>
              <a:rPr lang="en-GB" sz="2000" noProof="0" dirty="0">
                <a:latin typeface="+mn-lt"/>
              </a:rPr>
              <a:t> in the real data and check how metrics react)</a:t>
            </a:r>
            <a:endParaRPr lang="en-GB" noProof="0" dirty="0">
              <a:latin typeface="+mn-lt"/>
            </a:endParaRP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9B24539-696C-8959-9D7D-F863ECE8F14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552706" y="3123210"/>
            <a:ext cx="3758422" cy="3122142"/>
          </a:xfrm>
        </p:spPr>
        <p:txBody>
          <a:bodyPr/>
          <a:lstStyle/>
          <a:p>
            <a:r>
              <a:rPr lang="en-GB" noProof="0" dirty="0"/>
              <a:t>Metric detects population structure</a:t>
            </a:r>
          </a:p>
          <a:p>
            <a:pPr lvl="1"/>
            <a:r>
              <a:rPr lang="en-GB" noProof="0" dirty="0"/>
              <a:t>Shuffling Neurons across areas </a:t>
            </a:r>
            <a:r>
              <a:rPr lang="en-GB" noProof="0" dirty="0">
                <a:sym typeface="Wingdings" panose="05000000000000000000" pitchFamily="2" charset="2"/>
              </a:rPr>
              <a:t>=&gt; </a:t>
            </a:r>
            <a:br>
              <a:rPr lang="en-GB" noProof="0" dirty="0">
                <a:sym typeface="Wingdings" panose="05000000000000000000" pitchFamily="2" charset="2"/>
              </a:rPr>
            </a:br>
            <a:r>
              <a:rPr lang="en-GB" noProof="0" dirty="0">
                <a:sym typeface="Wingdings" panose="05000000000000000000" pitchFamily="2" charset="2"/>
              </a:rPr>
              <a:t>FID 7  49</a:t>
            </a:r>
          </a:p>
          <a:p>
            <a:r>
              <a:rPr lang="en-GB" noProof="0" dirty="0"/>
              <a:t>Metric does not detect temporal structure</a:t>
            </a:r>
          </a:p>
          <a:p>
            <a:pPr lvl="1"/>
            <a:r>
              <a:rPr lang="en-GB" noProof="0" dirty="0"/>
              <a:t>Time shuffling =&gt; FID 7 </a:t>
            </a:r>
            <a:r>
              <a:rPr lang="en-GB" noProof="0" dirty="0">
                <a:sym typeface="Wingdings" panose="05000000000000000000" pitchFamily="2" charset="2"/>
              </a:rPr>
              <a:t> 8</a:t>
            </a:r>
          </a:p>
          <a:p>
            <a:pPr lvl="1"/>
            <a:r>
              <a:rPr lang="en-GB" noProof="0" dirty="0">
                <a:sym typeface="Wingdings" panose="05000000000000000000" pitchFamily="2" charset="2"/>
              </a:rPr>
              <a:t>The frequency features, averaged over areas, are nearly invariant to temporal shuffle</a:t>
            </a:r>
            <a:endParaRPr lang="en-GB" noProof="0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54EFCAB2-4BC9-C302-3589-A4D238258F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2932658"/>
              </p:ext>
            </p:extLst>
          </p:nvPr>
        </p:nvGraphicFramePr>
        <p:xfrm>
          <a:off x="752856" y="2984269"/>
          <a:ext cx="6035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74977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713CD4-7135-5A8A-C44C-9C2207893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Distributions</a:t>
            </a:r>
            <a:r>
              <a:rPr lang="de-DE" dirty="0"/>
              <a:t> </a:t>
            </a:r>
            <a:r>
              <a:rPr lang="de-DE" dirty="0" err="1"/>
              <a:t>overlapped</a:t>
            </a:r>
            <a:br>
              <a:rPr lang="de-DE" dirty="0"/>
            </a:br>
            <a:r>
              <a:rPr lang="de-DE" sz="1800" dirty="0">
                <a:latin typeface="+mn-lt"/>
              </a:rPr>
              <a:t>VISUALIZATION</a:t>
            </a:r>
            <a:endParaRPr lang="de-DE" dirty="0">
              <a:latin typeface="+mn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79A53E-75A0-285E-D0B0-EBAAF075A20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(blue) vs generated (red) feature clouds, projected to 2D</a:t>
            </a:r>
          </a:p>
          <a:p>
            <a:r>
              <a:rPr lang="en-US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= realistic</a:t>
            </a:r>
          </a:p>
          <a:p>
            <a:r>
              <a:rPr lang="en-US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or collapse = fail</a:t>
            </a:r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F2628CA-938E-CA51-B817-DE5378F4D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56" y="3257402"/>
            <a:ext cx="4200698" cy="360059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4530FB6-E189-6EA5-6021-993A00F5F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951" y="3257401"/>
            <a:ext cx="4200698" cy="360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541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E25B4C-F1EA-DC53-1ECC-98A4352C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8268670" cy="1911096"/>
          </a:xfrm>
        </p:spPr>
        <p:txBody>
          <a:bodyPr>
            <a:normAutofit/>
          </a:bodyPr>
          <a:lstStyle/>
          <a:p>
            <a:r>
              <a:rPr lang="de-DE" dirty="0"/>
              <a:t>Big </a:t>
            </a:r>
            <a:r>
              <a:rPr lang="de-DE" dirty="0" err="1"/>
              <a:t>variaity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sessions</a:t>
            </a:r>
            <a:br>
              <a:rPr lang="de-DE" dirty="0"/>
            </a:br>
            <a:r>
              <a:rPr lang="de-DE" sz="1800" dirty="0">
                <a:latin typeface="+mn-lt"/>
              </a:rPr>
              <a:t>PER SESSION COMPARISON</a:t>
            </a:r>
            <a:endParaRPr lang="de-DE" dirty="0">
              <a:latin typeface="+mn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EB32B7-9FE9-B9C8-F1D0-30BC4009DA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62604" y="3230326"/>
            <a:ext cx="3070444" cy="3037470"/>
          </a:xfrm>
        </p:spPr>
        <p:txBody>
          <a:bodyPr/>
          <a:lstStyle/>
          <a:p>
            <a:r>
              <a:rPr lang="de-DE" dirty="0" err="1"/>
              <a:t>Easiest</a:t>
            </a:r>
            <a:r>
              <a:rPr lang="de-DE" dirty="0"/>
              <a:t> </a:t>
            </a:r>
            <a:r>
              <a:rPr lang="de-DE" dirty="0" err="1"/>
              <a:t>sessions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: Session 5&amp;20</a:t>
            </a:r>
          </a:p>
          <a:p>
            <a:r>
              <a:rPr lang="de-DE" dirty="0" err="1"/>
              <a:t>Hardest</a:t>
            </a:r>
            <a:r>
              <a:rPr lang="de-DE" dirty="0"/>
              <a:t> Session: S16</a:t>
            </a:r>
          </a:p>
          <a:p>
            <a:r>
              <a:rPr lang="de-DE" dirty="0"/>
              <a:t>Why </a:t>
            </a:r>
            <a:r>
              <a:rPr lang="de-DE" dirty="0" err="1"/>
              <a:t>values</a:t>
            </a:r>
            <a:r>
              <a:rPr lang="de-DE" dirty="0"/>
              <a:t> so </a:t>
            </a:r>
            <a:r>
              <a:rPr lang="de-DE" dirty="0" err="1"/>
              <a:t>much</a:t>
            </a:r>
            <a:r>
              <a:rPr lang="de-DE" dirty="0"/>
              <a:t> </a:t>
            </a:r>
            <a:r>
              <a:rPr lang="de-DE" dirty="0" err="1"/>
              <a:t>higher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global FID? (~20)</a:t>
            </a:r>
          </a:p>
          <a:p>
            <a:r>
              <a:rPr lang="de-DE" dirty="0"/>
              <a:t>Why </a:t>
            </a:r>
            <a:r>
              <a:rPr lang="de-DE" dirty="0" err="1"/>
              <a:t>huge</a:t>
            </a:r>
            <a:r>
              <a:rPr lang="de-DE" dirty="0"/>
              <a:t> </a:t>
            </a:r>
            <a:r>
              <a:rPr lang="de-DE" dirty="0" err="1"/>
              <a:t>discrapency</a:t>
            </a:r>
            <a:r>
              <a:rPr lang="de-DE" dirty="0"/>
              <a:t>?</a:t>
            </a:r>
          </a:p>
          <a:p>
            <a:endParaRPr lang="de-DE" dirty="0"/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0AA38EF4-8F52-8BD7-3869-B98B21DEA5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1611717"/>
              </p:ext>
            </p:extLst>
          </p:nvPr>
        </p:nvGraphicFramePr>
        <p:xfrm>
          <a:off x="580822" y="2603665"/>
          <a:ext cx="7623048" cy="3963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82797701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VTI">
  <a:themeElements>
    <a:clrScheme name="Prismatic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42B3BD"/>
      </a:accent1>
      <a:accent2>
        <a:srgbClr val="51B851"/>
      </a:accent2>
      <a:accent3>
        <a:srgbClr val="B5A603"/>
      </a:accent3>
      <a:accent4>
        <a:srgbClr val="F58505"/>
      </a:accent4>
      <a:accent5>
        <a:srgbClr val="FA2481"/>
      </a:accent5>
      <a:accent6>
        <a:srgbClr val="9CA2AB"/>
      </a:accent6>
      <a:hlink>
        <a:srgbClr val="FA2481"/>
      </a:hlink>
      <a:folHlink>
        <a:srgbClr val="57618E"/>
      </a:folHlink>
    </a:clrScheme>
    <a:fontScheme name="Custom 14">
      <a:majorFont>
        <a:latin typeface="Aharoni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 design_win32_EF_v4.potx" id="{2F35A8D2-2794-49E9-8A0C-100147B6AC9C}" vid="{55693A51-CC17-4AC7-B6BD-D840FAE3791F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4D9BD-AE11-4F3A-9185-74D1F42CA5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B7AAFC-BA46-4192-9EDD-FC31D26BDA5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CA8F0A8-0272-4870-9FED-50919032B8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{3692510C-0482-44E1-AAA3-DB05BF7A8E84}tf56076705_win32</Template>
  <TotalTime>0</TotalTime>
  <Words>973</Words>
  <Application>Microsoft Office PowerPoint</Application>
  <PresentationFormat>Breitbild</PresentationFormat>
  <Paragraphs>131</Paragraphs>
  <Slides>17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7" baseType="lpstr">
      <vt:lpstr>Aharoni</vt:lpstr>
      <vt:lpstr>Aptos</vt:lpstr>
      <vt:lpstr>Arial</vt:lpstr>
      <vt:lpstr>Avenir Next LT Pro</vt:lpstr>
      <vt:lpstr>Avenir Next LT Pro Light</vt:lpstr>
      <vt:lpstr>Calibri</vt:lpstr>
      <vt:lpstr>Cambria Math</vt:lpstr>
      <vt:lpstr>Georgia</vt:lpstr>
      <vt:lpstr>Wingdings</vt:lpstr>
      <vt:lpstr>PrismaticVTI</vt:lpstr>
      <vt:lpstr>Transformers as generative models for neural activity</vt:lpstr>
      <vt:lpstr>Agenda OUTLINE</vt:lpstr>
      <vt:lpstr>Scientific context  &amp; state of the art</vt:lpstr>
      <vt:lpstr>CONTEXT Transformers in neuroscience Short recap of Bellec Guillaumes’ talk</vt:lpstr>
      <vt:lpstr>STATE OF THE ART Prior work</vt:lpstr>
      <vt:lpstr>Is the model good?</vt:lpstr>
      <vt:lpstr>Borrowing from image generation</vt:lpstr>
      <vt:lpstr>From image FID to “Brain FID” Image FID feeds pictures through a NN (Inception-v3) that extracts features There is no Inception v3 for brains  Features must be hand crafted from the spikes themselves</vt:lpstr>
      <vt:lpstr>Scientific questions  &amp; contribution</vt:lpstr>
      <vt:lpstr>Two questions</vt:lpstr>
      <vt:lpstr>SpikeGPT vs default GPT Identical training setup/hyperparams</vt:lpstr>
      <vt:lpstr>Results</vt:lpstr>
      <vt:lpstr>The two architectures  are close RESULT A: DISCRIMINATIVE</vt:lpstr>
      <vt:lpstr>Brain FID RESULT B: GENERATIVE </vt:lpstr>
      <vt:lpstr>Does the metric actually work? Before trusting the comparison, I did a sanity check  (destroying the strucutre in the real data and check how metrics react)</vt:lpstr>
      <vt:lpstr>Distributions overlapped VISUALIZATION</vt:lpstr>
      <vt:lpstr>Big variaity between sessions PER SESSION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Himmetsberger, Jonas</dc:creator>
  <cp:lastModifiedBy>Himmetsberger, Jonas</cp:lastModifiedBy>
  <cp:revision>91</cp:revision>
  <dcterms:created xsi:type="dcterms:W3CDTF">2026-05-22T15:19:59Z</dcterms:created>
  <dcterms:modified xsi:type="dcterms:W3CDTF">2026-05-24T09:29:00Z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